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5"/>
    <p:restoredTop sz="94610"/>
  </p:normalViewPr>
  <p:slideViewPr>
    <p:cSldViewPr snapToGrid="0" snapToObjects="1">
      <p:cViewPr varScale="1">
        <p:scale>
          <a:sx n="199" d="100"/>
          <a:sy n="199" d="100"/>
        </p:scale>
        <p:origin x="16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257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a ~15 minute workshop on how GitHub Copilot uses tokens and how you can dramatically cut your usage. As of June 2026, Copilot moved to token-based billing which means every token counts.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 why do we care? As of June 2026 GitHub Copilot moved from request counters to token-based billing. Input tokens are your prompt + context, output tokens are Copilot's response. Output tokens cost more per token than input tokens. The context window size depends on which model you're using — check your actual usage with the VS Code context bar or by typing /context in Copilot CLI.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numbered layer. The key insight is the ORDER — GitHub assembles them from most-fixed (system instructions) to most-dynamic (your prompt). Layers 1, 2, 7, 11 are outside your control. Layers 3, 4, 5, 8, 9 you can influence. Layer 6 (conversation history) is the snowball — explained in the next slide. By the time you type your message the window is already 83% full on a typical setup.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 axis is the request number in your session. The Y axis is the token cost of that single request. The orange line climbs steeply — Request 1 costs about 4,300 tokens, Request 8 costs about 24,100 — because every request re-sends the full conversation history. The green line stays flat because session hygiene resets the counter every 4 turns, and Caveman keeps each response smaller so the history grows more slowly.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layers of optimisation. First, context control — managing what gets automatically injected. Second, prompt discipline — writing leaner prompts and managing sessions well. Third, tools and plugins — using community tools that do the heavy lifting for you. We'll deep-dive on the three tools in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Caveman is a community plugin by Julius Brussee with 54k+ GitHub stars. The project's own 10-prompt benchmark shows an average 65% output token reduction (range 22–87%). The 'up to 75%' figure is the best-case claim from the project tagline — real-world results depend heavily on task type. Code blocks are not compressed. For standard explanatory coding tasks the savings are real and meaningful. It only affects output tokens, not thinking/reasoning tokens.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RTK is particularly useful for .NET developers — dotnet build can produce enormous output. RTK compresses it to just errors and warnings. It works by acting as a transparent proxy; from your AI tool's perspective git status runs normally, but the output received is a compact summary. Installation is one command: rtk init -g for Copilot. The overhead is less than 10ms so you won't notice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Engineering Fluency (formerly Copilot Token Tracker) by Rob Bos. Install it from the VS Code marketplace. It reads your local Copilot session logs — nothing leaves your machine unless you opt in. The status bar shows your live token count. The Fluency Score helps you understand HOW you're using Copilot, not just how much. It scores you from Skeptic → Explorer → Collaborator → Strategist across 6 dimensions.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scenario. The orange bar is the baseline token cost. The teal bar is the optimised cost. The green badge on the right shows the % reduction. The .NET build debug case is the most dramatic — RTK compresses the dotnet build output from ~8,000 raw tokens down to ~400, and Caveman cuts the response. The agent task case shows why RTK matters so much for agentic workflows — 10 tool calls each producing verbose output adds up fast.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action plan. Three installs and three habits. The installs take 5 minutes total. The habits take maybe a week to become automatic. Combined, a typical developer can reduce their daily token consumption by 50-80%. That's both faster responses AND significant cost savings for your organisation.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key message: token efficiency is not just a cost play — faster, leaner sessions also mean better quality responses because the model has more free context to work with. Install the three tools, build the three habits, and check back in a week using AI Engineering Fluency to see the difference.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807EA3-BCE1-D741-A9DC-C0C8EA2C17F2}"/>
              </a:ext>
            </a:extLst>
          </p:cNvPr>
          <p:cNvSpPr txBox="1"/>
          <p:nvPr userDrawn="1">
            <p:extLst>
              <p:ext uri="{1162E1C5-73C7-4A58-AE30-91384D911F3F}">
                <p184:classification xmlns:p184="http://schemas.microsoft.com/office/powerpoint/2018/4/main" val="ftr"/>
              </p:ext>
            </p:extLst>
          </p:nvPr>
        </p:nvSpPr>
        <p:spPr>
          <a:xfrm>
            <a:off x="3019425" y="4927600"/>
            <a:ext cx="31305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Not for Public Consumption or Distribution</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38636"/>
          </a:solidFill>
          <a:ln w="12700">
            <a:solidFill>
              <a:srgbClr val="238636"/>
            </a:solidFill>
            <a:prstDash val="solid"/>
          </a:ln>
        </p:spPr>
        <p:txBody>
          <a:bodyPr/>
          <a:lstStyle/>
          <a:p>
            <a:endParaRPr lang="en-US"/>
          </a:p>
        </p:txBody>
      </p:sp>
      <p:sp>
        <p:nvSpPr>
          <p:cNvPr id="3" name="Shape 1"/>
          <p:cNvSpPr/>
          <p:nvPr/>
        </p:nvSpPr>
        <p:spPr>
          <a:xfrm>
            <a:off x="0" y="5033772"/>
            <a:ext cx="9144000" cy="109728"/>
          </a:xfrm>
          <a:prstGeom prst="rect">
            <a:avLst/>
          </a:prstGeom>
          <a:solidFill>
            <a:srgbClr val="238636"/>
          </a:solidFill>
          <a:ln w="12700">
            <a:solidFill>
              <a:srgbClr val="238636"/>
            </a:solidFill>
            <a:prstDash val="solid"/>
          </a:ln>
        </p:spPr>
        <p:txBody>
          <a:bodyPr/>
          <a:lstStyle/>
          <a:p>
            <a:endParaRPr lang="en-US"/>
          </a:p>
        </p:txBody>
      </p:sp>
      <p:sp>
        <p:nvSpPr>
          <p:cNvPr id="4" name="Text 2"/>
          <p:cNvSpPr/>
          <p:nvPr/>
        </p:nvSpPr>
        <p:spPr>
          <a:xfrm>
            <a:off x="548640" y="731520"/>
            <a:ext cx="8046720" cy="731520"/>
          </a:xfrm>
          <a:prstGeom prst="rect">
            <a:avLst/>
          </a:prstGeom>
          <a:noFill/>
          <a:ln/>
        </p:spPr>
        <p:txBody>
          <a:bodyPr wrap="square" rtlCol="0" anchor="ctr"/>
          <a:lstStyle/>
          <a:p>
            <a:pPr marL="0" indent="0" algn="ctr">
              <a:buNone/>
            </a:pPr>
            <a:r>
              <a:rPr lang="en-US" altLang="en-US" sz="4400" b="1" dirty="0">
                <a:solidFill>
                  <a:srgbClr val="F0F6FC"/>
                </a:solidFill>
                <a:latin typeface="Calibri" pitchFamily="34" charset="0"/>
                <a:ea typeface="Calibri" pitchFamily="34" charset="-122"/>
                <a:cs typeface="Calibri" pitchFamily="34" charset="-120"/>
              </a:rPr>
              <a:t>GitHub Copilot</a:t>
            </a:r>
            <a:endParaRPr lang="en-US" sz="4400" dirty="0"/>
          </a:p>
        </p:txBody>
      </p:sp>
      <p:sp>
        <p:nvSpPr>
          <p:cNvPr id="5" name="Text 3"/>
          <p:cNvSpPr/>
          <p:nvPr/>
        </p:nvSpPr>
        <p:spPr>
          <a:xfrm>
            <a:off x="548640" y="1417320"/>
            <a:ext cx="8046720" cy="594360"/>
          </a:xfrm>
          <a:prstGeom prst="rect">
            <a:avLst/>
          </a:prstGeom>
          <a:noFill/>
          <a:ln/>
        </p:spPr>
        <p:txBody>
          <a:bodyPr wrap="square" rtlCol="0" anchor="ctr"/>
          <a:lstStyle/>
          <a:p>
            <a:pPr marL="0" indent="0" algn="ctr">
              <a:buNone/>
            </a:pPr>
            <a:r>
              <a:rPr lang="en-US" altLang="en-US" sz="3200" dirty="0">
                <a:solidFill>
                  <a:srgbClr val="238636"/>
                </a:solidFill>
                <a:latin typeface="Calibri" pitchFamily="34" charset="0"/>
                <a:ea typeface="Calibri" pitchFamily="34" charset="-122"/>
                <a:cs typeface="Calibri" pitchFamily="34" charset="-120"/>
              </a:rPr>
              <a:t>Token Saving Techniques</a:t>
            </a:r>
            <a:endParaRPr lang="en-US" sz="3200" dirty="0"/>
          </a:p>
        </p:txBody>
      </p:sp>
      <p:sp>
        <p:nvSpPr>
          <p:cNvPr id="6" name="Shape 4"/>
          <p:cNvSpPr/>
          <p:nvPr/>
        </p:nvSpPr>
        <p:spPr>
          <a:xfrm>
            <a:off x="3200400" y="2103120"/>
            <a:ext cx="2743200" cy="36576"/>
          </a:xfrm>
          <a:prstGeom prst="rect">
            <a:avLst/>
          </a:prstGeom>
          <a:solidFill>
            <a:srgbClr val="30363D"/>
          </a:solidFill>
          <a:ln w="12700">
            <a:solidFill>
              <a:srgbClr val="30363D"/>
            </a:solidFill>
            <a:prstDash val="solid"/>
          </a:ln>
        </p:spPr>
        <p:txBody>
          <a:bodyPr/>
          <a:lstStyle/>
          <a:p>
            <a:endParaRPr lang="en-US"/>
          </a:p>
        </p:txBody>
      </p:sp>
      <p:sp>
        <p:nvSpPr>
          <p:cNvPr id="7" name="Text 5"/>
          <p:cNvSpPr/>
          <p:nvPr/>
        </p:nvSpPr>
        <p:spPr>
          <a:xfrm>
            <a:off x="548640" y="2286000"/>
            <a:ext cx="8046720" cy="365760"/>
          </a:xfrm>
          <a:prstGeom prst="rect">
            <a:avLst/>
          </a:prstGeom>
          <a:noFill/>
          <a:ln/>
        </p:spPr>
        <p:txBody>
          <a:bodyPr wrap="square" rtlCol="0" anchor="ctr"/>
          <a:lstStyle/>
          <a:p>
            <a:pPr marL="0" indent="0" algn="ctr">
              <a:buNone/>
            </a:pPr>
            <a:r>
              <a:rPr lang="en-US" altLang="en-US" sz="1500" dirty="0">
                <a:solidFill>
                  <a:srgbClr val="8B949E"/>
                </a:solidFill>
                <a:latin typeface="Calibri" pitchFamily="34" charset="0"/>
                <a:ea typeface="Calibri" pitchFamily="34" charset="-122"/>
                <a:cs typeface="Calibri" pitchFamily="34" charset="-120"/>
              </a:rPr>
              <a:t>How chat sessions work · What costs tokens · How to save big</a:t>
            </a:r>
            <a:endParaRPr lang="en-US" sz="1500" dirty="0"/>
          </a:p>
        </p:txBody>
      </p:sp>
      <p:sp>
        <p:nvSpPr>
          <p:cNvPr id="8" name="Shape 6"/>
          <p:cNvSpPr/>
          <p:nvPr/>
        </p:nvSpPr>
        <p:spPr>
          <a:xfrm>
            <a:off x="731520" y="2926080"/>
            <a:ext cx="2286000" cy="594360"/>
          </a:xfrm>
          <a:prstGeom prst="roundRect">
            <a:avLst>
              <a:gd name="adj" fmla="val 12308"/>
            </a:avLst>
          </a:prstGeom>
          <a:solidFill>
            <a:srgbClr val="161B22"/>
          </a:solidFill>
          <a:ln w="12700">
            <a:solidFill>
              <a:srgbClr val="30363D"/>
            </a:solidFill>
            <a:prstDash val="solid"/>
          </a:ln>
        </p:spPr>
        <p:txBody>
          <a:bodyPr/>
          <a:lstStyle/>
          <a:p>
            <a:endParaRPr lang="en-US"/>
          </a:p>
        </p:txBody>
      </p:sp>
      <p:sp>
        <p:nvSpPr>
          <p:cNvPr id="9" name="Text 7"/>
          <p:cNvSpPr/>
          <p:nvPr/>
        </p:nvSpPr>
        <p:spPr>
          <a:xfrm>
            <a:off x="731520" y="2944368"/>
            <a:ext cx="2286000" cy="301752"/>
          </a:xfrm>
          <a:prstGeom prst="rect">
            <a:avLst/>
          </a:prstGeom>
          <a:noFill/>
          <a:ln/>
        </p:spPr>
        <p:txBody>
          <a:bodyPr wrap="square" rtlCol="0" anchor="ctr"/>
          <a:lstStyle/>
          <a:p>
            <a:pPr marL="0" indent="0" algn="ctr">
              <a:buNone/>
            </a:pPr>
            <a:r>
              <a:rPr lang="en-US" altLang="en-US" sz="1100" b="1" dirty="0">
                <a:solidFill>
                  <a:srgbClr val="1F6FEB"/>
                </a:solidFill>
                <a:latin typeface="Calibri" pitchFamily="34" charset="0"/>
                <a:ea typeface="Calibri" pitchFamily="34" charset="-122"/>
                <a:cs typeface="Calibri" pitchFamily="34" charset="-120"/>
              </a:rPr>
              <a:t>Model-dependent</a:t>
            </a:r>
            <a:endParaRPr lang="en-US" sz="1100" dirty="0"/>
          </a:p>
        </p:txBody>
      </p:sp>
      <p:sp>
        <p:nvSpPr>
          <p:cNvPr id="10" name="Text 8"/>
          <p:cNvSpPr/>
          <p:nvPr/>
        </p:nvSpPr>
        <p:spPr>
          <a:xfrm>
            <a:off x="731520" y="3236976"/>
            <a:ext cx="2286000" cy="256032"/>
          </a:xfrm>
          <a:prstGeom prst="rect">
            <a:avLst/>
          </a:prstGeom>
          <a:noFill/>
          <a:ln/>
        </p:spPr>
        <p:txBody>
          <a:bodyPr wrap="square" rtlCol="0" anchor="ctr"/>
          <a:lstStyle/>
          <a:p>
            <a:pPr marL="0" indent="0" algn="ctr">
              <a:buNone/>
            </a:pPr>
            <a:r>
              <a:rPr lang="en-US" altLang="en-US" sz="900" dirty="0">
                <a:solidFill>
                  <a:srgbClr val="8B949E"/>
                </a:solidFill>
                <a:latin typeface="Calibri" pitchFamily="34" charset="0"/>
                <a:ea typeface="Calibri" pitchFamily="34" charset="-122"/>
                <a:cs typeface="Calibri" pitchFamily="34" charset="-120"/>
              </a:rPr>
              <a:t>Context window</a:t>
            </a:r>
            <a:endParaRPr lang="en-US" sz="900" dirty="0"/>
          </a:p>
        </p:txBody>
      </p:sp>
      <p:sp>
        <p:nvSpPr>
          <p:cNvPr id="11" name="Shape 9"/>
          <p:cNvSpPr/>
          <p:nvPr/>
        </p:nvSpPr>
        <p:spPr>
          <a:xfrm>
            <a:off x="3383280" y="2926080"/>
            <a:ext cx="2286000" cy="594360"/>
          </a:xfrm>
          <a:prstGeom prst="roundRect">
            <a:avLst>
              <a:gd name="adj" fmla="val 12308"/>
            </a:avLst>
          </a:prstGeom>
          <a:solidFill>
            <a:srgbClr val="161B22"/>
          </a:solidFill>
          <a:ln w="12700">
            <a:solidFill>
              <a:srgbClr val="30363D"/>
            </a:solidFill>
            <a:prstDash val="solid"/>
          </a:ln>
        </p:spPr>
        <p:txBody>
          <a:bodyPr/>
          <a:lstStyle/>
          <a:p>
            <a:endParaRPr lang="en-US"/>
          </a:p>
        </p:txBody>
      </p:sp>
      <p:sp>
        <p:nvSpPr>
          <p:cNvPr id="12" name="Text 10"/>
          <p:cNvSpPr/>
          <p:nvPr/>
        </p:nvSpPr>
        <p:spPr>
          <a:xfrm>
            <a:off x="3383280" y="2944368"/>
            <a:ext cx="2286000" cy="301752"/>
          </a:xfrm>
          <a:prstGeom prst="rect">
            <a:avLst/>
          </a:prstGeom>
          <a:noFill/>
          <a:ln/>
        </p:spPr>
        <p:txBody>
          <a:bodyPr wrap="square" rtlCol="0" anchor="ctr"/>
          <a:lstStyle/>
          <a:p>
            <a:pPr marL="0" indent="0" algn="ctr">
              <a:buNone/>
            </a:pPr>
            <a:r>
              <a:rPr lang="en-US" altLang="en-US" sz="1400" b="1" dirty="0">
                <a:solidFill>
                  <a:srgbClr val="E3672B"/>
                </a:solidFill>
                <a:latin typeface="Calibri" pitchFamily="34" charset="0"/>
                <a:ea typeface="Calibri" pitchFamily="34" charset="-122"/>
                <a:cs typeface="Calibri" pitchFamily="34" charset="-120"/>
              </a:rPr>
              <a:t>June 2026</a:t>
            </a:r>
            <a:endParaRPr lang="en-US" sz="1400" dirty="0"/>
          </a:p>
        </p:txBody>
      </p:sp>
      <p:sp>
        <p:nvSpPr>
          <p:cNvPr id="13" name="Text 11"/>
          <p:cNvSpPr/>
          <p:nvPr/>
        </p:nvSpPr>
        <p:spPr>
          <a:xfrm>
            <a:off x="3383280" y="3236976"/>
            <a:ext cx="2286000" cy="256032"/>
          </a:xfrm>
          <a:prstGeom prst="rect">
            <a:avLst/>
          </a:prstGeom>
          <a:noFill/>
          <a:ln/>
        </p:spPr>
        <p:txBody>
          <a:bodyPr wrap="square" rtlCol="0" anchor="ctr"/>
          <a:lstStyle/>
          <a:p>
            <a:pPr marL="0" indent="0" algn="ctr">
              <a:buNone/>
            </a:pPr>
            <a:r>
              <a:rPr lang="en-US" altLang="en-US" sz="900" dirty="0">
                <a:solidFill>
                  <a:srgbClr val="8B949E"/>
                </a:solidFill>
                <a:latin typeface="Calibri" pitchFamily="34" charset="0"/>
                <a:ea typeface="Calibri" pitchFamily="34" charset="-122"/>
                <a:cs typeface="Calibri" pitchFamily="34" charset="-120"/>
              </a:rPr>
              <a:t>Token billing</a:t>
            </a:r>
            <a:endParaRPr lang="en-US" sz="900" dirty="0"/>
          </a:p>
        </p:txBody>
      </p:sp>
      <p:sp>
        <p:nvSpPr>
          <p:cNvPr id="14" name="Shape 12"/>
          <p:cNvSpPr/>
          <p:nvPr/>
        </p:nvSpPr>
        <p:spPr>
          <a:xfrm>
            <a:off x="6035040" y="2926080"/>
            <a:ext cx="2286000" cy="594360"/>
          </a:xfrm>
          <a:prstGeom prst="roundRect">
            <a:avLst>
              <a:gd name="adj" fmla="val 12308"/>
            </a:avLst>
          </a:prstGeom>
          <a:solidFill>
            <a:srgbClr val="161B22"/>
          </a:solidFill>
          <a:ln w="12700">
            <a:solidFill>
              <a:srgbClr val="30363D"/>
            </a:solidFill>
            <a:prstDash val="solid"/>
          </a:ln>
        </p:spPr>
        <p:txBody>
          <a:bodyPr/>
          <a:lstStyle/>
          <a:p>
            <a:endParaRPr lang="en-US"/>
          </a:p>
        </p:txBody>
      </p:sp>
      <p:sp>
        <p:nvSpPr>
          <p:cNvPr id="15" name="Text 13"/>
          <p:cNvSpPr/>
          <p:nvPr/>
        </p:nvSpPr>
        <p:spPr>
          <a:xfrm>
            <a:off x="6035040" y="2944368"/>
            <a:ext cx="2286000" cy="301752"/>
          </a:xfrm>
          <a:prstGeom prst="rect">
            <a:avLst/>
          </a:prstGeom>
          <a:noFill/>
          <a:ln/>
        </p:spPr>
        <p:txBody>
          <a:bodyPr wrap="square" rtlCol="0" anchor="ctr"/>
          <a:lstStyle/>
          <a:p>
            <a:pPr marL="0" indent="0" algn="ctr">
              <a:buNone/>
            </a:pPr>
            <a:r>
              <a:rPr lang="en-US" altLang="en-US" sz="1400" b="1" dirty="0">
                <a:solidFill>
                  <a:srgbClr val="238636"/>
                </a:solidFill>
                <a:latin typeface="Calibri" pitchFamily="34" charset="0"/>
                <a:ea typeface="Calibri" pitchFamily="34" charset="-122"/>
                <a:cs typeface="Calibri" pitchFamily="34" charset="-120"/>
              </a:rPr>
              <a:t>~65%</a:t>
            </a:r>
            <a:endParaRPr lang="en-US" sz="1400" dirty="0"/>
          </a:p>
        </p:txBody>
      </p:sp>
      <p:sp>
        <p:nvSpPr>
          <p:cNvPr id="16" name="Text 14"/>
          <p:cNvSpPr/>
          <p:nvPr/>
        </p:nvSpPr>
        <p:spPr>
          <a:xfrm>
            <a:off x="6035040" y="3236976"/>
            <a:ext cx="2286000" cy="256032"/>
          </a:xfrm>
          <a:prstGeom prst="rect">
            <a:avLst/>
          </a:prstGeom>
          <a:noFill/>
          <a:ln/>
        </p:spPr>
        <p:txBody>
          <a:bodyPr wrap="square" rtlCol="0" anchor="ctr"/>
          <a:lstStyle/>
          <a:p>
            <a:pPr marL="0" indent="0" algn="ctr">
              <a:buNone/>
            </a:pPr>
            <a:r>
              <a:rPr lang="en-US" altLang="en-US" sz="900" dirty="0">
                <a:solidFill>
                  <a:srgbClr val="8B949E"/>
                </a:solidFill>
                <a:latin typeface="Calibri" pitchFamily="34" charset="0"/>
                <a:ea typeface="Calibri" pitchFamily="34" charset="-122"/>
                <a:cs typeface="Calibri" pitchFamily="34" charset="-120"/>
              </a:rPr>
              <a:t>Caveman avg savings</a:t>
            </a:r>
            <a:endParaRPr lang="en-US" sz="900" dirty="0"/>
          </a:p>
        </p:txBody>
      </p:sp>
      <p:sp>
        <p:nvSpPr>
          <p:cNvPr id="17" name="Text 15"/>
          <p:cNvSpPr/>
          <p:nvPr/>
        </p:nvSpPr>
        <p:spPr>
          <a:xfrm>
            <a:off x="548640" y="4389120"/>
            <a:ext cx="8046720" cy="274320"/>
          </a:xfrm>
          <a:prstGeom prst="rect">
            <a:avLst/>
          </a:prstGeom>
          <a:noFill/>
          <a:ln/>
        </p:spPr>
        <p:txBody>
          <a:bodyPr wrap="square" rtlCol="0" anchor="ctr"/>
          <a:lstStyle/>
          <a:p>
            <a:pPr marL="0" indent="0" algn="ctr">
              <a:buNone/>
            </a:pPr>
            <a:r>
              <a:rPr lang="en-US" altLang="en-US" sz="1100" dirty="0">
                <a:solidFill>
                  <a:srgbClr val="8B949E"/>
                </a:solidFill>
                <a:latin typeface="Calibri" pitchFamily="34" charset="0"/>
                <a:ea typeface="Calibri" pitchFamily="34" charset="-122"/>
                <a:cs typeface="Calibri" pitchFamily="34" charset="-120"/>
              </a:rPr>
              <a:t>~15 min workshop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Why Tokens Matter Now</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GitHub Copilot moved to usage-based billing — June 1, 2026</a:t>
            </a:r>
            <a:endParaRPr lang="en-US" sz="1300" dirty="0"/>
          </a:p>
        </p:txBody>
      </p:sp>
      <p:sp>
        <p:nvSpPr>
          <p:cNvPr id="5" name="Text 3"/>
          <p:cNvSpPr/>
          <p:nvPr/>
        </p:nvSpPr>
        <p:spPr>
          <a:xfrm>
            <a:off x="365760" y="1051560"/>
            <a:ext cx="8412480" cy="457200"/>
          </a:xfrm>
          <a:prstGeom prst="rect">
            <a:avLst/>
          </a:prstGeom>
          <a:noFill/>
          <a:ln/>
        </p:spPr>
        <p:txBody>
          <a:bodyPr wrap="square" rtlCol="0" anchor="ctr"/>
          <a:lstStyle/>
          <a:p>
            <a:pPr marL="0" indent="0">
              <a:buNone/>
            </a:pPr>
            <a:r>
              <a:rPr lang="en-US" altLang="en-US" sz="2200" b="1" dirty="0">
                <a:solidFill>
                  <a:srgbClr val="F0F6FC"/>
                </a:solidFill>
                <a:latin typeface="Calibri" pitchFamily="34" charset="0"/>
                <a:ea typeface="Calibri" pitchFamily="34" charset="-122"/>
                <a:cs typeface="Calibri" pitchFamily="34" charset="-120"/>
              </a:rPr>
              <a:t>Every token costs real money.</a:t>
            </a:r>
            <a:endParaRPr lang="en-US" sz="2200" dirty="0"/>
          </a:p>
        </p:txBody>
      </p:sp>
      <p:sp>
        <p:nvSpPr>
          <p:cNvPr id="6" name="Text 4"/>
          <p:cNvSpPr/>
          <p:nvPr/>
        </p:nvSpPr>
        <p:spPr>
          <a:xfrm>
            <a:off x="365760" y="1600200"/>
            <a:ext cx="8412480" cy="1097280"/>
          </a:xfrm>
          <a:prstGeom prst="rect">
            <a:avLst/>
          </a:prstGeom>
          <a:noFill/>
          <a:ln/>
        </p:spPr>
        <p:txBody>
          <a:bodyPr wrap="square" rtlCol="0" anchor="ctr"/>
          <a:lstStyle/>
          <a:p>
            <a:pPr marL="0" indent="0">
              <a:spcAft>
                <a:spcPts val="600"/>
              </a:spcAft>
              <a:buNone/>
            </a:pPr>
            <a:r>
              <a:rPr lang="en-US" altLang="en-US" sz="1300" b="1" dirty="0">
                <a:solidFill>
                  <a:srgbClr val="1F6FEB"/>
                </a:solidFill>
                <a:latin typeface="Calibri" pitchFamily="34" charset="0"/>
                <a:ea typeface="Calibri" pitchFamily="34" charset="-122"/>
                <a:cs typeface="Calibri" pitchFamily="34" charset="-120"/>
              </a:rPr>
              <a:t>Input tokens</a:t>
            </a:r>
            <a:r>
              <a:rPr lang="en-US" altLang="en-US" sz="1300" dirty="0">
                <a:solidFill>
                  <a:srgbClr val="8B949E"/>
                </a:solidFill>
                <a:latin typeface="Calibri" pitchFamily="34" charset="0"/>
                <a:ea typeface="Calibri" pitchFamily="34" charset="-122"/>
                <a:cs typeface="Calibri" pitchFamily="34" charset="-120"/>
              </a:rPr>
              <a:t> — everything you send: your prompt, injected context, conversation history</a:t>
            </a:r>
            <a:r>
              <a:rPr lang="en-US" altLang="en-US" sz="1300" dirty="0">
                <a:solidFill>
                  <a:srgbClr val="000000"/>
                </a:solidFill>
                <a:latin typeface="Calibri" pitchFamily="34" charset="0"/>
                <a:ea typeface="Calibri" pitchFamily="34" charset="-122"/>
                <a:cs typeface="Calibri" pitchFamily="34" charset="-120"/>
              </a:rPr>
              <a:t>
</a:t>
            </a:r>
            <a:r>
              <a:rPr lang="en-US" altLang="en-US" sz="1300" b="1" dirty="0">
                <a:solidFill>
                  <a:srgbClr val="238636"/>
                </a:solidFill>
                <a:latin typeface="Calibri" pitchFamily="34" charset="0"/>
                <a:ea typeface="Calibri" pitchFamily="34" charset="-122"/>
                <a:cs typeface="Calibri" pitchFamily="34" charset="-120"/>
              </a:rPr>
              <a:t>Output tokens</a:t>
            </a:r>
            <a:r>
              <a:rPr lang="en-US" altLang="en-US" sz="1300" dirty="0">
                <a:solidFill>
                  <a:srgbClr val="8B949E"/>
                </a:solidFill>
                <a:latin typeface="Calibri" pitchFamily="34" charset="0"/>
                <a:ea typeface="Calibri" pitchFamily="34" charset="-122"/>
                <a:cs typeface="Calibri" pitchFamily="34" charset="-120"/>
              </a:rPr>
              <a:t> — what Copilot generates in response. These are the most expensive token type.</a:t>
            </a:r>
            <a:r>
              <a:rPr lang="en-US" altLang="en-US" sz="1300" dirty="0">
                <a:solidFill>
                  <a:srgbClr val="000000"/>
                </a:solidFill>
                <a:latin typeface="Calibri" pitchFamily="34" charset="0"/>
                <a:ea typeface="Calibri" pitchFamily="34" charset="-122"/>
                <a:cs typeface="Calibri" pitchFamily="34" charset="-120"/>
              </a:rPr>
              <a:t>
</a:t>
            </a:r>
            <a:r>
              <a:rPr lang="en-US" altLang="en-US" sz="1300" b="1" dirty="0">
                <a:solidFill>
                  <a:srgbClr val="8250DF"/>
                </a:solidFill>
                <a:latin typeface="Calibri" pitchFamily="34" charset="0"/>
                <a:ea typeface="Calibri" pitchFamily="34" charset="-122"/>
                <a:cs typeface="Calibri" pitchFamily="34" charset="-120"/>
              </a:rPr>
              <a:t>Cached tokens</a:t>
            </a:r>
            <a:r>
              <a:rPr lang="en-US" altLang="en-US" sz="1300" dirty="0">
                <a:solidFill>
                  <a:srgbClr val="8B949E"/>
                </a:solidFill>
                <a:latin typeface="Calibri" pitchFamily="34" charset="0"/>
                <a:ea typeface="Calibri" pitchFamily="34" charset="-122"/>
                <a:cs typeface="Calibri" pitchFamily="34" charset="-120"/>
              </a:rPr>
              <a:t> — context reused from earlier in the session. Significantly cheaper than fresh input.</a:t>
            </a:r>
            <a:endParaRPr lang="en-US" sz="1300" dirty="0"/>
          </a:p>
        </p:txBody>
      </p:sp>
      <p:sp>
        <p:nvSpPr>
          <p:cNvPr id="7" name="Shape 5"/>
          <p:cNvSpPr/>
          <p:nvPr/>
        </p:nvSpPr>
        <p:spPr>
          <a:xfrm>
            <a:off x="320040" y="2834640"/>
            <a:ext cx="8503920" cy="15087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8" name="Text 6"/>
          <p:cNvSpPr/>
          <p:nvPr/>
        </p:nvSpPr>
        <p:spPr>
          <a:xfrm>
            <a:off x="502920" y="2944368"/>
            <a:ext cx="8138160" cy="292608"/>
          </a:xfrm>
          <a:prstGeom prst="rect">
            <a:avLst/>
          </a:prstGeom>
          <a:noFill/>
          <a:ln/>
        </p:spPr>
        <p:txBody>
          <a:bodyPr wrap="square" rtlCol="0" anchor="ctr"/>
          <a:lstStyle/>
          <a:p>
            <a:pPr marL="0" indent="0">
              <a:buNone/>
            </a:pPr>
            <a:r>
              <a:rPr lang="en-US" altLang="en-US" sz="1300" b="1" dirty="0">
                <a:solidFill>
                  <a:srgbClr val="1F6FEB"/>
                </a:solidFill>
                <a:latin typeface="Calibri" pitchFamily="34" charset="0"/>
                <a:ea typeface="Calibri" pitchFamily="34" charset="-122"/>
                <a:cs typeface="Calibri" pitchFamily="34" charset="-120"/>
              </a:rPr>
              <a:t>Context Window — Model Dependent</a:t>
            </a:r>
            <a:endParaRPr lang="en-US" sz="1300" dirty="0"/>
          </a:p>
        </p:txBody>
      </p:sp>
      <p:sp>
        <p:nvSpPr>
          <p:cNvPr id="9" name="Text 7"/>
          <p:cNvSpPr/>
          <p:nvPr/>
        </p:nvSpPr>
        <p:spPr>
          <a:xfrm>
            <a:off x="502920" y="3255264"/>
            <a:ext cx="8138160" cy="1005840"/>
          </a:xfrm>
          <a:prstGeom prst="rect">
            <a:avLst/>
          </a:prstGeom>
          <a:noFill/>
          <a:ln/>
        </p:spPr>
        <p:txBody>
          <a:bodyPr wrap="square" rtlCol="0" anchor="ctr"/>
          <a:lstStyle/>
          <a:p>
            <a:pPr marL="0" indent="0">
              <a:spcAft>
                <a:spcPts val="400"/>
              </a:spcAft>
              <a:buNone/>
            </a:pPr>
            <a:r>
              <a:rPr lang="en-US" altLang="en-US" sz="1100" dirty="0">
                <a:solidFill>
                  <a:srgbClr val="F0F6FC"/>
                </a:solidFill>
                <a:latin typeface="Calibri" pitchFamily="34" charset="0"/>
                <a:ea typeface="Calibri" pitchFamily="34" charset="-122"/>
                <a:cs typeface="Calibri" pitchFamily="34" charset="-120"/>
              </a:rPr>
              <a:t>Every model has a different maximum context window. </a:t>
            </a:r>
            <a:r>
              <a:rPr lang="en-US" altLang="en-US" sz="1100" dirty="0">
                <a:solidFill>
                  <a:srgbClr val="8B949E"/>
                </a:solidFill>
                <a:latin typeface="Calibri" pitchFamily="34" charset="0"/>
                <a:ea typeface="Calibri" pitchFamily="34" charset="-122"/>
                <a:cs typeface="Calibri" pitchFamily="34" charset="-120"/>
              </a:rPr>
              <a:t>Check VS Code's context bar (or /context in Copilot CLI) to see your actual usage at any time.</a:t>
            </a:r>
            <a:r>
              <a:rPr lang="en-US" altLang="en-US" sz="1100" dirty="0">
                <a:solidFill>
                  <a:srgbClr val="000000"/>
                </a:solidFill>
                <a:latin typeface="Calibri" pitchFamily="34" charset="0"/>
                <a:ea typeface="Calibri" pitchFamily="34" charset="-122"/>
                <a:cs typeface="Calibri" pitchFamily="34" charset="-120"/>
              </a:rPr>
              <a:t>
</a:t>
            </a:r>
            <a:r>
              <a:rPr lang="en-US" altLang="en-US" sz="1100" b="1" dirty="0">
                <a:solidFill>
                  <a:srgbClr val="238636"/>
                </a:solidFill>
                <a:latin typeface="Calibri" pitchFamily="34" charset="0"/>
                <a:ea typeface="Calibri" pitchFamily="34" charset="-122"/>
                <a:cs typeface="Calibri" pitchFamily="34" charset="-120"/>
              </a:rPr>
              <a:t>Key fact: </a:t>
            </a:r>
            <a:r>
              <a:rPr lang="en-US" altLang="en-US" sz="1100" dirty="0">
                <a:solidFill>
                  <a:srgbClr val="8B949E"/>
                </a:solidFill>
                <a:latin typeface="Calibri" pitchFamily="34" charset="0"/>
                <a:ea typeface="Calibri" pitchFamily="34" charset="-122"/>
                <a:cs typeface="Calibri" pitchFamily="34" charset="-120"/>
              </a:rPr>
              <a:t>System instructions, tool definitions, instruction files, and conversation history are all injected automatically — </a:t>
            </a:r>
            <a:r>
              <a:rPr lang="en-US" altLang="en-US" sz="1100" b="1" dirty="0">
                <a:solidFill>
                  <a:srgbClr val="F0F6FC"/>
                </a:solidFill>
                <a:latin typeface="Calibri" pitchFamily="34" charset="0"/>
                <a:ea typeface="Calibri" pitchFamily="34" charset="-122"/>
                <a:cs typeface="Calibri" pitchFamily="34" charset="-120"/>
              </a:rPr>
              <a:t>before your message even arrives.</a:t>
            </a:r>
            <a:r>
              <a:rPr lang="en-US" altLang="en-US" sz="1100" dirty="0">
                <a:solidFill>
                  <a:srgbClr val="8B949E"/>
                </a:solidFill>
                <a:latin typeface="Calibri" pitchFamily="34" charset="0"/>
                <a:ea typeface="Calibri" pitchFamily="34" charset="-122"/>
                <a:cs typeface="Calibri" pitchFamily="34" charset="-120"/>
              </a:rPr>
              <a:t>  The context fills up faster than most people expect.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Anatomy of a Chat Session</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Every request assembles these layers — in this exact order</a:t>
            </a:r>
            <a:endParaRPr lang="en-US" sz="1300" dirty="0"/>
          </a:p>
        </p:txBody>
      </p:sp>
      <p:sp>
        <p:nvSpPr>
          <p:cNvPr id="5" name="Shape 3"/>
          <p:cNvSpPr/>
          <p:nvPr/>
        </p:nvSpPr>
        <p:spPr>
          <a:xfrm>
            <a:off x="320040" y="987552"/>
            <a:ext cx="1020470" cy="347472"/>
          </a:xfrm>
          <a:prstGeom prst="rect">
            <a:avLst/>
          </a:prstGeom>
          <a:solidFill>
            <a:srgbClr val="1F6FEB"/>
          </a:solidFill>
          <a:ln w="12700">
            <a:solidFill>
              <a:srgbClr val="1F6FEB"/>
            </a:solidFill>
            <a:prstDash val="solid"/>
          </a:ln>
        </p:spPr>
        <p:txBody>
          <a:bodyPr/>
          <a:lstStyle/>
          <a:p>
            <a:endParaRPr lang="en-US"/>
          </a:p>
        </p:txBody>
      </p:sp>
      <p:sp>
        <p:nvSpPr>
          <p:cNvPr id="6" name="Shape 4"/>
          <p:cNvSpPr/>
          <p:nvPr/>
        </p:nvSpPr>
        <p:spPr>
          <a:xfrm>
            <a:off x="1340510" y="987552"/>
            <a:ext cx="425196" cy="347472"/>
          </a:xfrm>
          <a:prstGeom prst="rect">
            <a:avLst/>
          </a:prstGeom>
          <a:solidFill>
            <a:srgbClr val="5B7CF6"/>
          </a:solidFill>
          <a:ln w="12700">
            <a:solidFill>
              <a:srgbClr val="5B7CF6"/>
            </a:solidFill>
            <a:prstDash val="solid"/>
          </a:ln>
        </p:spPr>
        <p:txBody>
          <a:bodyPr/>
          <a:lstStyle/>
          <a:p>
            <a:endParaRPr lang="en-US"/>
          </a:p>
        </p:txBody>
      </p:sp>
      <p:sp>
        <p:nvSpPr>
          <p:cNvPr id="7" name="Shape 5"/>
          <p:cNvSpPr/>
          <p:nvPr/>
        </p:nvSpPr>
        <p:spPr>
          <a:xfrm>
            <a:off x="1765706" y="987552"/>
            <a:ext cx="340157" cy="347472"/>
          </a:xfrm>
          <a:prstGeom prst="rect">
            <a:avLst/>
          </a:prstGeom>
          <a:solidFill>
            <a:srgbClr val="8250DF"/>
          </a:solidFill>
          <a:ln w="12700">
            <a:solidFill>
              <a:srgbClr val="8250DF"/>
            </a:solidFill>
            <a:prstDash val="solid"/>
          </a:ln>
        </p:spPr>
        <p:txBody>
          <a:bodyPr/>
          <a:lstStyle/>
          <a:p>
            <a:endParaRPr lang="en-US"/>
          </a:p>
        </p:txBody>
      </p:sp>
      <p:sp>
        <p:nvSpPr>
          <p:cNvPr id="8" name="Shape 6"/>
          <p:cNvSpPr/>
          <p:nvPr/>
        </p:nvSpPr>
        <p:spPr>
          <a:xfrm>
            <a:off x="2105863" y="987552"/>
            <a:ext cx="680314" cy="347472"/>
          </a:xfrm>
          <a:prstGeom prst="rect">
            <a:avLst/>
          </a:prstGeom>
          <a:solidFill>
            <a:srgbClr val="E3672B"/>
          </a:solidFill>
          <a:ln w="12700">
            <a:solidFill>
              <a:srgbClr val="E3672B"/>
            </a:solidFill>
            <a:prstDash val="solid"/>
          </a:ln>
        </p:spPr>
        <p:txBody>
          <a:bodyPr/>
          <a:lstStyle/>
          <a:p>
            <a:endParaRPr lang="en-US"/>
          </a:p>
        </p:txBody>
      </p:sp>
      <p:sp>
        <p:nvSpPr>
          <p:cNvPr id="9" name="Shape 7"/>
          <p:cNvSpPr/>
          <p:nvPr/>
        </p:nvSpPr>
        <p:spPr>
          <a:xfrm>
            <a:off x="2786177" y="987552"/>
            <a:ext cx="340157" cy="347472"/>
          </a:xfrm>
          <a:prstGeom prst="rect">
            <a:avLst/>
          </a:prstGeom>
          <a:solidFill>
            <a:srgbClr val="E3A21A"/>
          </a:solidFill>
          <a:ln w="12700">
            <a:solidFill>
              <a:srgbClr val="E3A21A"/>
            </a:solidFill>
            <a:prstDash val="solid"/>
          </a:ln>
        </p:spPr>
        <p:txBody>
          <a:bodyPr/>
          <a:lstStyle/>
          <a:p>
            <a:endParaRPr lang="en-US"/>
          </a:p>
        </p:txBody>
      </p:sp>
      <p:sp>
        <p:nvSpPr>
          <p:cNvPr id="10" name="Shape 8"/>
          <p:cNvSpPr/>
          <p:nvPr/>
        </p:nvSpPr>
        <p:spPr>
          <a:xfrm>
            <a:off x="3126334" y="987552"/>
            <a:ext cx="1190549" cy="347472"/>
          </a:xfrm>
          <a:prstGeom prst="rect">
            <a:avLst/>
          </a:prstGeom>
          <a:solidFill>
            <a:srgbClr val="E05252"/>
          </a:solidFill>
          <a:ln w="12700">
            <a:solidFill>
              <a:srgbClr val="E05252"/>
            </a:solidFill>
            <a:prstDash val="solid"/>
          </a:ln>
        </p:spPr>
        <p:txBody>
          <a:bodyPr/>
          <a:lstStyle/>
          <a:p>
            <a:endParaRPr lang="en-US"/>
          </a:p>
        </p:txBody>
      </p:sp>
      <p:sp>
        <p:nvSpPr>
          <p:cNvPr id="11" name="Shape 9"/>
          <p:cNvSpPr/>
          <p:nvPr/>
        </p:nvSpPr>
        <p:spPr>
          <a:xfrm>
            <a:off x="4316882" y="987552"/>
            <a:ext cx="850392" cy="347472"/>
          </a:xfrm>
          <a:prstGeom prst="rect">
            <a:avLst/>
          </a:prstGeom>
          <a:solidFill>
            <a:srgbClr val="8250DF"/>
          </a:solidFill>
          <a:ln w="12700">
            <a:solidFill>
              <a:srgbClr val="8250DF"/>
            </a:solidFill>
            <a:prstDash val="solid"/>
          </a:ln>
        </p:spPr>
        <p:txBody>
          <a:bodyPr/>
          <a:lstStyle/>
          <a:p>
            <a:endParaRPr lang="en-US"/>
          </a:p>
        </p:txBody>
      </p:sp>
      <p:sp>
        <p:nvSpPr>
          <p:cNvPr id="12" name="Shape 10"/>
          <p:cNvSpPr/>
          <p:nvPr/>
        </p:nvSpPr>
        <p:spPr>
          <a:xfrm>
            <a:off x="5167274" y="987552"/>
            <a:ext cx="595274" cy="347472"/>
          </a:xfrm>
          <a:prstGeom prst="rect">
            <a:avLst/>
          </a:prstGeom>
          <a:solidFill>
            <a:srgbClr val="238636"/>
          </a:solidFill>
          <a:ln w="12700">
            <a:solidFill>
              <a:srgbClr val="238636"/>
            </a:solidFill>
            <a:prstDash val="solid"/>
          </a:ln>
        </p:spPr>
        <p:txBody>
          <a:bodyPr/>
          <a:lstStyle/>
          <a:p>
            <a:endParaRPr lang="en-US"/>
          </a:p>
        </p:txBody>
      </p:sp>
      <p:sp>
        <p:nvSpPr>
          <p:cNvPr id="13" name="Shape 11"/>
          <p:cNvSpPr/>
          <p:nvPr/>
        </p:nvSpPr>
        <p:spPr>
          <a:xfrm>
            <a:off x="5762549" y="987552"/>
            <a:ext cx="425196" cy="347472"/>
          </a:xfrm>
          <a:prstGeom prst="rect">
            <a:avLst/>
          </a:prstGeom>
          <a:solidFill>
            <a:srgbClr val="20A083"/>
          </a:solidFill>
          <a:ln w="12700">
            <a:solidFill>
              <a:srgbClr val="20A083"/>
            </a:solidFill>
            <a:prstDash val="solid"/>
          </a:ln>
        </p:spPr>
        <p:txBody>
          <a:bodyPr/>
          <a:lstStyle/>
          <a:p>
            <a:endParaRPr lang="en-US"/>
          </a:p>
        </p:txBody>
      </p:sp>
      <p:sp>
        <p:nvSpPr>
          <p:cNvPr id="14" name="Shape 12"/>
          <p:cNvSpPr/>
          <p:nvPr/>
        </p:nvSpPr>
        <p:spPr>
          <a:xfrm>
            <a:off x="6187745" y="987552"/>
            <a:ext cx="340157" cy="347472"/>
          </a:xfrm>
          <a:prstGeom prst="rect">
            <a:avLst/>
          </a:prstGeom>
          <a:solidFill>
            <a:srgbClr val="F0F6FC"/>
          </a:solidFill>
          <a:ln w="12700">
            <a:solidFill>
              <a:srgbClr val="F0F6FC"/>
            </a:solidFill>
            <a:prstDash val="solid"/>
          </a:ln>
        </p:spPr>
        <p:txBody>
          <a:bodyPr/>
          <a:lstStyle/>
          <a:p>
            <a:endParaRPr lang="en-US"/>
          </a:p>
        </p:txBody>
      </p:sp>
      <p:sp>
        <p:nvSpPr>
          <p:cNvPr id="15" name="Shape 13"/>
          <p:cNvSpPr/>
          <p:nvPr/>
        </p:nvSpPr>
        <p:spPr>
          <a:xfrm>
            <a:off x="6527902" y="987552"/>
            <a:ext cx="850392" cy="347472"/>
          </a:xfrm>
          <a:prstGeom prst="rect">
            <a:avLst/>
          </a:prstGeom>
          <a:solidFill>
            <a:srgbClr val="8B949E"/>
          </a:solidFill>
          <a:ln w="12700">
            <a:solidFill>
              <a:srgbClr val="8B949E"/>
            </a:solidFill>
            <a:prstDash val="solid"/>
          </a:ln>
        </p:spPr>
        <p:txBody>
          <a:bodyPr/>
          <a:lstStyle/>
          <a:p>
            <a:endParaRPr lang="en-US"/>
          </a:p>
        </p:txBody>
      </p:sp>
      <p:sp>
        <p:nvSpPr>
          <p:cNvPr id="16" name="Shape 14"/>
          <p:cNvSpPr/>
          <p:nvPr/>
        </p:nvSpPr>
        <p:spPr>
          <a:xfrm>
            <a:off x="7378294" y="987552"/>
            <a:ext cx="1445666" cy="347472"/>
          </a:xfrm>
          <a:prstGeom prst="rect">
            <a:avLst/>
          </a:prstGeom>
          <a:solidFill>
            <a:srgbClr val="30363D"/>
          </a:solidFill>
          <a:ln w="12700">
            <a:solidFill>
              <a:srgbClr val="30363D"/>
            </a:solidFill>
            <a:prstDash val="solid"/>
          </a:ln>
        </p:spPr>
        <p:txBody>
          <a:bodyPr/>
          <a:lstStyle/>
          <a:p>
            <a:endParaRPr lang="en-US"/>
          </a:p>
        </p:txBody>
      </p:sp>
      <p:sp>
        <p:nvSpPr>
          <p:cNvPr id="17" name="Text 15"/>
          <p:cNvSpPr/>
          <p:nvPr/>
        </p:nvSpPr>
        <p:spPr>
          <a:xfrm>
            <a:off x="7378294" y="987552"/>
            <a:ext cx="1445666" cy="347472"/>
          </a:xfrm>
          <a:prstGeom prst="rect">
            <a:avLst/>
          </a:prstGeom>
          <a:noFill/>
          <a:ln/>
        </p:spPr>
        <p:txBody>
          <a:bodyPr wrap="square" rtlCol="0" anchor="ctr"/>
          <a:lstStyle/>
          <a:p>
            <a:pPr marL="0" indent="0" algn="ctr">
              <a:buNone/>
            </a:pPr>
            <a:r>
              <a:rPr lang="en-US" altLang="en-US" sz="800" dirty="0">
                <a:solidFill>
                  <a:srgbClr val="8B949E"/>
                </a:solidFill>
                <a:latin typeface="Calibri" pitchFamily="34" charset="0"/>
                <a:ea typeface="Calibri" pitchFamily="34" charset="-122"/>
                <a:cs typeface="Calibri" pitchFamily="34" charset="-120"/>
              </a:rPr>
              <a:t>Varies</a:t>
            </a:r>
            <a:endParaRPr lang="en-US" sz="800" dirty="0"/>
          </a:p>
        </p:txBody>
      </p:sp>
      <p:sp>
        <p:nvSpPr>
          <p:cNvPr id="18" name="Shape 16"/>
          <p:cNvSpPr/>
          <p:nvPr/>
        </p:nvSpPr>
        <p:spPr>
          <a:xfrm>
            <a:off x="320040" y="1481328"/>
            <a:ext cx="237744" cy="292608"/>
          </a:xfrm>
          <a:prstGeom prst="rect">
            <a:avLst/>
          </a:prstGeom>
          <a:solidFill>
            <a:srgbClr val="1F6FEB"/>
          </a:solidFill>
          <a:ln w="12700">
            <a:solidFill>
              <a:srgbClr val="1F6FEB"/>
            </a:solidFill>
            <a:prstDash val="solid"/>
          </a:ln>
        </p:spPr>
        <p:txBody>
          <a:bodyPr/>
          <a:lstStyle/>
          <a:p>
            <a:endParaRPr lang="en-US"/>
          </a:p>
        </p:txBody>
      </p:sp>
      <p:sp>
        <p:nvSpPr>
          <p:cNvPr id="19" name="Text 17"/>
          <p:cNvSpPr/>
          <p:nvPr/>
        </p:nvSpPr>
        <p:spPr>
          <a:xfrm>
            <a:off x="320040" y="1481328"/>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0" name="Text 18"/>
          <p:cNvSpPr/>
          <p:nvPr/>
        </p:nvSpPr>
        <p:spPr>
          <a:xfrm>
            <a:off x="612648" y="1426464"/>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System Instructions</a:t>
            </a:r>
            <a:endParaRPr lang="en-US" sz="950" dirty="0"/>
          </a:p>
        </p:txBody>
      </p:sp>
      <p:sp>
        <p:nvSpPr>
          <p:cNvPr id="21" name="Text 19"/>
          <p:cNvSpPr/>
          <p:nvPr/>
        </p:nvSpPr>
        <p:spPr>
          <a:xfrm>
            <a:off x="612648" y="1600200"/>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Built-in Copilot rules: persona, safety, output format. Always present. You cannot edit this.</a:t>
            </a:r>
            <a:endParaRPr lang="en-US" sz="800" dirty="0"/>
          </a:p>
        </p:txBody>
      </p:sp>
      <p:sp>
        <p:nvSpPr>
          <p:cNvPr id="23" name="Shape 21"/>
          <p:cNvSpPr/>
          <p:nvPr/>
        </p:nvSpPr>
        <p:spPr>
          <a:xfrm>
            <a:off x="320040" y="1856232"/>
            <a:ext cx="237744" cy="292608"/>
          </a:xfrm>
          <a:prstGeom prst="rect">
            <a:avLst/>
          </a:prstGeom>
          <a:solidFill>
            <a:srgbClr val="5B7CF6"/>
          </a:solidFill>
          <a:ln w="12700">
            <a:solidFill>
              <a:srgbClr val="5B7CF6"/>
            </a:solidFill>
            <a:prstDash val="solid"/>
          </a:ln>
        </p:spPr>
        <p:txBody>
          <a:bodyPr/>
          <a:lstStyle/>
          <a:p>
            <a:endParaRPr lang="en-US"/>
          </a:p>
        </p:txBody>
      </p:sp>
      <p:sp>
        <p:nvSpPr>
          <p:cNvPr id="24" name="Text 22"/>
          <p:cNvSpPr/>
          <p:nvPr/>
        </p:nvSpPr>
        <p:spPr>
          <a:xfrm>
            <a:off x="320040" y="1856232"/>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5" name="Text 23"/>
          <p:cNvSpPr/>
          <p:nvPr/>
        </p:nvSpPr>
        <p:spPr>
          <a:xfrm>
            <a:off x="612648" y="1801368"/>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Custom Agent Definition</a:t>
            </a:r>
            <a:endParaRPr lang="en-US" sz="950" dirty="0"/>
          </a:p>
        </p:txBody>
      </p:sp>
      <p:sp>
        <p:nvSpPr>
          <p:cNvPr id="26" name="Text 24"/>
          <p:cNvSpPr/>
          <p:nvPr/>
        </p:nvSpPr>
        <p:spPr>
          <a:xfrm>
            <a:off x="612648" y="1975104"/>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If you're using a custom agent (.agent.md), its persona, tools and constraints are loaded here.</a:t>
            </a:r>
            <a:endParaRPr lang="en-US" sz="800" dirty="0"/>
          </a:p>
        </p:txBody>
      </p:sp>
      <p:sp>
        <p:nvSpPr>
          <p:cNvPr id="28" name="Shape 26"/>
          <p:cNvSpPr/>
          <p:nvPr/>
        </p:nvSpPr>
        <p:spPr>
          <a:xfrm>
            <a:off x="320040" y="2231136"/>
            <a:ext cx="237744" cy="292608"/>
          </a:xfrm>
          <a:prstGeom prst="rect">
            <a:avLst/>
          </a:prstGeom>
          <a:solidFill>
            <a:srgbClr val="8250DF"/>
          </a:solidFill>
          <a:ln w="12700">
            <a:solidFill>
              <a:srgbClr val="8250DF"/>
            </a:solidFill>
            <a:prstDash val="solid"/>
          </a:ln>
        </p:spPr>
        <p:txBody>
          <a:bodyPr/>
          <a:lstStyle/>
          <a:p>
            <a:endParaRPr lang="en-US"/>
          </a:p>
        </p:txBody>
      </p:sp>
      <p:sp>
        <p:nvSpPr>
          <p:cNvPr id="29" name="Text 27"/>
          <p:cNvSpPr/>
          <p:nvPr/>
        </p:nvSpPr>
        <p:spPr>
          <a:xfrm>
            <a:off x="320040" y="2231136"/>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0" name="Text 28"/>
          <p:cNvSpPr/>
          <p:nvPr/>
        </p:nvSpPr>
        <p:spPr>
          <a:xfrm>
            <a:off x="612648" y="2176272"/>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User-Level Instructions</a:t>
            </a:r>
            <a:endParaRPr lang="en-US" sz="950" dirty="0"/>
          </a:p>
        </p:txBody>
      </p:sp>
      <p:sp>
        <p:nvSpPr>
          <p:cNvPr id="31" name="Text 29"/>
          <p:cNvSpPr/>
          <p:nvPr/>
        </p:nvSpPr>
        <p:spPr>
          <a:xfrm>
            <a:off x="612648" y="2350008"/>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Your personal instructions from VS Code settings. Apply across all workspaces. Good for response style.</a:t>
            </a:r>
            <a:endParaRPr lang="en-US" sz="800" dirty="0"/>
          </a:p>
        </p:txBody>
      </p:sp>
      <p:sp>
        <p:nvSpPr>
          <p:cNvPr id="33" name="Shape 31"/>
          <p:cNvSpPr/>
          <p:nvPr/>
        </p:nvSpPr>
        <p:spPr>
          <a:xfrm>
            <a:off x="320040" y="2606040"/>
            <a:ext cx="237744" cy="292608"/>
          </a:xfrm>
          <a:prstGeom prst="rect">
            <a:avLst/>
          </a:prstGeom>
          <a:solidFill>
            <a:srgbClr val="E3672B"/>
          </a:solidFill>
          <a:ln w="12700">
            <a:solidFill>
              <a:srgbClr val="E3672B"/>
            </a:solidFill>
            <a:prstDash val="solid"/>
          </a:ln>
        </p:spPr>
        <p:txBody>
          <a:bodyPr/>
          <a:lstStyle/>
          <a:p>
            <a:endParaRPr lang="en-US"/>
          </a:p>
        </p:txBody>
      </p:sp>
      <p:sp>
        <p:nvSpPr>
          <p:cNvPr id="34" name="Text 32"/>
          <p:cNvSpPr/>
          <p:nvPr/>
        </p:nvSpPr>
        <p:spPr>
          <a:xfrm>
            <a:off x="320040" y="2606040"/>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5" name="Text 33"/>
          <p:cNvSpPr/>
          <p:nvPr/>
        </p:nvSpPr>
        <p:spPr>
          <a:xfrm>
            <a:off x="612648" y="2551176"/>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copilot-instructions.md</a:t>
            </a:r>
            <a:endParaRPr lang="en-US" sz="950" dirty="0"/>
          </a:p>
        </p:txBody>
      </p:sp>
      <p:sp>
        <p:nvSpPr>
          <p:cNvPr id="36" name="Text 34"/>
          <p:cNvSpPr/>
          <p:nvPr/>
        </p:nvSpPr>
        <p:spPr>
          <a:xfrm>
            <a:off x="612648" y="2724912"/>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Project-wide rules from .github/copilot-instructions.md. Injected on EVERY request — keep it lean.</a:t>
            </a:r>
            <a:endParaRPr lang="en-US" sz="800" dirty="0"/>
          </a:p>
        </p:txBody>
      </p:sp>
      <p:sp>
        <p:nvSpPr>
          <p:cNvPr id="38" name="Shape 36"/>
          <p:cNvSpPr/>
          <p:nvPr/>
        </p:nvSpPr>
        <p:spPr>
          <a:xfrm>
            <a:off x="320040" y="2980944"/>
            <a:ext cx="237744" cy="292608"/>
          </a:xfrm>
          <a:prstGeom prst="rect">
            <a:avLst/>
          </a:prstGeom>
          <a:solidFill>
            <a:srgbClr val="E3A21A"/>
          </a:solidFill>
          <a:ln w="12700">
            <a:solidFill>
              <a:srgbClr val="E3A21A"/>
            </a:solidFill>
            <a:prstDash val="solid"/>
          </a:ln>
        </p:spPr>
        <p:txBody>
          <a:bodyPr/>
          <a:lstStyle/>
          <a:p>
            <a:endParaRPr lang="en-US"/>
          </a:p>
        </p:txBody>
      </p:sp>
      <p:sp>
        <p:nvSpPr>
          <p:cNvPr id="39" name="Text 37"/>
          <p:cNvSpPr/>
          <p:nvPr/>
        </p:nvSpPr>
        <p:spPr>
          <a:xfrm>
            <a:off x="320040" y="2980944"/>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0" name="Text 38"/>
          <p:cNvSpPr/>
          <p:nvPr/>
        </p:nvSpPr>
        <p:spPr>
          <a:xfrm>
            <a:off x="612648" y="2926080"/>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*.instructions.md (matched)</a:t>
            </a:r>
            <a:endParaRPr lang="en-US" sz="950" dirty="0"/>
          </a:p>
        </p:txBody>
      </p:sp>
      <p:sp>
        <p:nvSpPr>
          <p:cNvPr id="41" name="Text 39"/>
          <p:cNvSpPr/>
          <p:nvPr/>
        </p:nvSpPr>
        <p:spPr>
          <a:xfrm>
            <a:off x="612648" y="3099816"/>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File-targeted rules that match the current context via applyTo globs. Smarter — only loaded when relevant.</a:t>
            </a:r>
            <a:endParaRPr lang="en-US" sz="800" dirty="0"/>
          </a:p>
        </p:txBody>
      </p:sp>
      <p:sp>
        <p:nvSpPr>
          <p:cNvPr id="43" name="Shape 41"/>
          <p:cNvSpPr/>
          <p:nvPr/>
        </p:nvSpPr>
        <p:spPr>
          <a:xfrm>
            <a:off x="320040" y="3355848"/>
            <a:ext cx="237744" cy="292608"/>
          </a:xfrm>
          <a:prstGeom prst="rect">
            <a:avLst/>
          </a:prstGeom>
          <a:solidFill>
            <a:srgbClr val="E05252"/>
          </a:solidFill>
          <a:ln w="12700">
            <a:solidFill>
              <a:srgbClr val="E05252"/>
            </a:solidFill>
            <a:prstDash val="solid"/>
          </a:ln>
        </p:spPr>
        <p:txBody>
          <a:bodyPr/>
          <a:lstStyle/>
          <a:p>
            <a:endParaRPr lang="en-US"/>
          </a:p>
        </p:txBody>
      </p:sp>
      <p:sp>
        <p:nvSpPr>
          <p:cNvPr id="44" name="Text 42"/>
          <p:cNvSpPr/>
          <p:nvPr/>
        </p:nvSpPr>
        <p:spPr>
          <a:xfrm>
            <a:off x="320040" y="3355848"/>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45" name="Text 43"/>
          <p:cNvSpPr/>
          <p:nvPr/>
        </p:nvSpPr>
        <p:spPr>
          <a:xfrm>
            <a:off x="612648" y="3300984"/>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Conversation History</a:t>
            </a:r>
            <a:endParaRPr lang="en-US" sz="950" dirty="0"/>
          </a:p>
        </p:txBody>
      </p:sp>
      <p:sp>
        <p:nvSpPr>
          <p:cNvPr id="46" name="Text 44"/>
          <p:cNvSpPr/>
          <p:nvPr/>
        </p:nvSpPr>
        <p:spPr>
          <a:xfrm>
            <a:off x="612648" y="3474720"/>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ALL prior turns of this session replayed in full. This is the snowball — grows with every exchange.</a:t>
            </a:r>
            <a:endParaRPr lang="en-US" sz="800" dirty="0"/>
          </a:p>
        </p:txBody>
      </p:sp>
      <p:sp>
        <p:nvSpPr>
          <p:cNvPr id="48" name="Shape 46"/>
          <p:cNvSpPr/>
          <p:nvPr/>
        </p:nvSpPr>
        <p:spPr>
          <a:xfrm>
            <a:off x="4617720" y="1481328"/>
            <a:ext cx="237744" cy="292608"/>
          </a:xfrm>
          <a:prstGeom prst="rect">
            <a:avLst/>
          </a:prstGeom>
          <a:solidFill>
            <a:srgbClr val="8250DF"/>
          </a:solidFill>
          <a:ln w="12700">
            <a:solidFill>
              <a:srgbClr val="8250DF"/>
            </a:solidFill>
            <a:prstDash val="solid"/>
          </a:ln>
        </p:spPr>
        <p:txBody>
          <a:bodyPr/>
          <a:lstStyle/>
          <a:p>
            <a:endParaRPr lang="en-US"/>
          </a:p>
        </p:txBody>
      </p:sp>
      <p:sp>
        <p:nvSpPr>
          <p:cNvPr id="49" name="Text 47"/>
          <p:cNvSpPr/>
          <p:nvPr/>
        </p:nvSpPr>
        <p:spPr>
          <a:xfrm>
            <a:off x="4617720" y="1481328"/>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50" name="Text 48"/>
          <p:cNvSpPr/>
          <p:nvPr/>
        </p:nvSpPr>
        <p:spPr>
          <a:xfrm>
            <a:off x="4910328" y="1426464"/>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Tool / MCP Definitions</a:t>
            </a:r>
            <a:endParaRPr lang="en-US" sz="950" dirty="0"/>
          </a:p>
        </p:txBody>
      </p:sp>
      <p:sp>
        <p:nvSpPr>
          <p:cNvPr id="51" name="Text 49"/>
          <p:cNvSpPr/>
          <p:nvPr/>
        </p:nvSpPr>
        <p:spPr>
          <a:xfrm>
            <a:off x="4910328" y="1600200"/>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Schema for every connected MCP server tool. Each idle server still burns 100–500 tokens per request.</a:t>
            </a:r>
            <a:endParaRPr lang="en-US" sz="800" dirty="0"/>
          </a:p>
        </p:txBody>
      </p:sp>
      <p:sp>
        <p:nvSpPr>
          <p:cNvPr id="53" name="Shape 51"/>
          <p:cNvSpPr/>
          <p:nvPr/>
        </p:nvSpPr>
        <p:spPr>
          <a:xfrm>
            <a:off x="4617720" y="1856232"/>
            <a:ext cx="237744" cy="292608"/>
          </a:xfrm>
          <a:prstGeom prst="rect">
            <a:avLst/>
          </a:prstGeom>
          <a:solidFill>
            <a:srgbClr val="238636"/>
          </a:solidFill>
          <a:ln w="12700">
            <a:solidFill>
              <a:srgbClr val="238636"/>
            </a:solidFill>
            <a:prstDash val="solid"/>
          </a:ln>
        </p:spPr>
        <p:txBody>
          <a:bodyPr/>
          <a:lstStyle/>
          <a:p>
            <a:endParaRPr lang="en-US"/>
          </a:p>
        </p:txBody>
      </p:sp>
      <p:sp>
        <p:nvSpPr>
          <p:cNvPr id="54" name="Text 52"/>
          <p:cNvSpPr/>
          <p:nvPr/>
        </p:nvSpPr>
        <p:spPr>
          <a:xfrm>
            <a:off x="4617720" y="1856232"/>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55" name="Text 53"/>
          <p:cNvSpPr/>
          <p:nvPr/>
        </p:nvSpPr>
        <p:spPr>
          <a:xfrm>
            <a:off x="4910328" y="1801368"/>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Active File + Selected Code</a:t>
            </a:r>
            <a:endParaRPr lang="en-US" sz="950" dirty="0"/>
          </a:p>
        </p:txBody>
      </p:sp>
      <p:sp>
        <p:nvSpPr>
          <p:cNvPr id="56" name="Text 54"/>
          <p:cNvSpPr/>
          <p:nvPr/>
        </p:nvSpPr>
        <p:spPr>
          <a:xfrm>
            <a:off x="4910328" y="1975104"/>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The file open in the editor and any code you've selected or referenced with #file.</a:t>
            </a:r>
            <a:endParaRPr lang="en-US" sz="800" dirty="0"/>
          </a:p>
        </p:txBody>
      </p:sp>
      <p:sp>
        <p:nvSpPr>
          <p:cNvPr id="58" name="Shape 56"/>
          <p:cNvSpPr/>
          <p:nvPr/>
        </p:nvSpPr>
        <p:spPr>
          <a:xfrm>
            <a:off x="4617720" y="2231136"/>
            <a:ext cx="237744" cy="292608"/>
          </a:xfrm>
          <a:prstGeom prst="rect">
            <a:avLst/>
          </a:prstGeom>
          <a:solidFill>
            <a:srgbClr val="20A083"/>
          </a:solidFill>
          <a:ln w="12700">
            <a:solidFill>
              <a:srgbClr val="20A083"/>
            </a:solidFill>
            <a:prstDash val="solid"/>
          </a:ln>
        </p:spPr>
        <p:txBody>
          <a:bodyPr/>
          <a:lstStyle/>
          <a:p>
            <a:endParaRPr lang="en-US"/>
          </a:p>
        </p:txBody>
      </p:sp>
      <p:sp>
        <p:nvSpPr>
          <p:cNvPr id="59" name="Text 57"/>
          <p:cNvSpPr/>
          <p:nvPr/>
        </p:nvSpPr>
        <p:spPr>
          <a:xfrm>
            <a:off x="4617720" y="2231136"/>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60" name="Text 58"/>
          <p:cNvSpPr/>
          <p:nvPr/>
        </p:nvSpPr>
        <p:spPr>
          <a:xfrm>
            <a:off x="4910328" y="2176272"/>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Nearby / Related Files</a:t>
            </a:r>
            <a:endParaRPr lang="en-US" sz="950" dirty="0"/>
          </a:p>
        </p:txBody>
      </p:sp>
      <p:sp>
        <p:nvSpPr>
          <p:cNvPr id="61" name="Text 59"/>
          <p:cNvSpPr/>
          <p:nvPr/>
        </p:nvSpPr>
        <p:spPr>
          <a:xfrm>
            <a:off x="4910328" y="2350008"/>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Semantically similar files found via @workspace search. Helpful but expensive on large codebases.</a:t>
            </a:r>
            <a:endParaRPr lang="en-US" sz="800" dirty="0"/>
          </a:p>
        </p:txBody>
      </p:sp>
      <p:sp>
        <p:nvSpPr>
          <p:cNvPr id="63" name="Shape 61"/>
          <p:cNvSpPr/>
          <p:nvPr/>
        </p:nvSpPr>
        <p:spPr>
          <a:xfrm>
            <a:off x="4617720" y="2606040"/>
            <a:ext cx="237744" cy="292608"/>
          </a:xfrm>
          <a:prstGeom prst="rect">
            <a:avLst/>
          </a:prstGeom>
          <a:solidFill>
            <a:srgbClr val="F0F6FC"/>
          </a:solidFill>
          <a:ln w="12700">
            <a:solidFill>
              <a:srgbClr val="F0F6FC"/>
            </a:solidFill>
            <a:prstDash val="solid"/>
          </a:ln>
        </p:spPr>
        <p:txBody>
          <a:bodyPr/>
          <a:lstStyle/>
          <a:p>
            <a:endParaRPr lang="en-US"/>
          </a:p>
        </p:txBody>
      </p:sp>
      <p:sp>
        <p:nvSpPr>
          <p:cNvPr id="64" name="Text 62"/>
          <p:cNvSpPr/>
          <p:nvPr/>
        </p:nvSpPr>
        <p:spPr>
          <a:xfrm>
            <a:off x="4617720" y="2606040"/>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65" name="Text 63"/>
          <p:cNvSpPr/>
          <p:nvPr/>
        </p:nvSpPr>
        <p:spPr>
          <a:xfrm>
            <a:off x="4910328" y="2551176"/>
            <a:ext cx="3867912" cy="182880"/>
          </a:xfrm>
          <a:prstGeom prst="rect">
            <a:avLst/>
          </a:prstGeom>
          <a:noFill/>
          <a:ln/>
        </p:spPr>
        <p:txBody>
          <a:bodyPr wrap="square" rtlCol="0" anchor="ctr"/>
          <a:lstStyle/>
          <a:p>
            <a:pPr marL="0" indent="0">
              <a:buNone/>
            </a:pPr>
            <a:r>
              <a:rPr lang="en-US" altLang="en-US" sz="950" b="1" dirty="0">
                <a:solidFill>
                  <a:srgbClr val="CCCCCC"/>
                </a:solidFill>
                <a:latin typeface="Calibri" pitchFamily="34" charset="0"/>
                <a:ea typeface="Calibri" pitchFamily="34" charset="-122"/>
                <a:cs typeface="Calibri" pitchFamily="34" charset="-120"/>
              </a:rPr>
              <a:t>Your Prompt</a:t>
            </a:r>
            <a:endParaRPr lang="en-US" sz="950" dirty="0"/>
          </a:p>
        </p:txBody>
      </p:sp>
      <p:sp>
        <p:nvSpPr>
          <p:cNvPr id="66" name="Text 64"/>
          <p:cNvSpPr/>
          <p:nvPr/>
        </p:nvSpPr>
        <p:spPr>
          <a:xfrm>
            <a:off x="4910328" y="2724912"/>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Your actual message. By now the window is already substantially occupied by the layers above. Your prompt is a relatively small addition on top.</a:t>
            </a:r>
            <a:endParaRPr lang="en-US" sz="800" dirty="0"/>
          </a:p>
        </p:txBody>
      </p:sp>
      <p:sp>
        <p:nvSpPr>
          <p:cNvPr id="68" name="Shape 66"/>
          <p:cNvSpPr/>
          <p:nvPr/>
        </p:nvSpPr>
        <p:spPr>
          <a:xfrm>
            <a:off x="4617720" y="2980944"/>
            <a:ext cx="237744" cy="292608"/>
          </a:xfrm>
          <a:prstGeom prst="rect">
            <a:avLst/>
          </a:prstGeom>
          <a:solidFill>
            <a:srgbClr val="8B949E"/>
          </a:solidFill>
          <a:ln w="12700">
            <a:solidFill>
              <a:srgbClr val="8B949E"/>
            </a:solidFill>
            <a:prstDash val="solid"/>
          </a:ln>
        </p:spPr>
        <p:txBody>
          <a:bodyPr/>
          <a:lstStyle/>
          <a:p>
            <a:endParaRPr lang="en-US"/>
          </a:p>
        </p:txBody>
      </p:sp>
      <p:sp>
        <p:nvSpPr>
          <p:cNvPr id="69" name="Text 67"/>
          <p:cNvSpPr/>
          <p:nvPr/>
        </p:nvSpPr>
        <p:spPr>
          <a:xfrm>
            <a:off x="4617720" y="2980944"/>
            <a:ext cx="237744" cy="292608"/>
          </a:xfrm>
          <a:prstGeom prst="rect">
            <a:avLst/>
          </a:prstGeom>
          <a:noFill/>
          <a:ln/>
        </p:spPr>
        <p:txBody>
          <a:bodyPr wrap="square" rtlCol="0" anchor="ctr"/>
          <a:lstStyle/>
          <a:p>
            <a:pPr marL="0" indent="0" algn="ctr">
              <a:buNone/>
            </a:pPr>
            <a:r>
              <a:rPr lang="en-US" altLang="en-US" sz="800" b="1" dirty="0">
                <a:solidFill>
                  <a:srgbClr val="FFFFFF"/>
                </a:solidFill>
                <a:latin typeface="Calibri" pitchFamily="34" charset="0"/>
                <a:ea typeface="Calibri" pitchFamily="34" charset="-122"/>
                <a:cs typeface="Calibri" pitchFamily="34" charset="-120"/>
              </a:rPr>
              <a:t>11</a:t>
            </a:r>
            <a:endParaRPr lang="en-US" sz="800" dirty="0"/>
          </a:p>
        </p:txBody>
      </p:sp>
      <p:sp>
        <p:nvSpPr>
          <p:cNvPr id="70" name="Text 68"/>
          <p:cNvSpPr/>
          <p:nvPr/>
        </p:nvSpPr>
        <p:spPr>
          <a:xfrm>
            <a:off x="4910328" y="2926080"/>
            <a:ext cx="3867912" cy="182880"/>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Reserved Output Buffer</a:t>
            </a:r>
            <a:endParaRPr lang="en-US" sz="950" dirty="0"/>
          </a:p>
        </p:txBody>
      </p:sp>
      <p:sp>
        <p:nvSpPr>
          <p:cNvPr id="71" name="Text 69"/>
          <p:cNvSpPr/>
          <p:nvPr/>
        </p:nvSpPr>
        <p:spPr>
          <a:xfrm>
            <a:off x="4910328" y="3099816"/>
            <a:ext cx="3867912"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Held back for Copilot's response. Shows as 'Reserved Output' in the context indicator. Non-negotiable.</a:t>
            </a:r>
            <a:endParaRPr lang="en-US" sz="800" dirty="0"/>
          </a:p>
        </p:txBody>
      </p:sp>
      <p:sp>
        <p:nvSpPr>
          <p:cNvPr id="74" name="Shape 72"/>
          <p:cNvSpPr/>
          <p:nvPr/>
        </p:nvSpPr>
        <p:spPr>
          <a:xfrm>
            <a:off x="320040" y="4654296"/>
            <a:ext cx="8503920" cy="320040"/>
          </a:xfrm>
          <a:prstGeom prst="rect">
            <a:avLst/>
          </a:prstGeom>
          <a:solidFill>
            <a:srgbClr val="161B22"/>
          </a:solidFill>
          <a:ln w="12700">
            <a:solidFill>
              <a:srgbClr val="238636"/>
            </a:solidFill>
            <a:prstDash val="solid"/>
          </a:ln>
        </p:spPr>
        <p:txBody>
          <a:bodyPr/>
          <a:lstStyle/>
          <a:p>
            <a:endParaRPr lang="en-US"/>
          </a:p>
        </p:txBody>
      </p:sp>
      <p:sp>
        <p:nvSpPr>
          <p:cNvPr id="75" name="Text 73"/>
          <p:cNvSpPr/>
          <p:nvPr/>
        </p:nvSpPr>
        <p:spPr>
          <a:xfrm>
            <a:off x="457200" y="4663440"/>
            <a:ext cx="8229600" cy="301752"/>
          </a:xfrm>
          <a:prstGeom prst="rect">
            <a:avLst/>
          </a:prstGeom>
          <a:noFill/>
          <a:ln/>
        </p:spPr>
        <p:txBody>
          <a:bodyPr wrap="square" rtlCol="0" anchor="ctr"/>
          <a:lstStyle/>
          <a:p>
            <a:pPr marL="0" indent="0">
              <a:buNone/>
            </a:pPr>
            <a:r>
              <a:rPr lang="en-US" altLang="en-US" sz="950" b="1" dirty="0">
                <a:solidFill>
                  <a:srgbClr val="F0F6FC"/>
                </a:solidFill>
                <a:latin typeface="Calibri" pitchFamily="34" charset="0"/>
                <a:ea typeface="Calibri" pitchFamily="34" charset="-122"/>
                <a:cs typeface="Calibri" pitchFamily="34" charset="-120"/>
              </a:rPr>
              <a:t>💡  Measure your own baseline: type  /context  in Copilot CLI, or watch the context bar in VS Code — it shows exactly how full your window is right now.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The Snowball Problem</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Token cost per request grows with every turn — even if you ask the same question</a:t>
            </a:r>
            <a:endParaRPr lang="en-US" sz="1300" dirty="0"/>
          </a:p>
        </p:txBody>
      </p:sp>
      <p:sp>
        <p:nvSpPr>
          <p:cNvPr id="5" name="Shape 3"/>
          <p:cNvSpPr/>
          <p:nvPr/>
        </p:nvSpPr>
        <p:spPr>
          <a:xfrm>
            <a:off x="365760" y="1005840"/>
            <a:ext cx="5394960" cy="3566160"/>
          </a:xfrm>
          <a:prstGeom prst="rect">
            <a:avLst/>
          </a:prstGeom>
          <a:solidFill>
            <a:srgbClr val="FFFFFF"/>
          </a:solidFill>
          <a:ln w="12700">
            <a:solidFill>
              <a:srgbClr val="CCCCCC"/>
            </a:solidFill>
            <a:prstDash val="solid"/>
          </a:ln>
        </p:spPr>
        <p:txBody>
          <a:bodyPr/>
          <a:lstStyle/>
          <a:p>
            <a:endParaRPr lang="en-US"/>
          </a:p>
        </p:txBody>
      </p:sp>
      <p:sp>
        <p:nvSpPr>
          <p:cNvPr id="6" name="Text 4"/>
          <p:cNvSpPr/>
          <p:nvPr/>
        </p:nvSpPr>
        <p:spPr>
          <a:xfrm>
            <a:off x="365760" y="3913632"/>
            <a:ext cx="594360" cy="219456"/>
          </a:xfrm>
          <a:prstGeom prst="rect">
            <a:avLst/>
          </a:prstGeom>
          <a:noFill/>
          <a:ln/>
        </p:spPr>
        <p:txBody>
          <a:bodyPr wrap="square" rtlCol="0" anchor="ctr"/>
          <a:lstStyle/>
          <a:p>
            <a:pPr marL="0" indent="0" algn="r">
              <a:buNone/>
            </a:pPr>
            <a:r>
              <a:rPr lang="en-US" altLang="en-US" sz="800" dirty="0">
                <a:solidFill>
                  <a:srgbClr val="666666"/>
                </a:solidFill>
                <a:latin typeface="Calibri" pitchFamily="34" charset="0"/>
                <a:ea typeface="Calibri" pitchFamily="34" charset="-122"/>
                <a:cs typeface="Calibri" pitchFamily="34" charset="-120"/>
              </a:rPr>
              <a:t>0</a:t>
            </a:r>
            <a:endParaRPr lang="en-US" sz="800" dirty="0"/>
          </a:p>
        </p:txBody>
      </p:sp>
      <p:sp>
        <p:nvSpPr>
          <p:cNvPr id="7" name="Shape 5"/>
          <p:cNvSpPr/>
          <p:nvPr/>
        </p:nvSpPr>
        <p:spPr>
          <a:xfrm>
            <a:off x="1005840" y="3469445"/>
            <a:ext cx="4617720" cy="0"/>
          </a:xfrm>
          <a:prstGeom prst="line">
            <a:avLst/>
          </a:prstGeom>
          <a:noFill/>
          <a:ln w="12700">
            <a:solidFill>
              <a:srgbClr val="E0E0E0"/>
            </a:solidFill>
            <a:prstDash val="solid"/>
          </a:ln>
        </p:spPr>
        <p:txBody>
          <a:bodyPr/>
          <a:lstStyle/>
          <a:p>
            <a:endParaRPr lang="en-US"/>
          </a:p>
        </p:txBody>
      </p:sp>
      <p:sp>
        <p:nvSpPr>
          <p:cNvPr id="8" name="Text 6"/>
          <p:cNvSpPr/>
          <p:nvPr/>
        </p:nvSpPr>
        <p:spPr>
          <a:xfrm>
            <a:off x="365760" y="3359717"/>
            <a:ext cx="594360" cy="219456"/>
          </a:xfrm>
          <a:prstGeom prst="rect">
            <a:avLst/>
          </a:prstGeom>
          <a:noFill/>
          <a:ln/>
        </p:spPr>
        <p:txBody>
          <a:bodyPr wrap="square" rtlCol="0" anchor="ctr"/>
          <a:lstStyle/>
          <a:p>
            <a:pPr marL="0" indent="0" algn="r">
              <a:buNone/>
            </a:pPr>
            <a:r>
              <a:rPr lang="en-US" altLang="en-US" sz="800" dirty="0">
                <a:solidFill>
                  <a:srgbClr val="666666"/>
                </a:solidFill>
                <a:latin typeface="Calibri" pitchFamily="34" charset="0"/>
                <a:ea typeface="Calibri" pitchFamily="34" charset="-122"/>
                <a:cs typeface="Calibri" pitchFamily="34" charset="-120"/>
              </a:rPr>
              <a:t>5k</a:t>
            </a:r>
            <a:endParaRPr lang="en-US" sz="800" dirty="0"/>
          </a:p>
        </p:txBody>
      </p:sp>
      <p:sp>
        <p:nvSpPr>
          <p:cNvPr id="9" name="Shape 7"/>
          <p:cNvSpPr/>
          <p:nvPr/>
        </p:nvSpPr>
        <p:spPr>
          <a:xfrm>
            <a:off x="1005840" y="2915529"/>
            <a:ext cx="4617720" cy="0"/>
          </a:xfrm>
          <a:prstGeom prst="line">
            <a:avLst/>
          </a:prstGeom>
          <a:noFill/>
          <a:ln w="12700">
            <a:solidFill>
              <a:srgbClr val="E0E0E0"/>
            </a:solidFill>
            <a:prstDash val="solid"/>
          </a:ln>
        </p:spPr>
        <p:txBody>
          <a:bodyPr/>
          <a:lstStyle/>
          <a:p>
            <a:endParaRPr lang="en-US"/>
          </a:p>
        </p:txBody>
      </p:sp>
      <p:sp>
        <p:nvSpPr>
          <p:cNvPr id="10" name="Text 8"/>
          <p:cNvSpPr/>
          <p:nvPr/>
        </p:nvSpPr>
        <p:spPr>
          <a:xfrm>
            <a:off x="365760" y="2805801"/>
            <a:ext cx="594360" cy="219456"/>
          </a:xfrm>
          <a:prstGeom prst="rect">
            <a:avLst/>
          </a:prstGeom>
          <a:noFill/>
          <a:ln/>
        </p:spPr>
        <p:txBody>
          <a:bodyPr wrap="square" rtlCol="0" anchor="ctr"/>
          <a:lstStyle/>
          <a:p>
            <a:pPr marL="0" indent="0" algn="r">
              <a:buNone/>
            </a:pPr>
            <a:r>
              <a:rPr lang="en-US" altLang="en-US" sz="800" dirty="0">
                <a:solidFill>
                  <a:srgbClr val="666666"/>
                </a:solidFill>
                <a:latin typeface="Calibri" pitchFamily="34" charset="0"/>
                <a:ea typeface="Calibri" pitchFamily="34" charset="-122"/>
                <a:cs typeface="Calibri" pitchFamily="34" charset="-120"/>
              </a:rPr>
              <a:t>10k</a:t>
            </a:r>
            <a:endParaRPr lang="en-US" sz="800" dirty="0"/>
          </a:p>
        </p:txBody>
      </p:sp>
      <p:sp>
        <p:nvSpPr>
          <p:cNvPr id="11" name="Shape 9"/>
          <p:cNvSpPr/>
          <p:nvPr/>
        </p:nvSpPr>
        <p:spPr>
          <a:xfrm>
            <a:off x="1005840" y="2361614"/>
            <a:ext cx="4617720" cy="0"/>
          </a:xfrm>
          <a:prstGeom prst="line">
            <a:avLst/>
          </a:prstGeom>
          <a:noFill/>
          <a:ln w="12700">
            <a:solidFill>
              <a:srgbClr val="E0E0E0"/>
            </a:solidFill>
            <a:prstDash val="solid"/>
          </a:ln>
        </p:spPr>
        <p:txBody>
          <a:bodyPr/>
          <a:lstStyle/>
          <a:p>
            <a:endParaRPr lang="en-US"/>
          </a:p>
        </p:txBody>
      </p:sp>
      <p:sp>
        <p:nvSpPr>
          <p:cNvPr id="12" name="Text 10"/>
          <p:cNvSpPr/>
          <p:nvPr/>
        </p:nvSpPr>
        <p:spPr>
          <a:xfrm>
            <a:off x="365760" y="2251886"/>
            <a:ext cx="594360" cy="219456"/>
          </a:xfrm>
          <a:prstGeom prst="rect">
            <a:avLst/>
          </a:prstGeom>
          <a:noFill/>
          <a:ln/>
        </p:spPr>
        <p:txBody>
          <a:bodyPr wrap="square" rtlCol="0" anchor="ctr"/>
          <a:lstStyle/>
          <a:p>
            <a:pPr marL="0" indent="0" algn="r">
              <a:buNone/>
            </a:pPr>
            <a:r>
              <a:rPr lang="en-US" altLang="en-US" sz="800" dirty="0">
                <a:solidFill>
                  <a:srgbClr val="666666"/>
                </a:solidFill>
                <a:latin typeface="Calibri" pitchFamily="34" charset="0"/>
                <a:ea typeface="Calibri" pitchFamily="34" charset="-122"/>
                <a:cs typeface="Calibri" pitchFamily="34" charset="-120"/>
              </a:rPr>
              <a:t>15k</a:t>
            </a:r>
            <a:endParaRPr lang="en-US" sz="800" dirty="0"/>
          </a:p>
        </p:txBody>
      </p:sp>
      <p:sp>
        <p:nvSpPr>
          <p:cNvPr id="13" name="Shape 11"/>
          <p:cNvSpPr/>
          <p:nvPr/>
        </p:nvSpPr>
        <p:spPr>
          <a:xfrm>
            <a:off x="1005840" y="1807698"/>
            <a:ext cx="4617720" cy="0"/>
          </a:xfrm>
          <a:prstGeom prst="line">
            <a:avLst/>
          </a:prstGeom>
          <a:noFill/>
          <a:ln w="12700">
            <a:solidFill>
              <a:srgbClr val="E0E0E0"/>
            </a:solidFill>
            <a:prstDash val="solid"/>
          </a:ln>
        </p:spPr>
        <p:txBody>
          <a:bodyPr/>
          <a:lstStyle/>
          <a:p>
            <a:endParaRPr lang="en-US"/>
          </a:p>
        </p:txBody>
      </p:sp>
      <p:sp>
        <p:nvSpPr>
          <p:cNvPr id="14" name="Text 12"/>
          <p:cNvSpPr/>
          <p:nvPr/>
        </p:nvSpPr>
        <p:spPr>
          <a:xfrm>
            <a:off x="365760" y="1697970"/>
            <a:ext cx="594360" cy="219456"/>
          </a:xfrm>
          <a:prstGeom prst="rect">
            <a:avLst/>
          </a:prstGeom>
          <a:noFill/>
          <a:ln/>
        </p:spPr>
        <p:txBody>
          <a:bodyPr wrap="square" rtlCol="0" anchor="ctr"/>
          <a:lstStyle/>
          <a:p>
            <a:pPr marL="0" indent="0" algn="r">
              <a:buNone/>
            </a:pPr>
            <a:r>
              <a:rPr lang="en-US" altLang="en-US" sz="800" dirty="0">
                <a:solidFill>
                  <a:srgbClr val="666666"/>
                </a:solidFill>
                <a:latin typeface="Calibri" pitchFamily="34" charset="0"/>
                <a:ea typeface="Calibri" pitchFamily="34" charset="-122"/>
                <a:cs typeface="Calibri" pitchFamily="34" charset="-120"/>
              </a:rPr>
              <a:t>20k</a:t>
            </a:r>
            <a:endParaRPr lang="en-US" sz="800" dirty="0"/>
          </a:p>
        </p:txBody>
      </p:sp>
      <p:sp>
        <p:nvSpPr>
          <p:cNvPr id="15" name="Shape 13"/>
          <p:cNvSpPr/>
          <p:nvPr/>
        </p:nvSpPr>
        <p:spPr>
          <a:xfrm>
            <a:off x="1005840" y="1253783"/>
            <a:ext cx="4617720" cy="0"/>
          </a:xfrm>
          <a:prstGeom prst="line">
            <a:avLst/>
          </a:prstGeom>
          <a:noFill/>
          <a:ln w="12700">
            <a:solidFill>
              <a:srgbClr val="E0E0E0"/>
            </a:solidFill>
            <a:prstDash val="solid"/>
          </a:ln>
        </p:spPr>
        <p:txBody>
          <a:bodyPr/>
          <a:lstStyle/>
          <a:p>
            <a:endParaRPr lang="en-US"/>
          </a:p>
        </p:txBody>
      </p:sp>
      <p:sp>
        <p:nvSpPr>
          <p:cNvPr id="16" name="Text 14"/>
          <p:cNvSpPr/>
          <p:nvPr/>
        </p:nvSpPr>
        <p:spPr>
          <a:xfrm>
            <a:off x="365760" y="1144055"/>
            <a:ext cx="594360" cy="219456"/>
          </a:xfrm>
          <a:prstGeom prst="rect">
            <a:avLst/>
          </a:prstGeom>
          <a:noFill/>
          <a:ln/>
        </p:spPr>
        <p:txBody>
          <a:bodyPr wrap="square" rtlCol="0" anchor="ctr"/>
          <a:lstStyle/>
          <a:p>
            <a:pPr marL="0" indent="0" algn="r">
              <a:buNone/>
            </a:pPr>
            <a:r>
              <a:rPr lang="en-US" altLang="en-US" sz="800" dirty="0">
                <a:solidFill>
                  <a:srgbClr val="666666"/>
                </a:solidFill>
                <a:latin typeface="Calibri" pitchFamily="34" charset="0"/>
                <a:ea typeface="Calibri" pitchFamily="34" charset="-122"/>
                <a:cs typeface="Calibri" pitchFamily="34" charset="-120"/>
              </a:rPr>
              <a:t>25k</a:t>
            </a:r>
            <a:endParaRPr lang="en-US" sz="800" dirty="0"/>
          </a:p>
        </p:txBody>
      </p:sp>
      <p:sp>
        <p:nvSpPr>
          <p:cNvPr id="17" name="Shape 15"/>
          <p:cNvSpPr/>
          <p:nvPr/>
        </p:nvSpPr>
        <p:spPr>
          <a:xfrm>
            <a:off x="1005840" y="1143000"/>
            <a:ext cx="0" cy="2880360"/>
          </a:xfrm>
          <a:prstGeom prst="line">
            <a:avLst/>
          </a:prstGeom>
          <a:noFill/>
          <a:ln w="12700">
            <a:solidFill>
              <a:srgbClr val="AAAAAA"/>
            </a:solidFill>
            <a:prstDash val="solid"/>
          </a:ln>
        </p:spPr>
        <p:txBody>
          <a:bodyPr/>
          <a:lstStyle/>
          <a:p>
            <a:endParaRPr lang="en-US"/>
          </a:p>
        </p:txBody>
      </p:sp>
      <p:sp>
        <p:nvSpPr>
          <p:cNvPr id="18" name="Shape 16"/>
          <p:cNvSpPr/>
          <p:nvPr/>
        </p:nvSpPr>
        <p:spPr>
          <a:xfrm>
            <a:off x="1005840" y="4023360"/>
            <a:ext cx="4617720" cy="0"/>
          </a:xfrm>
          <a:prstGeom prst="line">
            <a:avLst/>
          </a:prstGeom>
          <a:noFill/>
          <a:ln w="12700">
            <a:solidFill>
              <a:srgbClr val="AAAAAA"/>
            </a:solidFill>
            <a:prstDash val="solid"/>
          </a:ln>
        </p:spPr>
        <p:txBody>
          <a:bodyPr/>
          <a:lstStyle/>
          <a:p>
            <a:endParaRPr lang="en-US"/>
          </a:p>
        </p:txBody>
      </p:sp>
      <p:sp>
        <p:nvSpPr>
          <p:cNvPr id="19" name="Text 17"/>
          <p:cNvSpPr/>
          <p:nvPr/>
        </p:nvSpPr>
        <p:spPr>
          <a:xfrm>
            <a:off x="777240"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1</a:t>
            </a:r>
            <a:endParaRPr lang="en-US" sz="800" dirty="0"/>
          </a:p>
        </p:txBody>
      </p:sp>
      <p:sp>
        <p:nvSpPr>
          <p:cNvPr id="20" name="Text 18"/>
          <p:cNvSpPr/>
          <p:nvPr/>
        </p:nvSpPr>
        <p:spPr>
          <a:xfrm>
            <a:off x="1436914"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2</a:t>
            </a:r>
            <a:endParaRPr lang="en-US" sz="800" dirty="0"/>
          </a:p>
        </p:txBody>
      </p:sp>
      <p:sp>
        <p:nvSpPr>
          <p:cNvPr id="21" name="Text 19"/>
          <p:cNvSpPr/>
          <p:nvPr/>
        </p:nvSpPr>
        <p:spPr>
          <a:xfrm>
            <a:off x="2096589"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3</a:t>
            </a:r>
            <a:endParaRPr lang="en-US" sz="800" dirty="0"/>
          </a:p>
        </p:txBody>
      </p:sp>
      <p:sp>
        <p:nvSpPr>
          <p:cNvPr id="22" name="Text 20"/>
          <p:cNvSpPr/>
          <p:nvPr/>
        </p:nvSpPr>
        <p:spPr>
          <a:xfrm>
            <a:off x="2756263"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4</a:t>
            </a:r>
            <a:endParaRPr lang="en-US" sz="800" dirty="0"/>
          </a:p>
        </p:txBody>
      </p:sp>
      <p:sp>
        <p:nvSpPr>
          <p:cNvPr id="23" name="Text 21"/>
          <p:cNvSpPr/>
          <p:nvPr/>
        </p:nvSpPr>
        <p:spPr>
          <a:xfrm>
            <a:off x="3415937"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5</a:t>
            </a:r>
            <a:endParaRPr lang="en-US" sz="800" dirty="0"/>
          </a:p>
        </p:txBody>
      </p:sp>
      <p:sp>
        <p:nvSpPr>
          <p:cNvPr id="24" name="Text 22"/>
          <p:cNvSpPr/>
          <p:nvPr/>
        </p:nvSpPr>
        <p:spPr>
          <a:xfrm>
            <a:off x="4075611"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6</a:t>
            </a:r>
            <a:endParaRPr lang="en-US" sz="800" dirty="0"/>
          </a:p>
        </p:txBody>
      </p:sp>
      <p:sp>
        <p:nvSpPr>
          <p:cNvPr id="25" name="Text 23"/>
          <p:cNvSpPr/>
          <p:nvPr/>
        </p:nvSpPr>
        <p:spPr>
          <a:xfrm>
            <a:off x="4735286"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7</a:t>
            </a:r>
            <a:endParaRPr lang="en-US" sz="800" dirty="0"/>
          </a:p>
        </p:txBody>
      </p:sp>
      <p:sp>
        <p:nvSpPr>
          <p:cNvPr id="26" name="Text 24"/>
          <p:cNvSpPr/>
          <p:nvPr/>
        </p:nvSpPr>
        <p:spPr>
          <a:xfrm>
            <a:off x="5394960" y="4069080"/>
            <a:ext cx="457200" cy="182880"/>
          </a:xfrm>
          <a:prstGeom prst="rect">
            <a:avLst/>
          </a:prstGeom>
          <a:noFill/>
          <a:ln/>
        </p:spPr>
        <p:txBody>
          <a:bodyPr wrap="square" rtlCol="0" anchor="ctr"/>
          <a:lstStyle/>
          <a:p>
            <a:pPr marL="0" indent="0" algn="ctr">
              <a:buNone/>
            </a:pPr>
            <a:r>
              <a:rPr lang="en-US" altLang="en-US" sz="800" dirty="0">
                <a:solidFill>
                  <a:srgbClr val="555555"/>
                </a:solidFill>
                <a:latin typeface="Calibri" pitchFamily="34" charset="0"/>
                <a:ea typeface="Calibri" pitchFamily="34" charset="-122"/>
                <a:cs typeface="Calibri" pitchFamily="34" charset="-120"/>
              </a:rPr>
              <a:t>Req 8</a:t>
            </a:r>
            <a:endParaRPr lang="en-US" sz="800" dirty="0"/>
          </a:p>
        </p:txBody>
      </p:sp>
      <p:sp>
        <p:nvSpPr>
          <p:cNvPr id="27" name="Text 25"/>
          <p:cNvSpPr/>
          <p:nvPr/>
        </p:nvSpPr>
        <p:spPr>
          <a:xfrm>
            <a:off x="365760" y="4370832"/>
            <a:ext cx="5394960" cy="182880"/>
          </a:xfrm>
          <a:prstGeom prst="rect">
            <a:avLst/>
          </a:prstGeom>
          <a:noFill/>
          <a:ln/>
        </p:spPr>
        <p:txBody>
          <a:bodyPr wrap="square" rtlCol="0" anchor="ctr"/>
          <a:lstStyle/>
          <a:p>
            <a:pPr marL="0" indent="0" algn="ctr">
              <a:buNone/>
            </a:pPr>
            <a:r>
              <a:rPr lang="en-US" altLang="en-US" sz="900" dirty="0">
                <a:solidFill>
                  <a:srgbClr val="666666"/>
                </a:solidFill>
                <a:latin typeface="Calibri" pitchFamily="34" charset="0"/>
                <a:ea typeface="Calibri" pitchFamily="34" charset="-122"/>
                <a:cs typeface="Calibri" pitchFamily="34" charset="-120"/>
              </a:rPr>
              <a:t>Request number in session</a:t>
            </a:r>
            <a:endParaRPr lang="en-US" sz="900" dirty="0"/>
          </a:p>
        </p:txBody>
      </p:sp>
      <p:sp>
        <p:nvSpPr>
          <p:cNvPr id="28" name="Text 26"/>
          <p:cNvSpPr/>
          <p:nvPr/>
        </p:nvSpPr>
        <p:spPr>
          <a:xfrm>
            <a:off x="320040" y="1234440"/>
            <a:ext cx="548640" cy="2697480"/>
          </a:xfrm>
          <a:prstGeom prst="rect">
            <a:avLst/>
          </a:prstGeom>
          <a:noFill/>
          <a:ln/>
        </p:spPr>
        <p:txBody>
          <a:bodyPr wrap="square" rtlCol="0" anchor="ctr"/>
          <a:lstStyle/>
          <a:p>
            <a:pPr marL="0" indent="0" algn="ctr">
              <a:buNone/>
            </a:pPr>
            <a:r>
              <a:rPr lang="en-US" altLang="en-US" sz="750" dirty="0">
                <a:solidFill>
                  <a:srgbClr val="888888"/>
                </a:solidFill>
                <a:latin typeface="Calibri" pitchFamily="34" charset="0"/>
                <a:ea typeface="Calibri" pitchFamily="34" charset="-122"/>
                <a:cs typeface="Calibri" pitchFamily="34" charset="-120"/>
              </a:rPr>
              <a:t>Tokens (this request)</a:t>
            </a:r>
            <a:endParaRPr lang="en-US" sz="750" dirty="0"/>
          </a:p>
        </p:txBody>
      </p:sp>
      <p:sp>
        <p:nvSpPr>
          <p:cNvPr id="29" name="Shape 27"/>
          <p:cNvSpPr/>
          <p:nvPr/>
        </p:nvSpPr>
        <p:spPr>
          <a:xfrm rot="-473277">
            <a:off x="1005840" y="3666085"/>
            <a:ext cx="665976" cy="0"/>
          </a:xfrm>
          <a:prstGeom prst="line">
            <a:avLst/>
          </a:prstGeom>
          <a:noFill/>
          <a:ln w="12700">
            <a:solidFill>
              <a:srgbClr val="238636"/>
            </a:solidFill>
            <a:prstDash val="solid"/>
          </a:ln>
        </p:spPr>
        <p:txBody>
          <a:bodyPr/>
          <a:lstStyle/>
          <a:p>
            <a:endParaRPr lang="en-US"/>
          </a:p>
        </p:txBody>
      </p:sp>
      <p:sp>
        <p:nvSpPr>
          <p:cNvPr id="30" name="Shape 28"/>
          <p:cNvSpPr/>
          <p:nvPr/>
        </p:nvSpPr>
        <p:spPr>
          <a:xfrm rot="-473277">
            <a:off x="1665514" y="3574689"/>
            <a:ext cx="665976" cy="0"/>
          </a:xfrm>
          <a:prstGeom prst="line">
            <a:avLst/>
          </a:prstGeom>
          <a:noFill/>
          <a:ln w="12700">
            <a:solidFill>
              <a:srgbClr val="238636"/>
            </a:solidFill>
            <a:prstDash val="solid"/>
          </a:ln>
        </p:spPr>
        <p:txBody>
          <a:bodyPr/>
          <a:lstStyle/>
          <a:p>
            <a:endParaRPr lang="en-US"/>
          </a:p>
        </p:txBody>
      </p:sp>
      <p:sp>
        <p:nvSpPr>
          <p:cNvPr id="31" name="Shape 29"/>
          <p:cNvSpPr/>
          <p:nvPr/>
        </p:nvSpPr>
        <p:spPr>
          <a:xfrm rot="-473277">
            <a:off x="2325189" y="3483293"/>
            <a:ext cx="665976" cy="0"/>
          </a:xfrm>
          <a:prstGeom prst="line">
            <a:avLst/>
          </a:prstGeom>
          <a:noFill/>
          <a:ln w="12700">
            <a:solidFill>
              <a:srgbClr val="238636"/>
            </a:solidFill>
            <a:prstDash val="solid"/>
          </a:ln>
        </p:spPr>
        <p:txBody>
          <a:bodyPr/>
          <a:lstStyle/>
          <a:p>
            <a:endParaRPr lang="en-US"/>
          </a:p>
        </p:txBody>
      </p:sp>
      <p:sp>
        <p:nvSpPr>
          <p:cNvPr id="33" name="Shape 31"/>
          <p:cNvSpPr/>
          <p:nvPr/>
        </p:nvSpPr>
        <p:spPr>
          <a:xfrm rot="-473277">
            <a:off x="3644537" y="3666085"/>
            <a:ext cx="665976" cy="0"/>
          </a:xfrm>
          <a:prstGeom prst="line">
            <a:avLst/>
          </a:prstGeom>
          <a:noFill/>
          <a:ln w="12700">
            <a:solidFill>
              <a:srgbClr val="238636"/>
            </a:solidFill>
            <a:prstDash val="solid"/>
          </a:ln>
        </p:spPr>
        <p:txBody>
          <a:bodyPr/>
          <a:lstStyle/>
          <a:p>
            <a:endParaRPr lang="en-US"/>
          </a:p>
        </p:txBody>
      </p:sp>
      <p:sp>
        <p:nvSpPr>
          <p:cNvPr id="34" name="Shape 32"/>
          <p:cNvSpPr/>
          <p:nvPr/>
        </p:nvSpPr>
        <p:spPr>
          <a:xfrm rot="-473277">
            <a:off x="4304211" y="3574689"/>
            <a:ext cx="665976" cy="0"/>
          </a:xfrm>
          <a:prstGeom prst="line">
            <a:avLst/>
          </a:prstGeom>
          <a:noFill/>
          <a:ln w="12700">
            <a:solidFill>
              <a:srgbClr val="238636"/>
            </a:solidFill>
            <a:prstDash val="solid"/>
          </a:ln>
        </p:spPr>
        <p:txBody>
          <a:bodyPr/>
          <a:lstStyle/>
          <a:p>
            <a:endParaRPr lang="en-US"/>
          </a:p>
        </p:txBody>
      </p:sp>
      <p:sp>
        <p:nvSpPr>
          <p:cNvPr id="35" name="Shape 33"/>
          <p:cNvSpPr/>
          <p:nvPr/>
        </p:nvSpPr>
        <p:spPr>
          <a:xfrm rot="-473277">
            <a:off x="4963886" y="3483293"/>
            <a:ext cx="665976" cy="0"/>
          </a:xfrm>
          <a:prstGeom prst="line">
            <a:avLst/>
          </a:prstGeom>
          <a:noFill/>
          <a:ln w="12700">
            <a:solidFill>
              <a:srgbClr val="238636"/>
            </a:solidFill>
            <a:prstDash val="solid"/>
          </a:ln>
        </p:spPr>
        <p:txBody>
          <a:bodyPr/>
          <a:lstStyle/>
          <a:p>
            <a:endParaRPr lang="en-US"/>
          </a:p>
        </p:txBody>
      </p:sp>
      <p:sp>
        <p:nvSpPr>
          <p:cNvPr id="36" name="Shape 34"/>
          <p:cNvSpPr/>
          <p:nvPr/>
        </p:nvSpPr>
        <p:spPr>
          <a:xfrm rot="-1415262">
            <a:off x="1005840" y="3546993"/>
            <a:ext cx="719816" cy="0"/>
          </a:xfrm>
          <a:prstGeom prst="line">
            <a:avLst/>
          </a:prstGeom>
          <a:noFill/>
          <a:ln w="12700">
            <a:solidFill>
              <a:srgbClr val="E3672B"/>
            </a:solidFill>
            <a:prstDash val="solid"/>
          </a:ln>
        </p:spPr>
        <p:txBody>
          <a:bodyPr/>
          <a:lstStyle/>
          <a:p>
            <a:endParaRPr lang="en-US"/>
          </a:p>
        </p:txBody>
      </p:sp>
      <p:sp>
        <p:nvSpPr>
          <p:cNvPr id="37" name="Shape 35"/>
          <p:cNvSpPr/>
          <p:nvPr/>
        </p:nvSpPr>
        <p:spPr>
          <a:xfrm rot="-1415262">
            <a:off x="1665514" y="3258957"/>
            <a:ext cx="719816" cy="0"/>
          </a:xfrm>
          <a:prstGeom prst="line">
            <a:avLst/>
          </a:prstGeom>
          <a:noFill/>
          <a:ln w="12700">
            <a:solidFill>
              <a:srgbClr val="E3672B"/>
            </a:solidFill>
            <a:prstDash val="solid"/>
          </a:ln>
        </p:spPr>
        <p:txBody>
          <a:bodyPr/>
          <a:lstStyle/>
          <a:p>
            <a:endParaRPr lang="en-US"/>
          </a:p>
        </p:txBody>
      </p:sp>
      <p:sp>
        <p:nvSpPr>
          <p:cNvPr id="38" name="Shape 36"/>
          <p:cNvSpPr/>
          <p:nvPr/>
        </p:nvSpPr>
        <p:spPr>
          <a:xfrm rot="-1415262">
            <a:off x="2325189" y="2970921"/>
            <a:ext cx="719816" cy="0"/>
          </a:xfrm>
          <a:prstGeom prst="line">
            <a:avLst/>
          </a:prstGeom>
          <a:noFill/>
          <a:ln w="12700">
            <a:solidFill>
              <a:srgbClr val="E3672B"/>
            </a:solidFill>
            <a:prstDash val="solid"/>
          </a:ln>
        </p:spPr>
        <p:txBody>
          <a:bodyPr/>
          <a:lstStyle/>
          <a:p>
            <a:endParaRPr lang="en-US"/>
          </a:p>
        </p:txBody>
      </p:sp>
      <p:sp>
        <p:nvSpPr>
          <p:cNvPr id="39" name="Shape 37"/>
          <p:cNvSpPr/>
          <p:nvPr/>
        </p:nvSpPr>
        <p:spPr>
          <a:xfrm rot="-1415262">
            <a:off x="2984863" y="2682885"/>
            <a:ext cx="719816" cy="0"/>
          </a:xfrm>
          <a:prstGeom prst="line">
            <a:avLst/>
          </a:prstGeom>
          <a:noFill/>
          <a:ln w="12700">
            <a:solidFill>
              <a:srgbClr val="E3672B"/>
            </a:solidFill>
            <a:prstDash val="solid"/>
          </a:ln>
        </p:spPr>
        <p:txBody>
          <a:bodyPr/>
          <a:lstStyle/>
          <a:p>
            <a:endParaRPr lang="en-US"/>
          </a:p>
        </p:txBody>
      </p:sp>
      <p:sp>
        <p:nvSpPr>
          <p:cNvPr id="40" name="Shape 38"/>
          <p:cNvSpPr/>
          <p:nvPr/>
        </p:nvSpPr>
        <p:spPr>
          <a:xfrm rot="-1415262">
            <a:off x="3644537" y="2394849"/>
            <a:ext cx="719816" cy="0"/>
          </a:xfrm>
          <a:prstGeom prst="line">
            <a:avLst/>
          </a:prstGeom>
          <a:noFill/>
          <a:ln w="12700">
            <a:solidFill>
              <a:srgbClr val="E3672B"/>
            </a:solidFill>
            <a:prstDash val="solid"/>
          </a:ln>
        </p:spPr>
        <p:txBody>
          <a:bodyPr/>
          <a:lstStyle/>
          <a:p>
            <a:endParaRPr lang="en-US"/>
          </a:p>
        </p:txBody>
      </p:sp>
      <p:sp>
        <p:nvSpPr>
          <p:cNvPr id="41" name="Shape 39"/>
          <p:cNvSpPr/>
          <p:nvPr/>
        </p:nvSpPr>
        <p:spPr>
          <a:xfrm rot="-1415262">
            <a:off x="4304211" y="2106813"/>
            <a:ext cx="719816" cy="0"/>
          </a:xfrm>
          <a:prstGeom prst="line">
            <a:avLst/>
          </a:prstGeom>
          <a:noFill/>
          <a:ln w="12700">
            <a:solidFill>
              <a:srgbClr val="E3672B"/>
            </a:solidFill>
            <a:prstDash val="solid"/>
          </a:ln>
        </p:spPr>
        <p:txBody>
          <a:bodyPr/>
          <a:lstStyle/>
          <a:p>
            <a:endParaRPr lang="en-US"/>
          </a:p>
        </p:txBody>
      </p:sp>
      <p:sp>
        <p:nvSpPr>
          <p:cNvPr id="42" name="Shape 40"/>
          <p:cNvSpPr/>
          <p:nvPr/>
        </p:nvSpPr>
        <p:spPr>
          <a:xfrm rot="-1415262">
            <a:off x="4963886" y="1818777"/>
            <a:ext cx="719816" cy="0"/>
          </a:xfrm>
          <a:prstGeom prst="line">
            <a:avLst/>
          </a:prstGeom>
          <a:noFill/>
          <a:ln w="12700">
            <a:solidFill>
              <a:srgbClr val="E3672B"/>
            </a:solidFill>
            <a:prstDash val="solid"/>
          </a:ln>
        </p:spPr>
        <p:txBody>
          <a:bodyPr/>
          <a:lstStyle/>
          <a:p>
            <a:endParaRPr lang="en-US"/>
          </a:p>
        </p:txBody>
      </p:sp>
      <p:sp>
        <p:nvSpPr>
          <p:cNvPr id="43" name="Shape 41"/>
          <p:cNvSpPr/>
          <p:nvPr/>
        </p:nvSpPr>
        <p:spPr>
          <a:xfrm>
            <a:off x="941832" y="3602077"/>
            <a:ext cx="128016" cy="128016"/>
          </a:xfrm>
          <a:prstGeom prst="ellipse">
            <a:avLst/>
          </a:prstGeom>
          <a:solidFill>
            <a:srgbClr val="238636"/>
          </a:solidFill>
          <a:ln w="12700">
            <a:solidFill>
              <a:srgbClr val="FFFFFF"/>
            </a:solidFill>
            <a:prstDash val="solid"/>
          </a:ln>
        </p:spPr>
        <p:txBody>
          <a:bodyPr/>
          <a:lstStyle/>
          <a:p>
            <a:endParaRPr lang="en-US"/>
          </a:p>
        </p:txBody>
      </p:sp>
      <p:sp>
        <p:nvSpPr>
          <p:cNvPr id="44" name="Shape 42"/>
          <p:cNvSpPr/>
          <p:nvPr/>
        </p:nvSpPr>
        <p:spPr>
          <a:xfrm>
            <a:off x="1601506" y="3510681"/>
            <a:ext cx="128016" cy="128016"/>
          </a:xfrm>
          <a:prstGeom prst="ellipse">
            <a:avLst/>
          </a:prstGeom>
          <a:solidFill>
            <a:srgbClr val="238636"/>
          </a:solidFill>
          <a:ln w="12700">
            <a:solidFill>
              <a:srgbClr val="FFFFFF"/>
            </a:solidFill>
            <a:prstDash val="solid"/>
          </a:ln>
        </p:spPr>
        <p:txBody>
          <a:bodyPr/>
          <a:lstStyle/>
          <a:p>
            <a:endParaRPr lang="en-US"/>
          </a:p>
        </p:txBody>
      </p:sp>
      <p:sp>
        <p:nvSpPr>
          <p:cNvPr id="45" name="Shape 43"/>
          <p:cNvSpPr/>
          <p:nvPr/>
        </p:nvSpPr>
        <p:spPr>
          <a:xfrm>
            <a:off x="2261181" y="3419285"/>
            <a:ext cx="128016" cy="128016"/>
          </a:xfrm>
          <a:prstGeom prst="ellipse">
            <a:avLst/>
          </a:prstGeom>
          <a:solidFill>
            <a:srgbClr val="238636"/>
          </a:solidFill>
          <a:ln w="12700">
            <a:solidFill>
              <a:srgbClr val="FFFFFF"/>
            </a:solidFill>
            <a:prstDash val="solid"/>
          </a:ln>
        </p:spPr>
        <p:txBody>
          <a:bodyPr/>
          <a:lstStyle/>
          <a:p>
            <a:endParaRPr lang="en-US"/>
          </a:p>
        </p:txBody>
      </p:sp>
      <p:sp>
        <p:nvSpPr>
          <p:cNvPr id="46" name="Shape 44"/>
          <p:cNvSpPr/>
          <p:nvPr/>
        </p:nvSpPr>
        <p:spPr>
          <a:xfrm>
            <a:off x="2920855" y="3327888"/>
            <a:ext cx="128016" cy="128016"/>
          </a:xfrm>
          <a:prstGeom prst="ellipse">
            <a:avLst/>
          </a:prstGeom>
          <a:solidFill>
            <a:srgbClr val="238636"/>
          </a:solidFill>
          <a:ln w="12700">
            <a:solidFill>
              <a:srgbClr val="FFFFFF"/>
            </a:solidFill>
            <a:prstDash val="solid"/>
          </a:ln>
        </p:spPr>
        <p:txBody>
          <a:bodyPr/>
          <a:lstStyle/>
          <a:p>
            <a:endParaRPr lang="en-US"/>
          </a:p>
        </p:txBody>
      </p:sp>
      <p:sp>
        <p:nvSpPr>
          <p:cNvPr id="47" name="Shape 45"/>
          <p:cNvSpPr/>
          <p:nvPr/>
        </p:nvSpPr>
        <p:spPr>
          <a:xfrm>
            <a:off x="3580529" y="3602077"/>
            <a:ext cx="128016" cy="128016"/>
          </a:xfrm>
          <a:prstGeom prst="ellipse">
            <a:avLst/>
          </a:prstGeom>
          <a:solidFill>
            <a:srgbClr val="238636"/>
          </a:solidFill>
          <a:ln w="12700">
            <a:solidFill>
              <a:srgbClr val="FFFFFF"/>
            </a:solidFill>
            <a:prstDash val="solid"/>
          </a:ln>
        </p:spPr>
        <p:txBody>
          <a:bodyPr/>
          <a:lstStyle/>
          <a:p>
            <a:endParaRPr lang="en-US"/>
          </a:p>
        </p:txBody>
      </p:sp>
      <p:sp>
        <p:nvSpPr>
          <p:cNvPr id="48" name="Shape 46"/>
          <p:cNvSpPr/>
          <p:nvPr/>
        </p:nvSpPr>
        <p:spPr>
          <a:xfrm>
            <a:off x="4240203" y="3510681"/>
            <a:ext cx="128016" cy="128016"/>
          </a:xfrm>
          <a:prstGeom prst="ellipse">
            <a:avLst/>
          </a:prstGeom>
          <a:solidFill>
            <a:srgbClr val="238636"/>
          </a:solidFill>
          <a:ln w="12700">
            <a:solidFill>
              <a:srgbClr val="FFFFFF"/>
            </a:solidFill>
            <a:prstDash val="solid"/>
          </a:ln>
        </p:spPr>
        <p:txBody>
          <a:bodyPr/>
          <a:lstStyle/>
          <a:p>
            <a:endParaRPr lang="en-US"/>
          </a:p>
        </p:txBody>
      </p:sp>
      <p:sp>
        <p:nvSpPr>
          <p:cNvPr id="49" name="Shape 47"/>
          <p:cNvSpPr/>
          <p:nvPr/>
        </p:nvSpPr>
        <p:spPr>
          <a:xfrm>
            <a:off x="4899878" y="3419285"/>
            <a:ext cx="128016" cy="128016"/>
          </a:xfrm>
          <a:prstGeom prst="ellipse">
            <a:avLst/>
          </a:prstGeom>
          <a:solidFill>
            <a:srgbClr val="238636"/>
          </a:solidFill>
          <a:ln w="12700">
            <a:solidFill>
              <a:srgbClr val="FFFFFF"/>
            </a:solidFill>
            <a:prstDash val="solid"/>
          </a:ln>
        </p:spPr>
        <p:txBody>
          <a:bodyPr/>
          <a:lstStyle/>
          <a:p>
            <a:endParaRPr lang="en-US"/>
          </a:p>
        </p:txBody>
      </p:sp>
      <p:sp>
        <p:nvSpPr>
          <p:cNvPr id="50" name="Shape 48"/>
          <p:cNvSpPr/>
          <p:nvPr/>
        </p:nvSpPr>
        <p:spPr>
          <a:xfrm>
            <a:off x="5559552" y="3327888"/>
            <a:ext cx="128016" cy="128016"/>
          </a:xfrm>
          <a:prstGeom prst="ellipse">
            <a:avLst/>
          </a:prstGeom>
          <a:solidFill>
            <a:srgbClr val="238636"/>
          </a:solidFill>
          <a:ln w="12700">
            <a:solidFill>
              <a:srgbClr val="FFFFFF"/>
            </a:solidFill>
            <a:prstDash val="solid"/>
          </a:ln>
        </p:spPr>
        <p:txBody>
          <a:bodyPr/>
          <a:lstStyle/>
          <a:p>
            <a:endParaRPr lang="en-US"/>
          </a:p>
        </p:txBody>
      </p:sp>
      <p:sp>
        <p:nvSpPr>
          <p:cNvPr id="51" name="Shape 49"/>
          <p:cNvSpPr/>
          <p:nvPr/>
        </p:nvSpPr>
        <p:spPr>
          <a:xfrm>
            <a:off x="941832" y="3482985"/>
            <a:ext cx="128016" cy="128016"/>
          </a:xfrm>
          <a:prstGeom prst="ellipse">
            <a:avLst/>
          </a:prstGeom>
          <a:solidFill>
            <a:srgbClr val="E3672B"/>
          </a:solidFill>
          <a:ln w="12700">
            <a:solidFill>
              <a:srgbClr val="FFFFFF"/>
            </a:solidFill>
            <a:prstDash val="solid"/>
          </a:ln>
        </p:spPr>
        <p:txBody>
          <a:bodyPr/>
          <a:lstStyle/>
          <a:p>
            <a:endParaRPr lang="en-US"/>
          </a:p>
        </p:txBody>
      </p:sp>
      <p:sp>
        <p:nvSpPr>
          <p:cNvPr id="52" name="Shape 50"/>
          <p:cNvSpPr/>
          <p:nvPr/>
        </p:nvSpPr>
        <p:spPr>
          <a:xfrm>
            <a:off x="1601506" y="3194949"/>
            <a:ext cx="128016" cy="128016"/>
          </a:xfrm>
          <a:prstGeom prst="ellipse">
            <a:avLst/>
          </a:prstGeom>
          <a:solidFill>
            <a:srgbClr val="E3672B"/>
          </a:solidFill>
          <a:ln w="12700">
            <a:solidFill>
              <a:srgbClr val="FFFFFF"/>
            </a:solidFill>
            <a:prstDash val="solid"/>
          </a:ln>
        </p:spPr>
        <p:txBody>
          <a:bodyPr/>
          <a:lstStyle/>
          <a:p>
            <a:endParaRPr lang="en-US"/>
          </a:p>
        </p:txBody>
      </p:sp>
      <p:sp>
        <p:nvSpPr>
          <p:cNvPr id="53" name="Shape 51"/>
          <p:cNvSpPr/>
          <p:nvPr/>
        </p:nvSpPr>
        <p:spPr>
          <a:xfrm>
            <a:off x="2261181" y="2906913"/>
            <a:ext cx="128016" cy="128016"/>
          </a:xfrm>
          <a:prstGeom prst="ellipse">
            <a:avLst/>
          </a:prstGeom>
          <a:solidFill>
            <a:srgbClr val="E3672B"/>
          </a:solidFill>
          <a:ln w="12700">
            <a:solidFill>
              <a:srgbClr val="FFFFFF"/>
            </a:solidFill>
            <a:prstDash val="solid"/>
          </a:ln>
        </p:spPr>
        <p:txBody>
          <a:bodyPr/>
          <a:lstStyle/>
          <a:p>
            <a:endParaRPr lang="en-US"/>
          </a:p>
        </p:txBody>
      </p:sp>
      <p:sp>
        <p:nvSpPr>
          <p:cNvPr id="54" name="Shape 52"/>
          <p:cNvSpPr/>
          <p:nvPr/>
        </p:nvSpPr>
        <p:spPr>
          <a:xfrm>
            <a:off x="2920855" y="2618877"/>
            <a:ext cx="128016" cy="128016"/>
          </a:xfrm>
          <a:prstGeom prst="ellipse">
            <a:avLst/>
          </a:prstGeom>
          <a:solidFill>
            <a:srgbClr val="E3672B"/>
          </a:solidFill>
          <a:ln w="12700">
            <a:solidFill>
              <a:srgbClr val="FFFFFF"/>
            </a:solidFill>
            <a:prstDash val="solid"/>
          </a:ln>
        </p:spPr>
        <p:txBody>
          <a:bodyPr/>
          <a:lstStyle/>
          <a:p>
            <a:endParaRPr lang="en-US"/>
          </a:p>
        </p:txBody>
      </p:sp>
      <p:sp>
        <p:nvSpPr>
          <p:cNvPr id="55" name="Shape 53"/>
          <p:cNvSpPr/>
          <p:nvPr/>
        </p:nvSpPr>
        <p:spPr>
          <a:xfrm>
            <a:off x="3580529" y="2330841"/>
            <a:ext cx="128016" cy="128016"/>
          </a:xfrm>
          <a:prstGeom prst="ellipse">
            <a:avLst/>
          </a:prstGeom>
          <a:solidFill>
            <a:srgbClr val="E3672B"/>
          </a:solidFill>
          <a:ln w="12700">
            <a:solidFill>
              <a:srgbClr val="FFFFFF"/>
            </a:solidFill>
            <a:prstDash val="solid"/>
          </a:ln>
        </p:spPr>
        <p:txBody>
          <a:bodyPr/>
          <a:lstStyle/>
          <a:p>
            <a:endParaRPr lang="en-US"/>
          </a:p>
        </p:txBody>
      </p:sp>
      <p:sp>
        <p:nvSpPr>
          <p:cNvPr id="56" name="Shape 54"/>
          <p:cNvSpPr/>
          <p:nvPr/>
        </p:nvSpPr>
        <p:spPr>
          <a:xfrm>
            <a:off x="4240203" y="2042805"/>
            <a:ext cx="128016" cy="128016"/>
          </a:xfrm>
          <a:prstGeom prst="ellipse">
            <a:avLst/>
          </a:prstGeom>
          <a:solidFill>
            <a:srgbClr val="E3672B"/>
          </a:solidFill>
          <a:ln w="12700">
            <a:solidFill>
              <a:srgbClr val="FFFFFF"/>
            </a:solidFill>
            <a:prstDash val="solid"/>
          </a:ln>
        </p:spPr>
        <p:txBody>
          <a:bodyPr/>
          <a:lstStyle/>
          <a:p>
            <a:endParaRPr lang="en-US"/>
          </a:p>
        </p:txBody>
      </p:sp>
      <p:sp>
        <p:nvSpPr>
          <p:cNvPr id="57" name="Shape 55"/>
          <p:cNvSpPr/>
          <p:nvPr/>
        </p:nvSpPr>
        <p:spPr>
          <a:xfrm>
            <a:off x="4899878" y="1754769"/>
            <a:ext cx="128016" cy="128016"/>
          </a:xfrm>
          <a:prstGeom prst="ellipse">
            <a:avLst/>
          </a:prstGeom>
          <a:solidFill>
            <a:srgbClr val="E3672B"/>
          </a:solidFill>
          <a:ln w="12700">
            <a:solidFill>
              <a:srgbClr val="FFFFFF"/>
            </a:solidFill>
            <a:prstDash val="solid"/>
          </a:ln>
        </p:spPr>
        <p:txBody>
          <a:bodyPr/>
          <a:lstStyle/>
          <a:p>
            <a:endParaRPr lang="en-US"/>
          </a:p>
        </p:txBody>
      </p:sp>
      <p:sp>
        <p:nvSpPr>
          <p:cNvPr id="58" name="Shape 56"/>
          <p:cNvSpPr/>
          <p:nvPr/>
        </p:nvSpPr>
        <p:spPr>
          <a:xfrm>
            <a:off x="5559552" y="1466733"/>
            <a:ext cx="128016" cy="128016"/>
          </a:xfrm>
          <a:prstGeom prst="ellipse">
            <a:avLst/>
          </a:prstGeom>
          <a:solidFill>
            <a:srgbClr val="E3672B"/>
          </a:solidFill>
          <a:ln w="12700">
            <a:solidFill>
              <a:srgbClr val="FFFFFF"/>
            </a:solidFill>
            <a:prstDash val="solid"/>
          </a:ln>
        </p:spPr>
        <p:txBody>
          <a:bodyPr/>
          <a:lstStyle/>
          <a:p>
            <a:endParaRPr lang="en-US"/>
          </a:p>
        </p:txBody>
      </p:sp>
      <p:sp>
        <p:nvSpPr>
          <p:cNvPr id="60" name="Text 58"/>
          <p:cNvSpPr/>
          <p:nvPr/>
        </p:nvSpPr>
        <p:spPr>
          <a:xfrm>
            <a:off x="1097280" y="3382401"/>
            <a:ext cx="1005840" cy="182880"/>
          </a:xfrm>
          <a:prstGeom prst="rect">
            <a:avLst/>
          </a:prstGeom>
          <a:noFill/>
          <a:ln/>
        </p:spPr>
        <p:txBody>
          <a:bodyPr wrap="square" rtlCol="0" anchor="ctr"/>
          <a:lstStyle/>
          <a:p>
            <a:pPr marL="0" indent="0" algn="ctr">
              <a:buNone/>
            </a:pPr>
            <a:endParaRPr lang="en-US" sz="750" b="1" dirty="0">
              <a:solidFill>
                <a:srgbClr val="E3672B"/>
              </a:solidFill>
              <a:latin typeface="Calibri" pitchFamily="34" charset="0"/>
              <a:cs typeface="Calibri" pitchFamily="34" charset="-120"/>
            </a:endParaRPr>
          </a:p>
          <a:p>
            <a:pPr marL="0" indent="0" algn="ctr">
              <a:buNone/>
            </a:pPr>
            <a:endParaRPr lang="en-US" sz="750" dirty="0"/>
          </a:p>
        </p:txBody>
      </p:sp>
      <p:sp>
        <p:nvSpPr>
          <p:cNvPr id="62" name="Text 60"/>
          <p:cNvSpPr/>
          <p:nvPr/>
        </p:nvSpPr>
        <p:spPr>
          <a:xfrm>
            <a:off x="4526280" y="1366149"/>
            <a:ext cx="1005840" cy="182880"/>
          </a:xfrm>
          <a:prstGeom prst="rect">
            <a:avLst/>
          </a:prstGeom>
          <a:noFill/>
          <a:ln/>
        </p:spPr>
        <p:txBody>
          <a:bodyPr wrap="square" rtlCol="0" anchor="ctr"/>
          <a:lstStyle/>
          <a:p>
            <a:pPr marL="0" indent="0" algn="ctr">
              <a:buNone/>
            </a:pPr>
            <a:endParaRPr lang="en-US" sz="750" dirty="0"/>
          </a:p>
        </p:txBody>
      </p:sp>
      <p:sp>
        <p:nvSpPr>
          <p:cNvPr id="63" name="Text 61"/>
          <p:cNvSpPr/>
          <p:nvPr/>
        </p:nvSpPr>
        <p:spPr>
          <a:xfrm>
            <a:off x="3370217" y="3757525"/>
            <a:ext cx="640080" cy="320040"/>
          </a:xfrm>
          <a:prstGeom prst="rect">
            <a:avLst/>
          </a:prstGeom>
          <a:noFill/>
          <a:ln/>
        </p:spPr>
        <p:txBody>
          <a:bodyPr wrap="square" rtlCol="0" anchor="ctr"/>
          <a:lstStyle/>
          <a:p>
            <a:pPr marL="0" indent="0" algn="ctr">
              <a:buNone/>
            </a:pPr>
            <a:r>
              <a:rPr lang="en-US" altLang="en-US" sz="700" dirty="0">
                <a:solidFill>
                  <a:srgbClr val="238636"/>
                </a:solidFill>
                <a:latin typeface="Calibri" pitchFamily="34" charset="0"/>
                <a:ea typeface="Calibri" pitchFamily="34" charset="-122"/>
                <a:cs typeface="Calibri" pitchFamily="34" charset="-120"/>
              </a:rPr>
              <a:t>↺ session</a:t>
            </a:r>
            <a:endParaRPr lang="en-US" sz="700" dirty="0"/>
          </a:p>
          <a:p>
            <a:pPr marL="0" indent="0" algn="ctr">
              <a:buNone/>
            </a:pPr>
            <a:r>
              <a:rPr lang="en-US" altLang="en-US" sz="700" dirty="0">
                <a:solidFill>
                  <a:srgbClr val="238636"/>
                </a:solidFill>
                <a:latin typeface="Calibri" pitchFamily="34" charset="0"/>
                <a:ea typeface="Calibri" pitchFamily="34" charset="-122"/>
                <a:cs typeface="Calibri" pitchFamily="34" charset="-120"/>
              </a:rPr>
              <a:t>reset</a:t>
            </a:r>
            <a:endParaRPr lang="en-US" sz="700" dirty="0"/>
          </a:p>
        </p:txBody>
      </p:sp>
      <p:sp>
        <p:nvSpPr>
          <p:cNvPr id="64" name="Shape 62"/>
          <p:cNvSpPr/>
          <p:nvPr/>
        </p:nvSpPr>
        <p:spPr>
          <a:xfrm>
            <a:off x="731520" y="4270248"/>
            <a:ext cx="347472" cy="91440"/>
          </a:xfrm>
          <a:prstGeom prst="rect">
            <a:avLst/>
          </a:prstGeom>
          <a:solidFill>
            <a:srgbClr val="E3672B"/>
          </a:solidFill>
          <a:ln w="12700">
            <a:solidFill>
              <a:srgbClr val="E3672B"/>
            </a:solidFill>
            <a:prstDash val="solid"/>
          </a:ln>
        </p:spPr>
        <p:txBody>
          <a:bodyPr/>
          <a:lstStyle/>
          <a:p>
            <a:endParaRPr lang="en-US"/>
          </a:p>
        </p:txBody>
      </p:sp>
      <p:sp>
        <p:nvSpPr>
          <p:cNvPr id="65" name="Shape 63"/>
          <p:cNvSpPr/>
          <p:nvPr/>
        </p:nvSpPr>
        <p:spPr>
          <a:xfrm>
            <a:off x="877824" y="4233672"/>
            <a:ext cx="54864" cy="164592"/>
          </a:xfrm>
          <a:prstGeom prst="rect">
            <a:avLst/>
          </a:prstGeom>
          <a:solidFill>
            <a:srgbClr val="E3672B"/>
          </a:solidFill>
          <a:ln w="12700">
            <a:solidFill>
              <a:srgbClr val="FFFFFF"/>
            </a:solidFill>
            <a:prstDash val="solid"/>
          </a:ln>
        </p:spPr>
        <p:txBody>
          <a:bodyPr/>
          <a:lstStyle/>
          <a:p>
            <a:endParaRPr lang="en-US"/>
          </a:p>
        </p:txBody>
      </p:sp>
      <p:sp>
        <p:nvSpPr>
          <p:cNvPr id="66" name="Text 64"/>
          <p:cNvSpPr/>
          <p:nvPr/>
        </p:nvSpPr>
        <p:spPr>
          <a:xfrm>
            <a:off x="1143000" y="4224528"/>
            <a:ext cx="1737360" cy="201168"/>
          </a:xfrm>
          <a:prstGeom prst="rect">
            <a:avLst/>
          </a:prstGeom>
          <a:noFill/>
          <a:ln/>
        </p:spPr>
        <p:txBody>
          <a:bodyPr wrap="square" rtlCol="0" anchor="ctr"/>
          <a:lstStyle/>
          <a:p>
            <a:pPr marL="0" indent="0">
              <a:buNone/>
            </a:pPr>
            <a:r>
              <a:rPr lang="en-US" altLang="en-US" sz="800" dirty="0">
                <a:solidFill>
                  <a:srgbClr val="444444"/>
                </a:solidFill>
                <a:latin typeface="Calibri" pitchFamily="34" charset="0"/>
                <a:ea typeface="Calibri" pitchFamily="34" charset="-122"/>
                <a:cs typeface="Calibri" pitchFamily="34" charset="-120"/>
              </a:rPr>
              <a:t>Baseline (no optimisation)</a:t>
            </a:r>
            <a:endParaRPr lang="en-US" sz="800" dirty="0"/>
          </a:p>
        </p:txBody>
      </p:sp>
      <p:sp>
        <p:nvSpPr>
          <p:cNvPr id="67" name="Shape 65"/>
          <p:cNvSpPr/>
          <p:nvPr/>
        </p:nvSpPr>
        <p:spPr>
          <a:xfrm>
            <a:off x="3017520" y="4270248"/>
            <a:ext cx="347472" cy="91440"/>
          </a:xfrm>
          <a:prstGeom prst="rect">
            <a:avLst/>
          </a:prstGeom>
          <a:solidFill>
            <a:srgbClr val="238636"/>
          </a:solidFill>
          <a:ln w="12700">
            <a:solidFill>
              <a:srgbClr val="238636"/>
            </a:solidFill>
            <a:prstDash val="solid"/>
          </a:ln>
        </p:spPr>
        <p:txBody>
          <a:bodyPr/>
          <a:lstStyle/>
          <a:p>
            <a:endParaRPr lang="en-US"/>
          </a:p>
        </p:txBody>
      </p:sp>
      <p:sp>
        <p:nvSpPr>
          <p:cNvPr id="68" name="Shape 66"/>
          <p:cNvSpPr/>
          <p:nvPr/>
        </p:nvSpPr>
        <p:spPr>
          <a:xfrm>
            <a:off x="3163824" y="4233672"/>
            <a:ext cx="54864" cy="164592"/>
          </a:xfrm>
          <a:prstGeom prst="rect">
            <a:avLst/>
          </a:prstGeom>
          <a:solidFill>
            <a:srgbClr val="238636"/>
          </a:solidFill>
          <a:ln w="12700">
            <a:solidFill>
              <a:srgbClr val="FFFFFF"/>
            </a:solidFill>
            <a:prstDash val="solid"/>
          </a:ln>
        </p:spPr>
        <p:txBody>
          <a:bodyPr/>
          <a:lstStyle/>
          <a:p>
            <a:endParaRPr lang="en-US"/>
          </a:p>
        </p:txBody>
      </p:sp>
      <p:sp>
        <p:nvSpPr>
          <p:cNvPr id="69" name="Text 67"/>
          <p:cNvSpPr/>
          <p:nvPr/>
        </p:nvSpPr>
        <p:spPr>
          <a:xfrm>
            <a:off x="3429000" y="4224528"/>
            <a:ext cx="2286000" cy="201168"/>
          </a:xfrm>
          <a:prstGeom prst="rect">
            <a:avLst/>
          </a:prstGeom>
          <a:noFill/>
          <a:ln/>
        </p:spPr>
        <p:txBody>
          <a:bodyPr wrap="square" rtlCol="0" anchor="ctr"/>
          <a:lstStyle/>
          <a:p>
            <a:pPr marL="0" indent="0">
              <a:buNone/>
            </a:pPr>
            <a:r>
              <a:rPr lang="en-US" altLang="en-US" sz="800" dirty="0">
                <a:solidFill>
                  <a:srgbClr val="444444"/>
                </a:solidFill>
                <a:latin typeface="Calibri" pitchFamily="34" charset="0"/>
                <a:ea typeface="Calibri" pitchFamily="34" charset="-122"/>
                <a:cs typeface="Calibri" pitchFamily="34" charset="-120"/>
              </a:rPr>
              <a:t>Optimised (Caveman + RTK + session hygiene)</a:t>
            </a:r>
            <a:endParaRPr lang="en-US" sz="800" dirty="0"/>
          </a:p>
        </p:txBody>
      </p:sp>
      <p:sp>
        <p:nvSpPr>
          <p:cNvPr id="70" name="Shape 68"/>
          <p:cNvSpPr/>
          <p:nvPr/>
        </p:nvSpPr>
        <p:spPr>
          <a:xfrm>
            <a:off x="5989320" y="1005840"/>
            <a:ext cx="2834640" cy="3566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71" name="Text 69"/>
          <p:cNvSpPr/>
          <p:nvPr/>
        </p:nvSpPr>
        <p:spPr>
          <a:xfrm>
            <a:off x="6126480" y="1133856"/>
            <a:ext cx="2606040" cy="274320"/>
          </a:xfrm>
          <a:prstGeom prst="rect">
            <a:avLst/>
          </a:prstGeom>
          <a:noFill/>
          <a:ln/>
        </p:spPr>
        <p:txBody>
          <a:bodyPr wrap="square" rtlCol="0" anchor="ctr"/>
          <a:lstStyle/>
          <a:p>
            <a:pPr marL="0" indent="0">
              <a:buNone/>
            </a:pPr>
            <a:r>
              <a:rPr lang="en-US" altLang="en-US" sz="1200" b="1" dirty="0">
                <a:solidFill>
                  <a:srgbClr val="E3672B"/>
                </a:solidFill>
                <a:latin typeface="Calibri" pitchFamily="34" charset="0"/>
                <a:ea typeface="Calibri" pitchFamily="34" charset="-122"/>
                <a:cs typeface="Calibri" pitchFamily="34" charset="-120"/>
              </a:rPr>
              <a:t>Why it grows</a:t>
            </a:r>
            <a:endParaRPr lang="en-US" sz="1200" dirty="0"/>
          </a:p>
        </p:txBody>
      </p:sp>
      <p:sp>
        <p:nvSpPr>
          <p:cNvPr id="73" name="Text 71"/>
          <p:cNvSpPr/>
          <p:nvPr/>
        </p:nvSpPr>
        <p:spPr>
          <a:xfrm>
            <a:off x="6126480" y="1536192"/>
            <a:ext cx="274320" cy="274320"/>
          </a:xfrm>
          <a:prstGeom prst="rect">
            <a:avLst/>
          </a:prstGeom>
          <a:noFill/>
          <a:ln/>
        </p:spPr>
        <p:txBody>
          <a:bodyPr wrap="square" rtlCol="0" anchor="ctr"/>
          <a:lstStyle/>
          <a:p>
            <a:pPr marL="0" indent="0" algn="ctr">
              <a:buNone/>
            </a:pPr>
            <a:endParaRPr lang="en-US" sz="1000" dirty="0"/>
          </a:p>
        </p:txBody>
      </p:sp>
      <p:sp>
        <p:nvSpPr>
          <p:cNvPr id="74" name="Text 72"/>
          <p:cNvSpPr/>
          <p:nvPr/>
        </p:nvSpPr>
        <p:spPr>
          <a:xfrm>
            <a:off x="6455664" y="1499616"/>
            <a:ext cx="2240280" cy="347472"/>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Every request re-sends the FULL conversation history</a:t>
            </a:r>
            <a:endParaRPr lang="en-US" sz="950" dirty="0"/>
          </a:p>
        </p:txBody>
      </p:sp>
      <p:sp>
        <p:nvSpPr>
          <p:cNvPr id="76" name="Text 74"/>
          <p:cNvSpPr/>
          <p:nvPr/>
        </p:nvSpPr>
        <p:spPr>
          <a:xfrm>
            <a:off x="6126480" y="2084832"/>
            <a:ext cx="274320" cy="274320"/>
          </a:xfrm>
          <a:prstGeom prst="rect">
            <a:avLst/>
          </a:prstGeom>
          <a:noFill/>
          <a:ln/>
        </p:spPr>
        <p:txBody>
          <a:bodyPr wrap="square" rtlCol="0" anchor="ctr"/>
          <a:lstStyle/>
          <a:p>
            <a:pPr marL="0" indent="0" algn="ctr">
              <a:buNone/>
            </a:pPr>
            <a:endParaRPr lang="en-US" sz="1000" dirty="0"/>
          </a:p>
        </p:txBody>
      </p:sp>
      <p:sp>
        <p:nvSpPr>
          <p:cNvPr id="77" name="Text 75"/>
          <p:cNvSpPr/>
          <p:nvPr/>
        </p:nvSpPr>
        <p:spPr>
          <a:xfrm>
            <a:off x="6455664" y="2048256"/>
            <a:ext cx="2240280" cy="347472"/>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Request 8 costs ~8× more than Request 1 for the same answer</a:t>
            </a:r>
            <a:endParaRPr lang="en-US" sz="950" dirty="0"/>
          </a:p>
        </p:txBody>
      </p:sp>
      <p:sp>
        <p:nvSpPr>
          <p:cNvPr id="79" name="Text 77"/>
          <p:cNvSpPr/>
          <p:nvPr/>
        </p:nvSpPr>
        <p:spPr>
          <a:xfrm>
            <a:off x="6126480" y="2633472"/>
            <a:ext cx="274320" cy="274320"/>
          </a:xfrm>
          <a:prstGeom prst="rect">
            <a:avLst/>
          </a:prstGeom>
          <a:noFill/>
          <a:ln/>
        </p:spPr>
        <p:txBody>
          <a:bodyPr wrap="square" rtlCol="0" anchor="ctr"/>
          <a:lstStyle/>
          <a:p>
            <a:pPr marL="0" indent="0" algn="ctr">
              <a:buNone/>
            </a:pPr>
            <a:endParaRPr lang="en-US" sz="1000" dirty="0"/>
          </a:p>
        </p:txBody>
      </p:sp>
      <p:sp>
        <p:nvSpPr>
          <p:cNvPr id="80" name="Text 78"/>
          <p:cNvSpPr/>
          <p:nvPr/>
        </p:nvSpPr>
        <p:spPr>
          <a:xfrm>
            <a:off x="6455664" y="2596896"/>
            <a:ext cx="2240280" cy="347472"/>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New session resets the counter — that is session hygiene</a:t>
            </a:r>
            <a:endParaRPr lang="en-US" sz="950" dirty="0"/>
          </a:p>
        </p:txBody>
      </p:sp>
      <p:sp>
        <p:nvSpPr>
          <p:cNvPr id="82" name="Text 80"/>
          <p:cNvSpPr/>
          <p:nvPr/>
        </p:nvSpPr>
        <p:spPr>
          <a:xfrm>
            <a:off x="6126480" y="3182112"/>
            <a:ext cx="274320" cy="274320"/>
          </a:xfrm>
          <a:prstGeom prst="rect">
            <a:avLst/>
          </a:prstGeom>
          <a:noFill/>
          <a:ln/>
        </p:spPr>
        <p:txBody>
          <a:bodyPr wrap="square" rtlCol="0" anchor="ctr"/>
          <a:lstStyle/>
          <a:p>
            <a:pPr marL="0" indent="0" algn="ctr">
              <a:buNone/>
            </a:pPr>
            <a:endParaRPr lang="en-US" sz="1000" dirty="0"/>
          </a:p>
        </p:txBody>
      </p:sp>
      <p:sp>
        <p:nvSpPr>
          <p:cNvPr id="83" name="Text 81"/>
          <p:cNvSpPr/>
          <p:nvPr/>
        </p:nvSpPr>
        <p:spPr>
          <a:xfrm>
            <a:off x="6455664" y="3145536"/>
            <a:ext cx="2240280" cy="347472"/>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Caveman cuts response size — each exchange grows less</a:t>
            </a:r>
            <a:endParaRPr lang="en-US" sz="950" dirty="0"/>
          </a:p>
        </p:txBody>
      </p:sp>
      <p:sp>
        <p:nvSpPr>
          <p:cNvPr id="85" name="Text 83"/>
          <p:cNvSpPr/>
          <p:nvPr/>
        </p:nvSpPr>
        <p:spPr>
          <a:xfrm>
            <a:off x="6126480" y="3730752"/>
            <a:ext cx="274320" cy="274320"/>
          </a:xfrm>
          <a:prstGeom prst="rect">
            <a:avLst/>
          </a:prstGeom>
          <a:noFill/>
          <a:ln/>
        </p:spPr>
        <p:txBody>
          <a:bodyPr wrap="square" rtlCol="0" anchor="ctr"/>
          <a:lstStyle/>
          <a:p>
            <a:pPr marL="0" indent="0" algn="ctr">
              <a:buNone/>
            </a:pPr>
            <a:endParaRPr lang="en-US" sz="1000" dirty="0"/>
          </a:p>
        </p:txBody>
      </p:sp>
      <p:sp>
        <p:nvSpPr>
          <p:cNvPr id="86" name="Text 84"/>
          <p:cNvSpPr/>
          <p:nvPr/>
        </p:nvSpPr>
        <p:spPr>
          <a:xfrm>
            <a:off x="6455664" y="3694176"/>
            <a:ext cx="2240280" cy="347472"/>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Orange line: unmanaged. Green line: optimised.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What You Can Control</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Three layers of token optimization</a:t>
            </a:r>
            <a:endParaRPr lang="en-US" sz="1300" dirty="0"/>
          </a:p>
        </p:txBody>
      </p:sp>
      <p:sp>
        <p:nvSpPr>
          <p:cNvPr id="5" name="Shape 3"/>
          <p:cNvSpPr/>
          <p:nvPr/>
        </p:nvSpPr>
        <p:spPr>
          <a:xfrm>
            <a:off x="274320" y="1005840"/>
            <a:ext cx="2743200" cy="37947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6" name="Shape 4"/>
          <p:cNvSpPr/>
          <p:nvPr/>
        </p:nvSpPr>
        <p:spPr>
          <a:xfrm>
            <a:off x="274320" y="1005840"/>
            <a:ext cx="2743200" cy="384048"/>
          </a:xfrm>
          <a:prstGeom prst="rect">
            <a:avLst/>
          </a:prstGeom>
          <a:solidFill>
            <a:srgbClr val="1F6FEB"/>
          </a:solidFill>
          <a:ln w="12700">
            <a:solidFill>
              <a:srgbClr val="1F6FEB"/>
            </a:solidFill>
            <a:prstDash val="solid"/>
          </a:ln>
        </p:spPr>
        <p:txBody>
          <a:bodyPr/>
          <a:lstStyle/>
          <a:p>
            <a:endParaRPr lang="en-US"/>
          </a:p>
        </p:txBody>
      </p:sp>
      <p:sp>
        <p:nvSpPr>
          <p:cNvPr id="7" name="Text 5"/>
          <p:cNvSpPr/>
          <p:nvPr/>
        </p:nvSpPr>
        <p:spPr>
          <a:xfrm>
            <a:off x="365760" y="1024128"/>
            <a:ext cx="2560320" cy="347472"/>
          </a:xfrm>
          <a:prstGeom prst="rect">
            <a:avLst/>
          </a:prstGeom>
          <a:noFill/>
          <a:ln/>
        </p:spPr>
        <p:txBody>
          <a:bodyPr wrap="square" rtlCol="0" anchor="ctr"/>
          <a:lstStyle/>
          <a:p>
            <a:pPr marL="0" indent="0">
              <a:buNone/>
            </a:pPr>
            <a:r>
              <a:rPr lang="en-US" altLang="en-US" sz="1150" b="1" dirty="0">
                <a:solidFill>
                  <a:srgbClr val="F0F6FC"/>
                </a:solidFill>
                <a:latin typeface="Calibri" pitchFamily="34" charset="0"/>
                <a:ea typeface="Calibri" pitchFamily="34" charset="-122"/>
                <a:cs typeface="Calibri" pitchFamily="34" charset="-120"/>
              </a:rPr>
              <a:t>📋 Context Control</a:t>
            </a:r>
            <a:endParaRPr lang="en-US" sz="1150" dirty="0"/>
          </a:p>
        </p:txBody>
      </p:sp>
      <p:sp>
        <p:nvSpPr>
          <p:cNvPr id="8" name="Shape 6"/>
          <p:cNvSpPr/>
          <p:nvPr/>
        </p:nvSpPr>
        <p:spPr>
          <a:xfrm>
            <a:off x="384048" y="1490472"/>
            <a:ext cx="91440" cy="91440"/>
          </a:xfrm>
          <a:prstGeom prst="ellipse">
            <a:avLst/>
          </a:prstGeom>
          <a:solidFill>
            <a:srgbClr val="1F6FEB"/>
          </a:solidFill>
          <a:ln w="12700">
            <a:solidFill>
              <a:srgbClr val="1F6FEB"/>
            </a:solidFill>
            <a:prstDash val="solid"/>
          </a:ln>
        </p:spPr>
        <p:txBody>
          <a:bodyPr/>
          <a:lstStyle/>
          <a:p>
            <a:endParaRPr lang="en-US"/>
          </a:p>
        </p:txBody>
      </p:sp>
      <p:sp>
        <p:nvSpPr>
          <p:cNvPr id="9" name="Text 7"/>
          <p:cNvSpPr/>
          <p:nvPr/>
        </p:nvSpPr>
        <p:spPr>
          <a:xfrm>
            <a:off x="521208" y="1435608"/>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Trim copilot-instructions.md — every byte counts</a:t>
            </a:r>
            <a:endParaRPr lang="en-US" sz="950" dirty="0"/>
          </a:p>
        </p:txBody>
      </p:sp>
      <p:sp>
        <p:nvSpPr>
          <p:cNvPr id="10" name="Shape 8"/>
          <p:cNvSpPr/>
          <p:nvPr/>
        </p:nvSpPr>
        <p:spPr>
          <a:xfrm>
            <a:off x="384048" y="2011680"/>
            <a:ext cx="91440" cy="91440"/>
          </a:xfrm>
          <a:prstGeom prst="ellipse">
            <a:avLst/>
          </a:prstGeom>
          <a:solidFill>
            <a:srgbClr val="1F6FEB"/>
          </a:solidFill>
          <a:ln w="12700">
            <a:solidFill>
              <a:srgbClr val="1F6FEB"/>
            </a:solidFill>
            <a:prstDash val="solid"/>
          </a:ln>
        </p:spPr>
        <p:txBody>
          <a:bodyPr/>
          <a:lstStyle/>
          <a:p>
            <a:endParaRPr lang="en-US"/>
          </a:p>
        </p:txBody>
      </p:sp>
      <p:sp>
        <p:nvSpPr>
          <p:cNvPr id="11" name="Text 9"/>
          <p:cNvSpPr/>
          <p:nvPr/>
        </p:nvSpPr>
        <p:spPr>
          <a:xfrm>
            <a:off x="521208" y="1956816"/>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Disable unused MCP servers (100–500 tokens each)</a:t>
            </a:r>
            <a:endParaRPr lang="en-US" sz="950" dirty="0"/>
          </a:p>
        </p:txBody>
      </p:sp>
      <p:sp>
        <p:nvSpPr>
          <p:cNvPr id="12" name="Shape 10"/>
          <p:cNvSpPr/>
          <p:nvPr/>
        </p:nvSpPr>
        <p:spPr>
          <a:xfrm>
            <a:off x="384048" y="2532888"/>
            <a:ext cx="91440" cy="91440"/>
          </a:xfrm>
          <a:prstGeom prst="ellipse">
            <a:avLst/>
          </a:prstGeom>
          <a:solidFill>
            <a:srgbClr val="1F6FEB"/>
          </a:solidFill>
          <a:ln w="12700">
            <a:solidFill>
              <a:srgbClr val="1F6FEB"/>
            </a:solidFill>
            <a:prstDash val="solid"/>
          </a:ln>
        </p:spPr>
        <p:txBody>
          <a:bodyPr/>
          <a:lstStyle/>
          <a:p>
            <a:endParaRPr lang="en-US"/>
          </a:p>
        </p:txBody>
      </p:sp>
      <p:sp>
        <p:nvSpPr>
          <p:cNvPr id="13" name="Text 11"/>
          <p:cNvSpPr/>
          <p:nvPr/>
        </p:nvSpPr>
        <p:spPr>
          <a:xfrm>
            <a:off x="521208" y="2478024"/>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Use specific @file refs, not @workspace</a:t>
            </a:r>
            <a:endParaRPr lang="en-US" sz="950" dirty="0"/>
          </a:p>
        </p:txBody>
      </p:sp>
      <p:sp>
        <p:nvSpPr>
          <p:cNvPr id="14" name="Shape 12"/>
          <p:cNvSpPr/>
          <p:nvPr/>
        </p:nvSpPr>
        <p:spPr>
          <a:xfrm>
            <a:off x="384048" y="3054096"/>
            <a:ext cx="91440" cy="91440"/>
          </a:xfrm>
          <a:prstGeom prst="ellipse">
            <a:avLst/>
          </a:prstGeom>
          <a:solidFill>
            <a:srgbClr val="1F6FEB"/>
          </a:solidFill>
          <a:ln w="12700">
            <a:solidFill>
              <a:srgbClr val="1F6FEB"/>
            </a:solidFill>
            <a:prstDash val="solid"/>
          </a:ln>
        </p:spPr>
        <p:txBody>
          <a:bodyPr/>
          <a:lstStyle/>
          <a:p>
            <a:endParaRPr lang="en-US"/>
          </a:p>
        </p:txBody>
      </p:sp>
      <p:sp>
        <p:nvSpPr>
          <p:cNvPr id="15" name="Text 13"/>
          <p:cNvSpPr/>
          <p:nvPr/>
        </p:nvSpPr>
        <p:spPr>
          <a:xfrm>
            <a:off x="521208" y="2999232"/>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Close unrelated files before chatting</a:t>
            </a:r>
            <a:endParaRPr lang="en-US" sz="950" dirty="0"/>
          </a:p>
        </p:txBody>
      </p:sp>
      <p:sp>
        <p:nvSpPr>
          <p:cNvPr id="16" name="Shape 14"/>
          <p:cNvSpPr/>
          <p:nvPr/>
        </p:nvSpPr>
        <p:spPr>
          <a:xfrm>
            <a:off x="384048" y="3575304"/>
            <a:ext cx="91440" cy="91440"/>
          </a:xfrm>
          <a:prstGeom prst="ellipse">
            <a:avLst/>
          </a:prstGeom>
          <a:solidFill>
            <a:srgbClr val="1F6FEB"/>
          </a:solidFill>
          <a:ln w="12700">
            <a:solidFill>
              <a:srgbClr val="1F6FEB"/>
            </a:solidFill>
            <a:prstDash val="solid"/>
          </a:ln>
        </p:spPr>
        <p:txBody>
          <a:bodyPr/>
          <a:lstStyle/>
          <a:p>
            <a:endParaRPr lang="en-US"/>
          </a:p>
        </p:txBody>
      </p:sp>
      <p:sp>
        <p:nvSpPr>
          <p:cNvPr id="17" name="Text 15"/>
          <p:cNvSpPr/>
          <p:nvPr/>
        </p:nvSpPr>
        <p:spPr>
          <a:xfrm>
            <a:off x="521208" y="3520440"/>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Exclude node_modules / bin from context</a:t>
            </a:r>
            <a:endParaRPr lang="en-US" sz="950" dirty="0"/>
          </a:p>
        </p:txBody>
      </p:sp>
      <p:sp>
        <p:nvSpPr>
          <p:cNvPr id="18" name="Shape 16"/>
          <p:cNvSpPr/>
          <p:nvPr/>
        </p:nvSpPr>
        <p:spPr>
          <a:xfrm>
            <a:off x="384048" y="4096512"/>
            <a:ext cx="91440" cy="91440"/>
          </a:xfrm>
          <a:prstGeom prst="ellipse">
            <a:avLst/>
          </a:prstGeom>
          <a:solidFill>
            <a:srgbClr val="1F6FEB"/>
          </a:solidFill>
          <a:ln w="12700">
            <a:solidFill>
              <a:srgbClr val="1F6FEB"/>
            </a:solidFill>
            <a:prstDash val="solid"/>
          </a:ln>
        </p:spPr>
        <p:txBody>
          <a:bodyPr/>
          <a:lstStyle/>
          <a:p>
            <a:endParaRPr lang="en-US"/>
          </a:p>
        </p:txBody>
      </p:sp>
      <p:sp>
        <p:nvSpPr>
          <p:cNvPr id="19" name="Text 17"/>
          <p:cNvSpPr/>
          <p:nvPr/>
        </p:nvSpPr>
        <p:spPr>
          <a:xfrm>
            <a:off x="521208" y="4041648"/>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Start new sessions for new topics</a:t>
            </a:r>
            <a:endParaRPr lang="en-US" sz="950" dirty="0"/>
          </a:p>
        </p:txBody>
      </p:sp>
      <p:sp>
        <p:nvSpPr>
          <p:cNvPr id="20" name="Shape 18"/>
          <p:cNvSpPr/>
          <p:nvPr/>
        </p:nvSpPr>
        <p:spPr>
          <a:xfrm>
            <a:off x="3200400" y="1005840"/>
            <a:ext cx="2743200" cy="37947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21" name="Shape 19"/>
          <p:cNvSpPr/>
          <p:nvPr/>
        </p:nvSpPr>
        <p:spPr>
          <a:xfrm>
            <a:off x="3200400" y="1005840"/>
            <a:ext cx="2743200" cy="384048"/>
          </a:xfrm>
          <a:prstGeom prst="rect">
            <a:avLst/>
          </a:prstGeom>
          <a:solidFill>
            <a:srgbClr val="238636"/>
          </a:solidFill>
          <a:ln w="12700">
            <a:solidFill>
              <a:srgbClr val="238636"/>
            </a:solidFill>
            <a:prstDash val="solid"/>
          </a:ln>
        </p:spPr>
        <p:txBody>
          <a:bodyPr/>
          <a:lstStyle/>
          <a:p>
            <a:endParaRPr lang="en-US"/>
          </a:p>
        </p:txBody>
      </p:sp>
      <p:sp>
        <p:nvSpPr>
          <p:cNvPr id="22" name="Text 20"/>
          <p:cNvSpPr/>
          <p:nvPr/>
        </p:nvSpPr>
        <p:spPr>
          <a:xfrm>
            <a:off x="3291840" y="1024128"/>
            <a:ext cx="2560320" cy="347472"/>
          </a:xfrm>
          <a:prstGeom prst="rect">
            <a:avLst/>
          </a:prstGeom>
          <a:noFill/>
          <a:ln/>
        </p:spPr>
        <p:txBody>
          <a:bodyPr wrap="square" rtlCol="0" anchor="ctr"/>
          <a:lstStyle/>
          <a:p>
            <a:pPr marL="0" indent="0">
              <a:buNone/>
            </a:pPr>
            <a:r>
              <a:rPr lang="en-US" altLang="en-US" sz="1150" b="1" dirty="0">
                <a:solidFill>
                  <a:srgbClr val="F0F6FC"/>
                </a:solidFill>
                <a:latin typeface="Calibri" pitchFamily="34" charset="0"/>
                <a:ea typeface="Calibri" pitchFamily="34" charset="-122"/>
                <a:cs typeface="Calibri" pitchFamily="34" charset="-120"/>
              </a:rPr>
              <a:t>✍️ Prompt Discipline</a:t>
            </a:r>
            <a:endParaRPr lang="en-US" sz="1150" dirty="0"/>
          </a:p>
        </p:txBody>
      </p:sp>
      <p:sp>
        <p:nvSpPr>
          <p:cNvPr id="23" name="Shape 21"/>
          <p:cNvSpPr/>
          <p:nvPr/>
        </p:nvSpPr>
        <p:spPr>
          <a:xfrm>
            <a:off x="3310128" y="1490472"/>
            <a:ext cx="91440" cy="91440"/>
          </a:xfrm>
          <a:prstGeom prst="ellipse">
            <a:avLst/>
          </a:prstGeom>
          <a:solidFill>
            <a:srgbClr val="238636"/>
          </a:solidFill>
          <a:ln w="12700">
            <a:solidFill>
              <a:srgbClr val="238636"/>
            </a:solidFill>
            <a:prstDash val="solid"/>
          </a:ln>
        </p:spPr>
        <p:txBody>
          <a:bodyPr/>
          <a:lstStyle/>
          <a:p>
            <a:endParaRPr lang="en-US"/>
          </a:p>
        </p:txBody>
      </p:sp>
      <p:sp>
        <p:nvSpPr>
          <p:cNvPr id="24" name="Text 22"/>
          <p:cNvSpPr/>
          <p:nvPr/>
        </p:nvSpPr>
        <p:spPr>
          <a:xfrm>
            <a:off x="3447288" y="1435608"/>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Be specific — short, targeted questions</a:t>
            </a:r>
            <a:endParaRPr lang="en-US" sz="950" dirty="0"/>
          </a:p>
        </p:txBody>
      </p:sp>
      <p:sp>
        <p:nvSpPr>
          <p:cNvPr id="25" name="Shape 23"/>
          <p:cNvSpPr/>
          <p:nvPr/>
        </p:nvSpPr>
        <p:spPr>
          <a:xfrm>
            <a:off x="3310128" y="2011680"/>
            <a:ext cx="91440" cy="91440"/>
          </a:xfrm>
          <a:prstGeom prst="ellipse">
            <a:avLst/>
          </a:prstGeom>
          <a:solidFill>
            <a:srgbClr val="238636"/>
          </a:solidFill>
          <a:ln w="12700">
            <a:solidFill>
              <a:srgbClr val="238636"/>
            </a:solidFill>
            <a:prstDash val="solid"/>
          </a:ln>
        </p:spPr>
        <p:txBody>
          <a:bodyPr/>
          <a:lstStyle/>
          <a:p>
            <a:endParaRPr lang="en-US"/>
          </a:p>
        </p:txBody>
      </p:sp>
      <p:sp>
        <p:nvSpPr>
          <p:cNvPr id="26" name="Text 24"/>
          <p:cNvSpPr/>
          <p:nvPr/>
        </p:nvSpPr>
        <p:spPr>
          <a:xfrm>
            <a:off x="3447288" y="1956816"/>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Avoid 'explain everything' requests</a:t>
            </a:r>
            <a:endParaRPr lang="en-US" sz="950" dirty="0"/>
          </a:p>
        </p:txBody>
      </p:sp>
      <p:sp>
        <p:nvSpPr>
          <p:cNvPr id="27" name="Shape 25"/>
          <p:cNvSpPr/>
          <p:nvPr/>
        </p:nvSpPr>
        <p:spPr>
          <a:xfrm>
            <a:off x="3310128" y="2532888"/>
            <a:ext cx="91440" cy="91440"/>
          </a:xfrm>
          <a:prstGeom prst="ellipse">
            <a:avLst/>
          </a:prstGeom>
          <a:solidFill>
            <a:srgbClr val="238636"/>
          </a:solidFill>
          <a:ln w="12700">
            <a:solidFill>
              <a:srgbClr val="238636"/>
            </a:solidFill>
            <a:prstDash val="solid"/>
          </a:ln>
        </p:spPr>
        <p:txBody>
          <a:bodyPr/>
          <a:lstStyle/>
          <a:p>
            <a:endParaRPr lang="en-US"/>
          </a:p>
        </p:txBody>
      </p:sp>
      <p:sp>
        <p:nvSpPr>
          <p:cNvPr id="28" name="Text 26"/>
          <p:cNvSpPr/>
          <p:nvPr/>
        </p:nvSpPr>
        <p:spPr>
          <a:xfrm>
            <a:off x="3447288" y="2478024"/>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Reference code by line range, not whole files</a:t>
            </a:r>
            <a:endParaRPr lang="en-US" sz="950" dirty="0"/>
          </a:p>
        </p:txBody>
      </p:sp>
      <p:sp>
        <p:nvSpPr>
          <p:cNvPr id="29" name="Shape 27"/>
          <p:cNvSpPr/>
          <p:nvPr/>
        </p:nvSpPr>
        <p:spPr>
          <a:xfrm>
            <a:off x="3310128" y="3054096"/>
            <a:ext cx="91440" cy="91440"/>
          </a:xfrm>
          <a:prstGeom prst="ellipse">
            <a:avLst/>
          </a:prstGeom>
          <a:solidFill>
            <a:srgbClr val="238636"/>
          </a:solidFill>
          <a:ln w="12700">
            <a:solidFill>
              <a:srgbClr val="238636"/>
            </a:solidFill>
            <a:prstDash val="solid"/>
          </a:ln>
        </p:spPr>
        <p:txBody>
          <a:bodyPr/>
          <a:lstStyle/>
          <a:p>
            <a:endParaRPr lang="en-US"/>
          </a:p>
        </p:txBody>
      </p:sp>
      <p:sp>
        <p:nvSpPr>
          <p:cNvPr id="30" name="Text 28"/>
          <p:cNvSpPr/>
          <p:nvPr/>
        </p:nvSpPr>
        <p:spPr>
          <a:xfrm>
            <a:off x="3447288" y="2999232"/>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Use /clear to reset conversation history</a:t>
            </a:r>
            <a:endParaRPr lang="en-US" sz="950" dirty="0"/>
          </a:p>
        </p:txBody>
      </p:sp>
      <p:sp>
        <p:nvSpPr>
          <p:cNvPr id="31" name="Shape 29"/>
          <p:cNvSpPr/>
          <p:nvPr/>
        </p:nvSpPr>
        <p:spPr>
          <a:xfrm>
            <a:off x="3310128" y="3575304"/>
            <a:ext cx="91440" cy="91440"/>
          </a:xfrm>
          <a:prstGeom prst="ellipse">
            <a:avLst/>
          </a:prstGeom>
          <a:solidFill>
            <a:srgbClr val="238636"/>
          </a:solidFill>
          <a:ln w="12700">
            <a:solidFill>
              <a:srgbClr val="238636"/>
            </a:solidFill>
            <a:prstDash val="solid"/>
          </a:ln>
        </p:spPr>
        <p:txBody>
          <a:bodyPr/>
          <a:lstStyle/>
          <a:p>
            <a:endParaRPr lang="en-US"/>
          </a:p>
        </p:txBody>
      </p:sp>
      <p:sp>
        <p:nvSpPr>
          <p:cNvPr id="32" name="Text 30"/>
          <p:cNvSpPr/>
          <p:nvPr/>
        </p:nvSpPr>
        <p:spPr>
          <a:xfrm>
            <a:off x="3447288" y="3520440"/>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One task per session</a:t>
            </a:r>
            <a:endParaRPr lang="en-US" sz="950" dirty="0"/>
          </a:p>
        </p:txBody>
      </p:sp>
      <p:sp>
        <p:nvSpPr>
          <p:cNvPr id="33" name="Shape 31"/>
          <p:cNvSpPr/>
          <p:nvPr/>
        </p:nvSpPr>
        <p:spPr>
          <a:xfrm>
            <a:off x="3310128" y="4096512"/>
            <a:ext cx="91440" cy="91440"/>
          </a:xfrm>
          <a:prstGeom prst="ellipse">
            <a:avLst/>
          </a:prstGeom>
          <a:solidFill>
            <a:srgbClr val="238636"/>
          </a:solidFill>
          <a:ln w="12700">
            <a:solidFill>
              <a:srgbClr val="238636"/>
            </a:solidFill>
            <a:prstDash val="solid"/>
          </a:ln>
        </p:spPr>
        <p:txBody>
          <a:bodyPr/>
          <a:lstStyle/>
          <a:p>
            <a:endParaRPr lang="en-US"/>
          </a:p>
        </p:txBody>
      </p:sp>
      <p:sp>
        <p:nvSpPr>
          <p:cNvPr id="34" name="Text 32"/>
          <p:cNvSpPr/>
          <p:nvPr/>
        </p:nvSpPr>
        <p:spPr>
          <a:xfrm>
            <a:off x="3447288" y="4041648"/>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Prefer inline Copilot over chat for simple completions</a:t>
            </a:r>
            <a:endParaRPr lang="en-US" sz="950" dirty="0"/>
          </a:p>
        </p:txBody>
      </p:sp>
      <p:sp>
        <p:nvSpPr>
          <p:cNvPr id="35" name="Shape 33"/>
          <p:cNvSpPr/>
          <p:nvPr/>
        </p:nvSpPr>
        <p:spPr>
          <a:xfrm>
            <a:off x="6126480" y="1005840"/>
            <a:ext cx="2743200" cy="37947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36" name="Shape 34"/>
          <p:cNvSpPr/>
          <p:nvPr/>
        </p:nvSpPr>
        <p:spPr>
          <a:xfrm>
            <a:off x="6126480" y="1005840"/>
            <a:ext cx="2743200" cy="384048"/>
          </a:xfrm>
          <a:prstGeom prst="rect">
            <a:avLst/>
          </a:prstGeom>
          <a:solidFill>
            <a:srgbClr val="E3672B"/>
          </a:solidFill>
          <a:ln w="12700">
            <a:solidFill>
              <a:srgbClr val="E3672B"/>
            </a:solidFill>
            <a:prstDash val="solid"/>
          </a:ln>
        </p:spPr>
        <p:txBody>
          <a:bodyPr/>
          <a:lstStyle/>
          <a:p>
            <a:endParaRPr lang="en-US"/>
          </a:p>
        </p:txBody>
      </p:sp>
      <p:sp>
        <p:nvSpPr>
          <p:cNvPr id="37" name="Text 35"/>
          <p:cNvSpPr/>
          <p:nvPr/>
        </p:nvSpPr>
        <p:spPr>
          <a:xfrm>
            <a:off x="6217920" y="1024128"/>
            <a:ext cx="2560320" cy="347472"/>
          </a:xfrm>
          <a:prstGeom prst="rect">
            <a:avLst/>
          </a:prstGeom>
          <a:noFill/>
          <a:ln/>
        </p:spPr>
        <p:txBody>
          <a:bodyPr wrap="square" rtlCol="0" anchor="ctr"/>
          <a:lstStyle/>
          <a:p>
            <a:pPr marL="0" indent="0">
              <a:buNone/>
            </a:pPr>
            <a:r>
              <a:rPr lang="en-US" altLang="en-US" sz="1150" b="1" dirty="0">
                <a:solidFill>
                  <a:srgbClr val="F0F6FC"/>
                </a:solidFill>
                <a:latin typeface="Calibri" pitchFamily="34" charset="0"/>
                <a:ea typeface="Calibri" pitchFamily="34" charset="-122"/>
                <a:cs typeface="Calibri" pitchFamily="34" charset="-120"/>
              </a:rPr>
              <a:t>🔧 Tools &amp; Plugins</a:t>
            </a:r>
            <a:endParaRPr lang="en-US" sz="1150" dirty="0"/>
          </a:p>
        </p:txBody>
      </p:sp>
      <p:sp>
        <p:nvSpPr>
          <p:cNvPr id="38" name="Shape 36"/>
          <p:cNvSpPr/>
          <p:nvPr/>
        </p:nvSpPr>
        <p:spPr>
          <a:xfrm>
            <a:off x="6236208" y="1490472"/>
            <a:ext cx="91440" cy="91440"/>
          </a:xfrm>
          <a:prstGeom prst="ellipse">
            <a:avLst/>
          </a:prstGeom>
          <a:solidFill>
            <a:srgbClr val="E3672B"/>
          </a:solidFill>
          <a:ln w="12700">
            <a:solidFill>
              <a:srgbClr val="E3672B"/>
            </a:solidFill>
            <a:prstDash val="solid"/>
          </a:ln>
        </p:spPr>
        <p:txBody>
          <a:bodyPr/>
          <a:lstStyle/>
          <a:p>
            <a:endParaRPr lang="en-US"/>
          </a:p>
        </p:txBody>
      </p:sp>
      <p:sp>
        <p:nvSpPr>
          <p:cNvPr id="39" name="Text 37"/>
          <p:cNvSpPr/>
          <p:nvPr/>
        </p:nvSpPr>
        <p:spPr>
          <a:xfrm>
            <a:off x="6373368" y="1435608"/>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Caveman Skill — cuts ~65–75% output tokens</a:t>
            </a:r>
            <a:endParaRPr lang="en-US" sz="950" dirty="0"/>
          </a:p>
        </p:txBody>
      </p:sp>
      <p:sp>
        <p:nvSpPr>
          <p:cNvPr id="40" name="Shape 38"/>
          <p:cNvSpPr/>
          <p:nvPr/>
        </p:nvSpPr>
        <p:spPr>
          <a:xfrm>
            <a:off x="6236208" y="2011680"/>
            <a:ext cx="91440" cy="91440"/>
          </a:xfrm>
          <a:prstGeom prst="ellipse">
            <a:avLst/>
          </a:prstGeom>
          <a:solidFill>
            <a:srgbClr val="E3672B"/>
          </a:solidFill>
          <a:ln w="12700">
            <a:solidFill>
              <a:srgbClr val="E3672B"/>
            </a:solidFill>
            <a:prstDash val="solid"/>
          </a:ln>
        </p:spPr>
        <p:txBody>
          <a:bodyPr/>
          <a:lstStyle/>
          <a:p>
            <a:endParaRPr lang="en-US"/>
          </a:p>
        </p:txBody>
      </p:sp>
      <p:sp>
        <p:nvSpPr>
          <p:cNvPr id="41" name="Text 39"/>
          <p:cNvSpPr/>
          <p:nvPr/>
        </p:nvSpPr>
        <p:spPr>
          <a:xfrm>
            <a:off x="6373368" y="1956816"/>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RTK Plugin — compresses CLI command output 60–90%</a:t>
            </a:r>
            <a:endParaRPr lang="en-US" sz="950" dirty="0"/>
          </a:p>
        </p:txBody>
      </p:sp>
      <p:sp>
        <p:nvSpPr>
          <p:cNvPr id="42" name="Shape 40"/>
          <p:cNvSpPr/>
          <p:nvPr/>
        </p:nvSpPr>
        <p:spPr>
          <a:xfrm>
            <a:off x="6236208" y="2532888"/>
            <a:ext cx="91440" cy="91440"/>
          </a:xfrm>
          <a:prstGeom prst="ellipse">
            <a:avLst/>
          </a:prstGeom>
          <a:solidFill>
            <a:srgbClr val="E3672B"/>
          </a:solidFill>
          <a:ln w="12700">
            <a:solidFill>
              <a:srgbClr val="E3672B"/>
            </a:solidFill>
            <a:prstDash val="solid"/>
          </a:ln>
        </p:spPr>
        <p:txBody>
          <a:bodyPr/>
          <a:lstStyle/>
          <a:p>
            <a:endParaRPr lang="en-US"/>
          </a:p>
        </p:txBody>
      </p:sp>
      <p:sp>
        <p:nvSpPr>
          <p:cNvPr id="43" name="Text 41"/>
          <p:cNvSpPr/>
          <p:nvPr/>
        </p:nvSpPr>
        <p:spPr>
          <a:xfrm>
            <a:off x="6373368" y="2478024"/>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AI Engineering Fluency — tracks actual usage</a:t>
            </a:r>
            <a:endParaRPr lang="en-US" sz="950" dirty="0"/>
          </a:p>
        </p:txBody>
      </p:sp>
      <p:sp>
        <p:nvSpPr>
          <p:cNvPr id="44" name="Shape 42"/>
          <p:cNvSpPr/>
          <p:nvPr/>
        </p:nvSpPr>
        <p:spPr>
          <a:xfrm>
            <a:off x="6236208" y="3054096"/>
            <a:ext cx="91440" cy="91440"/>
          </a:xfrm>
          <a:prstGeom prst="ellipse">
            <a:avLst/>
          </a:prstGeom>
          <a:solidFill>
            <a:srgbClr val="E3672B"/>
          </a:solidFill>
          <a:ln w="12700">
            <a:solidFill>
              <a:srgbClr val="E3672B"/>
            </a:solidFill>
            <a:prstDash val="solid"/>
          </a:ln>
        </p:spPr>
        <p:txBody>
          <a:bodyPr/>
          <a:lstStyle/>
          <a:p>
            <a:endParaRPr lang="en-US"/>
          </a:p>
        </p:txBody>
      </p:sp>
      <p:sp>
        <p:nvSpPr>
          <p:cNvPr id="45" name="Text 43"/>
          <p:cNvSpPr/>
          <p:nvPr/>
        </p:nvSpPr>
        <p:spPr>
          <a:xfrm>
            <a:off x="6373368" y="2999232"/>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Prompt files for reusable templates</a:t>
            </a:r>
            <a:endParaRPr lang="en-US" sz="950" dirty="0"/>
          </a:p>
        </p:txBody>
      </p:sp>
      <p:sp>
        <p:nvSpPr>
          <p:cNvPr id="46" name="Shape 44"/>
          <p:cNvSpPr/>
          <p:nvPr/>
        </p:nvSpPr>
        <p:spPr>
          <a:xfrm>
            <a:off x="6236208" y="3575304"/>
            <a:ext cx="91440" cy="91440"/>
          </a:xfrm>
          <a:prstGeom prst="ellipse">
            <a:avLst/>
          </a:prstGeom>
          <a:solidFill>
            <a:srgbClr val="E3672B"/>
          </a:solidFill>
          <a:ln w="12700">
            <a:solidFill>
              <a:srgbClr val="E3672B"/>
            </a:solidFill>
            <a:prstDash val="solid"/>
          </a:ln>
        </p:spPr>
        <p:txBody>
          <a:bodyPr/>
          <a:lstStyle/>
          <a:p>
            <a:endParaRPr lang="en-US"/>
          </a:p>
        </p:txBody>
      </p:sp>
      <p:sp>
        <p:nvSpPr>
          <p:cNvPr id="47" name="Text 45"/>
          <p:cNvSpPr/>
          <p:nvPr/>
        </p:nvSpPr>
        <p:spPr>
          <a:xfrm>
            <a:off x="6373368" y="3520440"/>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Custom agents with focused tool sets</a:t>
            </a:r>
            <a:endParaRPr lang="en-US" sz="950" dirty="0"/>
          </a:p>
        </p:txBody>
      </p:sp>
      <p:sp>
        <p:nvSpPr>
          <p:cNvPr id="48" name="Shape 46"/>
          <p:cNvSpPr/>
          <p:nvPr/>
        </p:nvSpPr>
        <p:spPr>
          <a:xfrm>
            <a:off x="6236208" y="4096512"/>
            <a:ext cx="91440" cy="91440"/>
          </a:xfrm>
          <a:prstGeom prst="ellipse">
            <a:avLst/>
          </a:prstGeom>
          <a:solidFill>
            <a:srgbClr val="E3672B"/>
          </a:solidFill>
          <a:ln w="12700">
            <a:solidFill>
              <a:srgbClr val="E3672B"/>
            </a:solidFill>
            <a:prstDash val="solid"/>
          </a:ln>
        </p:spPr>
        <p:txBody>
          <a:bodyPr/>
          <a:lstStyle/>
          <a:p>
            <a:endParaRPr lang="en-US"/>
          </a:p>
        </p:txBody>
      </p:sp>
      <p:sp>
        <p:nvSpPr>
          <p:cNvPr id="49" name="Text 47"/>
          <p:cNvSpPr/>
          <p:nvPr/>
        </p:nvSpPr>
        <p:spPr>
          <a:xfrm>
            <a:off x="6373368" y="4041648"/>
            <a:ext cx="2423160" cy="457200"/>
          </a:xfrm>
          <a:prstGeom prst="rect">
            <a:avLst/>
          </a:prstGeom>
          <a:noFill/>
          <a:ln/>
        </p:spPr>
        <p:txBody>
          <a:bodyPr wrap="square" rtlCol="0" anchor="ctr"/>
          <a:lstStyle/>
          <a:p>
            <a:pPr marL="0" indent="0">
              <a:buNone/>
            </a:pPr>
            <a:r>
              <a:rPr lang="en-US" altLang="en-US" sz="950" dirty="0">
                <a:solidFill>
                  <a:srgbClr val="F0F6FC"/>
                </a:solidFill>
                <a:latin typeface="Calibri" pitchFamily="34" charset="0"/>
                <a:ea typeface="Calibri" pitchFamily="34" charset="-122"/>
                <a:cs typeface="Calibri" pitchFamily="34" charset="-120"/>
              </a:rPr>
              <a:t>Monitor with /context slash command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 Caveman Skill</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Why use many token when few token do trick?</a:t>
            </a:r>
            <a:endParaRPr lang="en-US" sz="1300" dirty="0"/>
          </a:p>
        </p:txBody>
      </p:sp>
      <p:sp>
        <p:nvSpPr>
          <p:cNvPr id="5" name="Shape 3"/>
          <p:cNvSpPr/>
          <p:nvPr/>
        </p:nvSpPr>
        <p:spPr>
          <a:xfrm>
            <a:off x="320040" y="1005840"/>
            <a:ext cx="4937760" cy="3474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457200" y="1097280"/>
            <a:ext cx="4663440" cy="320040"/>
          </a:xfrm>
          <a:prstGeom prst="rect">
            <a:avLst/>
          </a:prstGeom>
          <a:noFill/>
          <a:ln/>
        </p:spPr>
        <p:txBody>
          <a:bodyPr wrap="square" rtlCol="0" anchor="ctr"/>
          <a:lstStyle/>
          <a:p>
            <a:pPr marL="0" indent="0">
              <a:buNone/>
            </a:pPr>
            <a:r>
              <a:rPr lang="en-US" altLang="en-US" sz="1300" b="1" dirty="0">
                <a:solidFill>
                  <a:srgbClr val="E3672B"/>
                </a:solidFill>
                <a:latin typeface="Calibri" pitchFamily="34" charset="0"/>
                <a:ea typeface="Calibri" pitchFamily="34" charset="-122"/>
                <a:cs typeface="Calibri" pitchFamily="34" charset="-120"/>
              </a:rPr>
              <a:t>What it does</a:t>
            </a:r>
            <a:endParaRPr lang="en-US" sz="1300" dirty="0"/>
          </a:p>
        </p:txBody>
      </p:sp>
      <p:sp>
        <p:nvSpPr>
          <p:cNvPr id="7" name="Text 5"/>
          <p:cNvSpPr/>
          <p:nvPr/>
        </p:nvSpPr>
        <p:spPr>
          <a:xfrm>
            <a:off x="457200" y="1481328"/>
            <a:ext cx="4663440" cy="2651760"/>
          </a:xfrm>
          <a:prstGeom prst="rect">
            <a:avLst/>
          </a:prstGeom>
          <a:noFill/>
          <a:ln/>
        </p:spPr>
        <p:txBody>
          <a:bodyPr wrap="square" rtlCol="0" anchor="ctr"/>
          <a:lstStyle/>
          <a:p>
            <a:pPr marL="0" indent="0">
              <a:buNone/>
            </a:pPr>
            <a:r>
              <a:rPr lang="en-US" altLang="en-US" sz="1050" dirty="0">
                <a:solidFill>
                  <a:srgbClr val="8B949E"/>
                </a:solidFill>
                <a:latin typeface="Calibri" pitchFamily="34" charset="0"/>
                <a:ea typeface="Calibri" pitchFamily="34" charset="-122"/>
                <a:cs typeface="Calibri" pitchFamily="34" charset="-120"/>
              </a:rPr>
              <a:t>Instructs Copilot to respond in compressed, caveman-style prose while keeping full technical accuracy. Eliminates AI filler like:
</a:t>
            </a:r>
            <a:r>
              <a:rPr lang="en-US" altLang="en-US" sz="1050" i="1" dirty="0">
                <a:solidFill>
                  <a:srgbClr val="8B949E"/>
                </a:solidFill>
                <a:latin typeface="Calibri" pitchFamily="34" charset="0"/>
                <a:ea typeface="Calibri" pitchFamily="34" charset="-122"/>
                <a:cs typeface="Calibri" pitchFamily="34" charset="-120"/>
              </a:rPr>
              <a:t>"I'd be happy to help you with that. The issue you're experiencing is most likely caused by..."</a:t>
            </a:r>
            <a:r>
              <a:rPr lang="en-US" altLang="en-US" sz="1050" dirty="0">
                <a:solidFill>
                  <a:srgbClr val="8B949E"/>
                </a:solidFill>
                <a:latin typeface="Calibri" pitchFamily="34" charset="0"/>
                <a:ea typeface="Calibri" pitchFamily="34" charset="-122"/>
                <a:cs typeface="Calibri" pitchFamily="34" charset="-120"/>
              </a:rPr>
              <a:t>
→ Becomes:
</a:t>
            </a:r>
            <a:r>
              <a:rPr lang="en-US" altLang="en-US" sz="1050" b="1" dirty="0">
                <a:solidFill>
                  <a:srgbClr val="238636"/>
                </a:solidFill>
                <a:latin typeface="Calibri" pitchFamily="34" charset="0"/>
                <a:ea typeface="Calibri" pitchFamily="34" charset="-122"/>
                <a:cs typeface="Calibri" pitchFamily="34" charset="-120"/>
              </a:rPr>
              <a:t>"Bug in auth middleware. Token expiry not checked. Fix: validate exp claim before processing."</a:t>
            </a:r>
            <a:endParaRPr lang="en-US" sz="1050" dirty="0"/>
          </a:p>
        </p:txBody>
      </p:sp>
      <p:sp>
        <p:nvSpPr>
          <p:cNvPr id="8" name="Shape 6"/>
          <p:cNvSpPr/>
          <p:nvPr/>
        </p:nvSpPr>
        <p:spPr>
          <a:xfrm>
            <a:off x="5486400" y="1005840"/>
            <a:ext cx="3337560" cy="3474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9" name="Text 7"/>
          <p:cNvSpPr/>
          <p:nvPr/>
        </p:nvSpPr>
        <p:spPr>
          <a:xfrm>
            <a:off x="5623560" y="1097280"/>
            <a:ext cx="3063240" cy="320040"/>
          </a:xfrm>
          <a:prstGeom prst="rect">
            <a:avLst/>
          </a:prstGeom>
          <a:noFill/>
          <a:ln/>
        </p:spPr>
        <p:txBody>
          <a:bodyPr wrap="square" rtlCol="0" anchor="ctr"/>
          <a:lstStyle/>
          <a:p>
            <a:pPr marL="0" indent="0">
              <a:buNone/>
            </a:pPr>
            <a:r>
              <a:rPr lang="en-US" altLang="en-US" sz="1300" b="1" dirty="0">
                <a:solidFill>
                  <a:srgbClr val="E3672B"/>
                </a:solidFill>
                <a:latin typeface="Calibri" pitchFamily="34" charset="0"/>
                <a:ea typeface="Calibri" pitchFamily="34" charset="-122"/>
                <a:cs typeface="Calibri" pitchFamily="34" charset="-120"/>
              </a:rPr>
              <a:t>By the numbers</a:t>
            </a:r>
            <a:endParaRPr lang="en-US" sz="1300" dirty="0"/>
          </a:p>
        </p:txBody>
      </p:sp>
      <p:sp>
        <p:nvSpPr>
          <p:cNvPr id="10" name="Text 8"/>
          <p:cNvSpPr/>
          <p:nvPr/>
        </p:nvSpPr>
        <p:spPr>
          <a:xfrm>
            <a:off x="5623560" y="1508760"/>
            <a:ext cx="3063240" cy="384048"/>
          </a:xfrm>
          <a:prstGeom prst="rect">
            <a:avLst/>
          </a:prstGeom>
          <a:noFill/>
          <a:ln/>
        </p:spPr>
        <p:txBody>
          <a:bodyPr wrap="square" rtlCol="0" anchor="ctr"/>
          <a:lstStyle/>
          <a:p>
            <a:pPr marL="0" indent="0">
              <a:buNone/>
            </a:pPr>
            <a:r>
              <a:rPr lang="en-US" altLang="en-US" sz="2200" b="1" dirty="0">
                <a:solidFill>
                  <a:srgbClr val="238636"/>
                </a:solidFill>
                <a:latin typeface="Calibri" pitchFamily="34" charset="0"/>
                <a:ea typeface="Calibri" pitchFamily="34" charset="-122"/>
                <a:cs typeface="Calibri" pitchFamily="34" charset="-120"/>
              </a:rPr>
              <a:t>65%</a:t>
            </a:r>
            <a:endParaRPr lang="en-US" sz="2200" dirty="0"/>
          </a:p>
        </p:txBody>
      </p:sp>
      <p:sp>
        <p:nvSpPr>
          <p:cNvPr id="11" name="Text 9"/>
          <p:cNvSpPr/>
          <p:nvPr/>
        </p:nvSpPr>
        <p:spPr>
          <a:xfrm>
            <a:off x="5623560" y="1847088"/>
            <a:ext cx="3063240" cy="256032"/>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Avg output reduction (own benchmark, 10 prompts)</a:t>
            </a:r>
            <a:endParaRPr lang="en-US" sz="950" dirty="0"/>
          </a:p>
        </p:txBody>
      </p:sp>
      <p:sp>
        <p:nvSpPr>
          <p:cNvPr id="12" name="Shape 10"/>
          <p:cNvSpPr/>
          <p:nvPr/>
        </p:nvSpPr>
        <p:spPr>
          <a:xfrm>
            <a:off x="5623560" y="2176272"/>
            <a:ext cx="3063240" cy="9144"/>
          </a:xfrm>
          <a:prstGeom prst="rect">
            <a:avLst/>
          </a:prstGeom>
          <a:solidFill>
            <a:srgbClr val="30363D"/>
          </a:solidFill>
          <a:ln w="12700">
            <a:solidFill>
              <a:srgbClr val="30363D"/>
            </a:solidFill>
            <a:prstDash val="solid"/>
          </a:ln>
        </p:spPr>
        <p:txBody>
          <a:bodyPr/>
          <a:lstStyle/>
          <a:p>
            <a:endParaRPr lang="en-US"/>
          </a:p>
        </p:txBody>
      </p:sp>
      <p:sp>
        <p:nvSpPr>
          <p:cNvPr id="13" name="Text 11"/>
          <p:cNvSpPr/>
          <p:nvPr/>
        </p:nvSpPr>
        <p:spPr>
          <a:xfrm>
            <a:off x="5623560" y="2258568"/>
            <a:ext cx="3063240" cy="384048"/>
          </a:xfrm>
          <a:prstGeom prst="rect">
            <a:avLst/>
          </a:prstGeom>
          <a:noFill/>
          <a:ln/>
        </p:spPr>
        <p:txBody>
          <a:bodyPr wrap="square" rtlCol="0" anchor="ctr"/>
          <a:lstStyle/>
          <a:p>
            <a:pPr marL="0" indent="0">
              <a:buNone/>
            </a:pPr>
            <a:r>
              <a:rPr lang="en-US" altLang="en-US" sz="2200" b="1" dirty="0">
                <a:solidFill>
                  <a:srgbClr val="1F6FEB"/>
                </a:solidFill>
                <a:latin typeface="Calibri" pitchFamily="34" charset="0"/>
                <a:ea typeface="Calibri" pitchFamily="34" charset="-122"/>
                <a:cs typeface="Calibri" pitchFamily="34" charset="-120"/>
              </a:rPr>
              <a:t>22–87%</a:t>
            </a:r>
            <a:endParaRPr lang="en-US" sz="2200" dirty="0"/>
          </a:p>
        </p:txBody>
      </p:sp>
      <p:sp>
        <p:nvSpPr>
          <p:cNvPr id="14" name="Text 12"/>
          <p:cNvSpPr/>
          <p:nvPr/>
        </p:nvSpPr>
        <p:spPr>
          <a:xfrm>
            <a:off x="5623560" y="2596896"/>
            <a:ext cx="3063240" cy="256032"/>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Range depending on task type</a:t>
            </a:r>
            <a:endParaRPr lang="en-US" sz="950" dirty="0"/>
          </a:p>
        </p:txBody>
      </p:sp>
      <p:sp>
        <p:nvSpPr>
          <p:cNvPr id="15" name="Shape 13"/>
          <p:cNvSpPr/>
          <p:nvPr/>
        </p:nvSpPr>
        <p:spPr>
          <a:xfrm>
            <a:off x="5623560" y="2926080"/>
            <a:ext cx="3063240" cy="9144"/>
          </a:xfrm>
          <a:prstGeom prst="rect">
            <a:avLst/>
          </a:prstGeom>
          <a:solidFill>
            <a:srgbClr val="30363D"/>
          </a:solidFill>
          <a:ln w="12700">
            <a:solidFill>
              <a:srgbClr val="30363D"/>
            </a:solidFill>
            <a:prstDash val="solid"/>
          </a:ln>
        </p:spPr>
        <p:txBody>
          <a:bodyPr/>
          <a:lstStyle/>
          <a:p>
            <a:endParaRPr lang="en-US"/>
          </a:p>
        </p:txBody>
      </p:sp>
      <p:sp>
        <p:nvSpPr>
          <p:cNvPr id="16" name="Text 14"/>
          <p:cNvSpPr/>
          <p:nvPr/>
        </p:nvSpPr>
        <p:spPr>
          <a:xfrm>
            <a:off x="5623560" y="3008376"/>
            <a:ext cx="3063240" cy="384048"/>
          </a:xfrm>
          <a:prstGeom prst="rect">
            <a:avLst/>
          </a:prstGeom>
          <a:noFill/>
          <a:ln/>
        </p:spPr>
        <p:txBody>
          <a:bodyPr wrap="square" rtlCol="0" anchor="ctr"/>
          <a:lstStyle/>
          <a:p>
            <a:pPr marL="0" indent="0">
              <a:buNone/>
            </a:pPr>
            <a:r>
              <a:rPr lang="en-US" altLang="en-US" sz="1600" b="1" dirty="0">
                <a:solidFill>
                  <a:srgbClr val="8250DF"/>
                </a:solidFill>
                <a:latin typeface="Calibri" pitchFamily="34" charset="0"/>
                <a:ea typeface="Calibri" pitchFamily="34" charset="-122"/>
                <a:cs typeface="Calibri" pitchFamily="34" charset="-120"/>
              </a:rPr>
              <a:t>up to 75%</a:t>
            </a:r>
            <a:endParaRPr lang="en-US" sz="1600" dirty="0"/>
          </a:p>
        </p:txBody>
      </p:sp>
      <p:sp>
        <p:nvSpPr>
          <p:cNvPr id="17" name="Text 15"/>
          <p:cNvSpPr/>
          <p:nvPr/>
        </p:nvSpPr>
        <p:spPr>
          <a:xfrm>
            <a:off x="5623560" y="3346704"/>
            <a:ext cx="3063240" cy="256032"/>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Best-case (marketing claim — results vary)</a:t>
            </a:r>
            <a:endParaRPr lang="en-US" sz="950" dirty="0"/>
          </a:p>
        </p:txBody>
      </p:sp>
      <p:sp>
        <p:nvSpPr>
          <p:cNvPr id="18" name="Shape 16"/>
          <p:cNvSpPr/>
          <p:nvPr/>
        </p:nvSpPr>
        <p:spPr>
          <a:xfrm>
            <a:off x="5623560" y="3675888"/>
            <a:ext cx="3063240" cy="9144"/>
          </a:xfrm>
          <a:prstGeom prst="rect">
            <a:avLst/>
          </a:prstGeom>
          <a:solidFill>
            <a:srgbClr val="30363D"/>
          </a:solidFill>
          <a:ln w="12700">
            <a:solidFill>
              <a:srgbClr val="30363D"/>
            </a:solidFill>
            <a:prstDash val="solid"/>
          </a:ln>
        </p:spPr>
        <p:txBody>
          <a:bodyPr/>
          <a:lstStyle/>
          <a:p>
            <a:endParaRPr lang="en-US"/>
          </a:p>
        </p:txBody>
      </p:sp>
      <p:sp>
        <p:nvSpPr>
          <p:cNvPr id="19" name="Text 17"/>
          <p:cNvSpPr/>
          <p:nvPr/>
        </p:nvSpPr>
        <p:spPr>
          <a:xfrm>
            <a:off x="5623560" y="3758184"/>
            <a:ext cx="3063240" cy="384048"/>
          </a:xfrm>
          <a:prstGeom prst="rect">
            <a:avLst/>
          </a:prstGeom>
          <a:noFill/>
          <a:ln/>
        </p:spPr>
        <p:txBody>
          <a:bodyPr wrap="square" rtlCol="0" anchor="ctr"/>
          <a:lstStyle/>
          <a:p>
            <a:pPr marL="0" indent="0">
              <a:buNone/>
            </a:pPr>
            <a:r>
              <a:rPr lang="en-US" altLang="en-US" sz="2200" b="1" dirty="0">
                <a:solidFill>
                  <a:srgbClr val="E3672B"/>
                </a:solidFill>
                <a:latin typeface="Calibri" pitchFamily="34" charset="0"/>
                <a:ea typeface="Calibri" pitchFamily="34" charset="-122"/>
                <a:cs typeface="Calibri" pitchFamily="34" charset="-120"/>
              </a:rPr>
              <a:t>54k+ ⭐</a:t>
            </a:r>
            <a:endParaRPr lang="en-US" sz="2200" dirty="0"/>
          </a:p>
        </p:txBody>
      </p:sp>
      <p:sp>
        <p:nvSpPr>
          <p:cNvPr id="20" name="Text 18"/>
          <p:cNvSpPr/>
          <p:nvPr/>
        </p:nvSpPr>
        <p:spPr>
          <a:xfrm>
            <a:off x="5623560" y="4096512"/>
            <a:ext cx="3063240" cy="256032"/>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GitHub stars</a:t>
            </a:r>
            <a:endParaRPr lang="en-US" sz="950" dirty="0"/>
          </a:p>
        </p:txBody>
      </p:sp>
      <p:sp>
        <p:nvSpPr>
          <p:cNvPr id="21" name="Shape 19"/>
          <p:cNvSpPr/>
          <p:nvPr/>
        </p:nvSpPr>
        <p:spPr>
          <a:xfrm>
            <a:off x="320040" y="4572000"/>
            <a:ext cx="8503920" cy="347472"/>
          </a:xfrm>
          <a:prstGeom prst="roundRect">
            <a:avLst>
              <a:gd name="adj" fmla="val 15789"/>
            </a:avLst>
          </a:prstGeom>
          <a:solidFill>
            <a:srgbClr val="161B22"/>
          </a:solidFill>
          <a:ln w="12700">
            <a:solidFill>
              <a:srgbClr val="E3672B"/>
            </a:solidFill>
            <a:prstDash val="solid"/>
          </a:ln>
        </p:spPr>
        <p:txBody>
          <a:bodyPr/>
          <a:lstStyle/>
          <a:p>
            <a:endParaRPr lang="en-US"/>
          </a:p>
        </p:txBody>
      </p:sp>
      <p:sp>
        <p:nvSpPr>
          <p:cNvPr id="22" name="Text 20"/>
          <p:cNvSpPr/>
          <p:nvPr/>
        </p:nvSpPr>
        <p:spPr>
          <a:xfrm>
            <a:off x="457200" y="4590288"/>
            <a:ext cx="8321040" cy="310896"/>
          </a:xfrm>
          <a:prstGeom prst="rect">
            <a:avLst/>
          </a:prstGeom>
          <a:noFill/>
          <a:ln/>
        </p:spPr>
        <p:txBody>
          <a:bodyPr wrap="square" rtlCol="0" anchor="ctr"/>
          <a:lstStyle/>
          <a:p>
            <a:pPr marL="0" indent="0" algn="ctr">
              <a:buNone/>
            </a:pPr>
            <a:r>
              <a:rPr lang="en-US" altLang="en-US" sz="950" dirty="0">
                <a:solidFill>
                  <a:srgbClr val="E3672B"/>
                </a:solidFill>
                <a:latin typeface="Calibri" pitchFamily="34" charset="0"/>
                <a:ea typeface="Calibri" pitchFamily="34" charset="-122"/>
                <a:cs typeface="Calibri" pitchFamily="34" charset="-120"/>
              </a:rPr>
              <a:t>Install: github.com/JuliusBrussee/caveman   |   Works with Copilot, Claude Code, Cursor, Windsurf, 40+ agents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 RTK Plugin</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Filter and compress CLI output before it hits the context window</a:t>
            </a:r>
            <a:endParaRPr lang="en-US" sz="1300" dirty="0"/>
          </a:p>
        </p:txBody>
      </p:sp>
      <p:sp>
        <p:nvSpPr>
          <p:cNvPr id="5" name="Shape 3"/>
          <p:cNvSpPr/>
          <p:nvPr/>
        </p:nvSpPr>
        <p:spPr>
          <a:xfrm>
            <a:off x="320040" y="1005840"/>
            <a:ext cx="4937760" cy="3474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457200" y="1097280"/>
            <a:ext cx="4663440" cy="320040"/>
          </a:xfrm>
          <a:prstGeom prst="rect">
            <a:avLst/>
          </a:prstGeom>
          <a:noFill/>
          <a:ln/>
        </p:spPr>
        <p:txBody>
          <a:bodyPr wrap="square" rtlCol="0" anchor="ctr"/>
          <a:lstStyle/>
          <a:p>
            <a:pPr marL="0" indent="0">
              <a:buNone/>
            </a:pPr>
            <a:r>
              <a:rPr lang="en-US" altLang="en-US" sz="1300" b="1" dirty="0">
                <a:solidFill>
                  <a:srgbClr val="1F6FEB"/>
                </a:solidFill>
                <a:latin typeface="Calibri" pitchFamily="34" charset="0"/>
                <a:ea typeface="Calibri" pitchFamily="34" charset="-122"/>
                <a:cs typeface="Calibri" pitchFamily="34" charset="-120"/>
              </a:rPr>
              <a:t>What it does</a:t>
            </a:r>
            <a:endParaRPr lang="en-US" sz="1300" dirty="0"/>
          </a:p>
        </p:txBody>
      </p:sp>
      <p:sp>
        <p:nvSpPr>
          <p:cNvPr id="7" name="Text 5"/>
          <p:cNvSpPr/>
          <p:nvPr/>
        </p:nvSpPr>
        <p:spPr>
          <a:xfrm>
            <a:off x="457200" y="1481328"/>
            <a:ext cx="4663440" cy="1554480"/>
          </a:xfrm>
          <a:prstGeom prst="rect">
            <a:avLst/>
          </a:prstGeom>
          <a:noFill/>
          <a:ln/>
        </p:spPr>
        <p:txBody>
          <a:bodyPr wrap="square" rtlCol="0" anchor="ctr"/>
          <a:lstStyle/>
          <a:p>
            <a:pPr marL="0" indent="0">
              <a:buNone/>
            </a:pPr>
            <a:r>
              <a:rPr lang="en-US" altLang="en-US" sz="1050" dirty="0">
                <a:solidFill>
                  <a:srgbClr val="8B949E"/>
                </a:solidFill>
                <a:latin typeface="Calibri" pitchFamily="34" charset="0"/>
                <a:ea typeface="Calibri" pitchFamily="34" charset="-122"/>
                <a:cs typeface="Calibri" pitchFamily="34" charset="-120"/>
              </a:rPr>
              <a:t>RTK is a CLI proxy (single Rust binary) that intercepts tool outputs — like git status, npm test, dotnet build — and compresses them before they reach your AI context.</a:t>
            </a:r>
            <a:endParaRPr lang="en-US" sz="1050" dirty="0"/>
          </a:p>
          <a:p>
            <a:pPr marL="0" indent="0">
              <a:buNone/>
            </a:pPr>
            <a:endParaRPr lang="en-US" sz="1050" dirty="0"/>
          </a:p>
          <a:p>
            <a:pPr marL="0" indent="0">
              <a:buNone/>
            </a:pPr>
            <a:r>
              <a:rPr lang="en-US" altLang="en-US" sz="1050" dirty="0">
                <a:solidFill>
                  <a:srgbClr val="8B949E"/>
                </a:solidFill>
                <a:latin typeface="Calibri" pitchFamily="34" charset="0"/>
                <a:ea typeface="Calibri" pitchFamily="34" charset="-122"/>
                <a:cs typeface="Calibri" pitchFamily="34" charset="-120"/>
              </a:rPr>
              <a:t>Instead of dumping 2,000 lines of build output into the context window, RTK sends a compact summary. Hook-based: rewrites commands transparently.</a:t>
            </a:r>
            <a:endParaRPr lang="en-US" sz="1050" dirty="0"/>
          </a:p>
        </p:txBody>
      </p:sp>
      <p:sp>
        <p:nvSpPr>
          <p:cNvPr id="8" name="Shape 6"/>
          <p:cNvSpPr/>
          <p:nvPr/>
        </p:nvSpPr>
        <p:spPr>
          <a:xfrm>
            <a:off x="457200" y="3090672"/>
            <a:ext cx="2240280" cy="256032"/>
          </a:xfrm>
          <a:prstGeom prst="rect">
            <a:avLst/>
          </a:prstGeom>
          <a:solidFill>
            <a:srgbClr val="4B1113"/>
          </a:solidFill>
          <a:ln w="12700">
            <a:solidFill>
              <a:srgbClr val="4B1113"/>
            </a:solidFill>
            <a:prstDash val="solid"/>
          </a:ln>
        </p:spPr>
        <p:txBody>
          <a:bodyPr/>
          <a:lstStyle/>
          <a:p>
            <a:endParaRPr lang="en-US"/>
          </a:p>
        </p:txBody>
      </p:sp>
      <p:sp>
        <p:nvSpPr>
          <p:cNvPr id="9" name="Text 7"/>
          <p:cNvSpPr/>
          <p:nvPr/>
        </p:nvSpPr>
        <p:spPr>
          <a:xfrm>
            <a:off x="457200" y="3090672"/>
            <a:ext cx="2240280" cy="256032"/>
          </a:xfrm>
          <a:prstGeom prst="rect">
            <a:avLst/>
          </a:prstGeom>
          <a:noFill/>
          <a:ln/>
        </p:spPr>
        <p:txBody>
          <a:bodyPr wrap="square" rtlCol="0" anchor="ctr"/>
          <a:lstStyle/>
          <a:p>
            <a:pPr marL="0" indent="0">
              <a:buNone/>
            </a:pPr>
            <a:r>
              <a:rPr lang="en-US" altLang="en-US" sz="900" b="1" dirty="0">
                <a:solidFill>
                  <a:srgbClr val="FF6B6B"/>
                </a:solidFill>
                <a:latin typeface="Consolas" pitchFamily="34" charset="0"/>
                <a:ea typeface="Consolas" pitchFamily="34" charset="-122"/>
                <a:cs typeface="Consolas" pitchFamily="34" charset="-120"/>
              </a:rPr>
              <a:t>BEFORE  git status</a:t>
            </a:r>
            <a:endParaRPr lang="en-US" sz="900" dirty="0"/>
          </a:p>
        </p:txBody>
      </p:sp>
      <p:sp>
        <p:nvSpPr>
          <p:cNvPr id="10" name="Shape 8"/>
          <p:cNvSpPr/>
          <p:nvPr/>
        </p:nvSpPr>
        <p:spPr>
          <a:xfrm>
            <a:off x="457200" y="3364992"/>
            <a:ext cx="4663440" cy="438912"/>
          </a:xfrm>
          <a:prstGeom prst="rect">
            <a:avLst/>
          </a:prstGeom>
          <a:solidFill>
            <a:srgbClr val="161B22"/>
          </a:solidFill>
          <a:ln w="12700">
            <a:solidFill>
              <a:srgbClr val="30363D"/>
            </a:solidFill>
            <a:prstDash val="solid"/>
          </a:ln>
        </p:spPr>
        <p:txBody>
          <a:bodyPr/>
          <a:lstStyle/>
          <a:p>
            <a:endParaRPr lang="en-US"/>
          </a:p>
        </p:txBody>
      </p:sp>
      <p:sp>
        <p:nvSpPr>
          <p:cNvPr id="11" name="Text 9"/>
          <p:cNvSpPr/>
          <p:nvPr/>
        </p:nvSpPr>
        <p:spPr>
          <a:xfrm>
            <a:off x="548640" y="3383280"/>
            <a:ext cx="4572000" cy="402336"/>
          </a:xfrm>
          <a:prstGeom prst="rect">
            <a:avLst/>
          </a:prstGeom>
          <a:noFill/>
          <a:ln/>
        </p:spPr>
        <p:txBody>
          <a:bodyPr wrap="square" rtlCol="0" anchor="ctr"/>
          <a:lstStyle/>
          <a:p>
            <a:pPr marL="0" indent="0">
              <a:buNone/>
            </a:pPr>
            <a:r>
              <a:rPr lang="en-US" altLang="en-US" sz="800" dirty="0">
                <a:solidFill>
                  <a:srgbClr val="8B949E"/>
                </a:solidFill>
                <a:latin typeface="Consolas" pitchFamily="34" charset="0"/>
                <a:ea typeface="Consolas" pitchFamily="34" charset="-122"/>
                <a:cs typeface="Consolas" pitchFamily="34" charset="-120"/>
              </a:rPr>
              <a:t>On branch main</a:t>
            </a:r>
            <a:endParaRPr lang="en-US" sz="800" dirty="0"/>
          </a:p>
          <a:p>
            <a:pPr marL="0" indent="0">
              <a:buNone/>
            </a:pPr>
            <a:r>
              <a:rPr lang="en-US" altLang="en-US" sz="800" dirty="0">
                <a:solidFill>
                  <a:srgbClr val="8B949E"/>
                </a:solidFill>
                <a:latin typeface="Consolas" pitchFamily="34" charset="0"/>
                <a:ea typeface="Consolas" pitchFamily="34" charset="-122"/>
                <a:cs typeface="Consolas" pitchFamily="34" charset="-120"/>
              </a:rPr>
              <a:t>Your branch is up to date with 'origin/main'.</a:t>
            </a:r>
            <a:endParaRPr lang="en-US" sz="800" dirty="0"/>
          </a:p>
          <a:p>
            <a:pPr marL="0" indent="0">
              <a:buNone/>
            </a:pPr>
            <a:r>
              <a:rPr lang="en-US" altLang="en-US" sz="800" dirty="0">
                <a:solidFill>
                  <a:srgbClr val="8B949E"/>
                </a:solidFill>
                <a:latin typeface="Consolas" pitchFamily="34" charset="0"/>
                <a:ea typeface="Consolas" pitchFamily="34" charset="-122"/>
                <a:cs typeface="Consolas" pitchFamily="34" charset="-120"/>
              </a:rPr>
              <a:t>[...2,100 tokens of verbose output...]</a:t>
            </a:r>
            <a:endParaRPr lang="en-US" sz="800" dirty="0"/>
          </a:p>
        </p:txBody>
      </p:sp>
      <p:sp>
        <p:nvSpPr>
          <p:cNvPr id="12" name="Shape 10"/>
          <p:cNvSpPr/>
          <p:nvPr/>
        </p:nvSpPr>
        <p:spPr>
          <a:xfrm>
            <a:off x="457200" y="3858768"/>
            <a:ext cx="2240280" cy="256032"/>
          </a:xfrm>
          <a:prstGeom prst="rect">
            <a:avLst/>
          </a:prstGeom>
          <a:solidFill>
            <a:srgbClr val="0D2E18"/>
          </a:solidFill>
          <a:ln w="12700">
            <a:solidFill>
              <a:srgbClr val="0D2E18"/>
            </a:solidFill>
            <a:prstDash val="solid"/>
          </a:ln>
        </p:spPr>
        <p:txBody>
          <a:bodyPr/>
          <a:lstStyle/>
          <a:p>
            <a:endParaRPr lang="en-US"/>
          </a:p>
        </p:txBody>
      </p:sp>
      <p:sp>
        <p:nvSpPr>
          <p:cNvPr id="13" name="Text 11"/>
          <p:cNvSpPr/>
          <p:nvPr/>
        </p:nvSpPr>
        <p:spPr>
          <a:xfrm>
            <a:off x="457200" y="3858768"/>
            <a:ext cx="2240280" cy="256032"/>
          </a:xfrm>
          <a:prstGeom prst="rect">
            <a:avLst/>
          </a:prstGeom>
          <a:noFill/>
          <a:ln/>
        </p:spPr>
        <p:txBody>
          <a:bodyPr wrap="square" rtlCol="0" anchor="ctr"/>
          <a:lstStyle/>
          <a:p>
            <a:pPr marL="0" indent="0">
              <a:buNone/>
            </a:pPr>
            <a:r>
              <a:rPr lang="en-US" altLang="en-US" sz="900" b="1" dirty="0">
                <a:solidFill>
                  <a:srgbClr val="238636"/>
                </a:solidFill>
                <a:latin typeface="Consolas" pitchFamily="34" charset="0"/>
                <a:ea typeface="Consolas" pitchFamily="34" charset="-122"/>
                <a:cs typeface="Consolas" pitchFamily="34" charset="-120"/>
              </a:rPr>
              <a:t>AFTER   rtk git status</a:t>
            </a:r>
            <a:endParaRPr lang="en-US" sz="900" dirty="0"/>
          </a:p>
        </p:txBody>
      </p:sp>
      <p:sp>
        <p:nvSpPr>
          <p:cNvPr id="14" name="Shape 12"/>
          <p:cNvSpPr/>
          <p:nvPr/>
        </p:nvSpPr>
        <p:spPr>
          <a:xfrm>
            <a:off x="457200" y="4133088"/>
            <a:ext cx="4663440" cy="256032"/>
          </a:xfrm>
          <a:prstGeom prst="rect">
            <a:avLst/>
          </a:prstGeom>
          <a:solidFill>
            <a:srgbClr val="161B22"/>
          </a:solidFill>
          <a:ln w="12700">
            <a:solidFill>
              <a:srgbClr val="238636"/>
            </a:solidFill>
            <a:prstDash val="solid"/>
          </a:ln>
        </p:spPr>
        <p:txBody>
          <a:bodyPr/>
          <a:lstStyle/>
          <a:p>
            <a:endParaRPr lang="en-US"/>
          </a:p>
        </p:txBody>
      </p:sp>
      <p:sp>
        <p:nvSpPr>
          <p:cNvPr id="15" name="Text 13"/>
          <p:cNvSpPr/>
          <p:nvPr/>
        </p:nvSpPr>
        <p:spPr>
          <a:xfrm>
            <a:off x="548640" y="4151376"/>
            <a:ext cx="4572000" cy="219456"/>
          </a:xfrm>
          <a:prstGeom prst="rect">
            <a:avLst/>
          </a:prstGeom>
          <a:noFill/>
          <a:ln/>
        </p:spPr>
        <p:txBody>
          <a:bodyPr wrap="square" rtlCol="0" anchor="ctr"/>
          <a:lstStyle/>
          <a:p>
            <a:pPr marL="0" indent="0">
              <a:buNone/>
            </a:pPr>
            <a:r>
              <a:rPr lang="en-US" altLang="en-US" sz="800" dirty="0">
                <a:solidFill>
                  <a:srgbClr val="238636"/>
                </a:solidFill>
                <a:latin typeface="Consolas" pitchFamily="34" charset="0"/>
                <a:ea typeface="Consolas" pitchFamily="34" charset="-122"/>
                <a:cs typeface="Consolas" pitchFamily="34" charset="-120"/>
              </a:rPr>
              <a:t>branch: main | modified: 3 | staged: 1 | untracked: 2</a:t>
            </a:r>
            <a:endParaRPr lang="en-US" sz="800" dirty="0"/>
          </a:p>
        </p:txBody>
      </p:sp>
      <p:sp>
        <p:nvSpPr>
          <p:cNvPr id="16" name="Shape 14"/>
          <p:cNvSpPr/>
          <p:nvPr/>
        </p:nvSpPr>
        <p:spPr>
          <a:xfrm>
            <a:off x="5486400" y="1005840"/>
            <a:ext cx="3337560" cy="3474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17" name="Text 15"/>
          <p:cNvSpPr/>
          <p:nvPr/>
        </p:nvSpPr>
        <p:spPr>
          <a:xfrm>
            <a:off x="5623560" y="1097280"/>
            <a:ext cx="3063240" cy="320040"/>
          </a:xfrm>
          <a:prstGeom prst="rect">
            <a:avLst/>
          </a:prstGeom>
          <a:noFill/>
          <a:ln/>
        </p:spPr>
        <p:txBody>
          <a:bodyPr wrap="square" rtlCol="0" anchor="ctr"/>
          <a:lstStyle/>
          <a:p>
            <a:pPr marL="0" indent="0">
              <a:buNone/>
            </a:pPr>
            <a:r>
              <a:rPr lang="en-US" altLang="en-US" sz="1300" b="1" dirty="0">
                <a:solidFill>
                  <a:srgbClr val="1F6FEB"/>
                </a:solidFill>
                <a:latin typeface="Calibri" pitchFamily="34" charset="0"/>
                <a:ea typeface="Calibri" pitchFamily="34" charset="-122"/>
                <a:cs typeface="Calibri" pitchFamily="34" charset="-120"/>
              </a:rPr>
              <a:t>Savings</a:t>
            </a:r>
            <a:endParaRPr lang="en-US" sz="1300" dirty="0"/>
          </a:p>
        </p:txBody>
      </p:sp>
      <p:sp>
        <p:nvSpPr>
          <p:cNvPr id="18" name="Shape 16"/>
          <p:cNvSpPr/>
          <p:nvPr/>
        </p:nvSpPr>
        <p:spPr>
          <a:xfrm>
            <a:off x="5623560" y="1536192"/>
            <a:ext cx="3063240" cy="594360"/>
          </a:xfrm>
          <a:prstGeom prst="rect">
            <a:avLst/>
          </a:prstGeom>
          <a:solidFill>
            <a:srgbClr val="0D1117"/>
          </a:solidFill>
          <a:ln w="12700">
            <a:solidFill>
              <a:srgbClr val="30363D"/>
            </a:solidFill>
            <a:prstDash val="solid"/>
          </a:ln>
        </p:spPr>
        <p:txBody>
          <a:bodyPr/>
          <a:lstStyle/>
          <a:p>
            <a:endParaRPr lang="en-US"/>
          </a:p>
        </p:txBody>
      </p:sp>
      <p:sp>
        <p:nvSpPr>
          <p:cNvPr id="19" name="Text 17"/>
          <p:cNvSpPr/>
          <p:nvPr/>
        </p:nvSpPr>
        <p:spPr>
          <a:xfrm>
            <a:off x="5715000" y="1572768"/>
            <a:ext cx="2286000" cy="256032"/>
          </a:xfrm>
          <a:prstGeom prst="rect">
            <a:avLst/>
          </a:prstGeom>
          <a:noFill/>
          <a:ln/>
        </p:spPr>
        <p:txBody>
          <a:bodyPr wrap="square" rtlCol="0" anchor="ctr"/>
          <a:lstStyle/>
          <a:p>
            <a:pPr marL="0" indent="0">
              <a:buNone/>
            </a:pPr>
            <a:r>
              <a:rPr lang="en-US" altLang="en-US" sz="1000" b="1" dirty="0">
                <a:solidFill>
                  <a:srgbClr val="F0F6FC"/>
                </a:solidFill>
                <a:latin typeface="Consolas" pitchFamily="34" charset="0"/>
                <a:ea typeface="Consolas" pitchFamily="34" charset="-122"/>
                <a:cs typeface="Consolas" pitchFamily="34" charset="-120"/>
              </a:rPr>
              <a:t>git status</a:t>
            </a:r>
            <a:endParaRPr lang="en-US" sz="1000" dirty="0"/>
          </a:p>
        </p:txBody>
      </p:sp>
      <p:sp>
        <p:nvSpPr>
          <p:cNvPr id="20" name="Text 18"/>
          <p:cNvSpPr/>
          <p:nvPr/>
        </p:nvSpPr>
        <p:spPr>
          <a:xfrm>
            <a:off x="5715000" y="1819656"/>
            <a:ext cx="2286000" cy="201168"/>
          </a:xfrm>
          <a:prstGeom prst="rect">
            <a:avLst/>
          </a:prstGeom>
          <a:noFill/>
          <a:ln/>
        </p:spPr>
        <p:txBody>
          <a:bodyPr wrap="square" rtlCol="0" anchor="ctr"/>
          <a:lstStyle/>
          <a:p>
            <a:pPr marL="0" indent="0">
              <a:buNone/>
            </a:pPr>
            <a:r>
              <a:rPr lang="en-US" altLang="en-US" sz="900" dirty="0">
                <a:solidFill>
                  <a:srgbClr val="238636"/>
                </a:solidFill>
                <a:latin typeface="Calibri" pitchFamily="34" charset="0"/>
                <a:ea typeface="Calibri" pitchFamily="34" charset="-122"/>
                <a:cs typeface="Calibri" pitchFamily="34" charset="-120"/>
              </a:rPr>
              <a:t>~85% reduction</a:t>
            </a:r>
            <a:endParaRPr lang="en-US" sz="900" dirty="0"/>
          </a:p>
        </p:txBody>
      </p:sp>
      <p:sp>
        <p:nvSpPr>
          <p:cNvPr id="21" name="Text 19"/>
          <p:cNvSpPr/>
          <p:nvPr/>
        </p:nvSpPr>
        <p:spPr>
          <a:xfrm>
            <a:off x="7680960" y="1572768"/>
            <a:ext cx="731520" cy="411480"/>
          </a:xfrm>
          <a:prstGeom prst="rect">
            <a:avLst/>
          </a:prstGeom>
          <a:noFill/>
          <a:ln/>
        </p:spPr>
        <p:txBody>
          <a:bodyPr wrap="square" rtlCol="0" anchor="ctr"/>
          <a:lstStyle/>
          <a:p>
            <a:pPr marL="0" indent="0" algn="r">
              <a:buNone/>
            </a:pPr>
            <a:r>
              <a:rPr lang="en-US" altLang="en-US" sz="1400" b="1" dirty="0">
                <a:solidFill>
                  <a:srgbClr val="238636"/>
                </a:solidFill>
                <a:latin typeface="Calibri" pitchFamily="34" charset="0"/>
                <a:ea typeface="Calibri" pitchFamily="34" charset="-122"/>
                <a:cs typeface="Calibri" pitchFamily="34" charset="-120"/>
              </a:rPr>
              <a:t>saved</a:t>
            </a:r>
            <a:endParaRPr lang="en-US" sz="1400" dirty="0"/>
          </a:p>
        </p:txBody>
      </p:sp>
      <p:sp>
        <p:nvSpPr>
          <p:cNvPr id="22" name="Shape 20"/>
          <p:cNvSpPr/>
          <p:nvPr/>
        </p:nvSpPr>
        <p:spPr>
          <a:xfrm>
            <a:off x="5623560" y="2249424"/>
            <a:ext cx="3063240" cy="594360"/>
          </a:xfrm>
          <a:prstGeom prst="rect">
            <a:avLst/>
          </a:prstGeom>
          <a:solidFill>
            <a:srgbClr val="0D1117"/>
          </a:solidFill>
          <a:ln w="12700">
            <a:solidFill>
              <a:srgbClr val="30363D"/>
            </a:solidFill>
            <a:prstDash val="solid"/>
          </a:ln>
        </p:spPr>
        <p:txBody>
          <a:bodyPr/>
          <a:lstStyle/>
          <a:p>
            <a:endParaRPr lang="en-US"/>
          </a:p>
        </p:txBody>
      </p:sp>
      <p:sp>
        <p:nvSpPr>
          <p:cNvPr id="23" name="Text 21"/>
          <p:cNvSpPr/>
          <p:nvPr/>
        </p:nvSpPr>
        <p:spPr>
          <a:xfrm>
            <a:off x="5715000" y="2286000"/>
            <a:ext cx="2286000" cy="256032"/>
          </a:xfrm>
          <a:prstGeom prst="rect">
            <a:avLst/>
          </a:prstGeom>
          <a:noFill/>
          <a:ln/>
        </p:spPr>
        <p:txBody>
          <a:bodyPr wrap="square" rtlCol="0" anchor="ctr"/>
          <a:lstStyle/>
          <a:p>
            <a:pPr marL="0" indent="0">
              <a:buNone/>
            </a:pPr>
            <a:r>
              <a:rPr lang="en-US" altLang="en-US" sz="1000" b="1" dirty="0">
                <a:solidFill>
                  <a:srgbClr val="F0F6FC"/>
                </a:solidFill>
                <a:latin typeface="Consolas" pitchFamily="34" charset="0"/>
                <a:ea typeface="Consolas" pitchFamily="34" charset="-122"/>
                <a:cs typeface="Consolas" pitchFamily="34" charset="-120"/>
              </a:rPr>
              <a:t>dotnet build</a:t>
            </a:r>
            <a:endParaRPr lang="en-US" sz="1000" dirty="0"/>
          </a:p>
        </p:txBody>
      </p:sp>
      <p:sp>
        <p:nvSpPr>
          <p:cNvPr id="24" name="Text 22"/>
          <p:cNvSpPr/>
          <p:nvPr/>
        </p:nvSpPr>
        <p:spPr>
          <a:xfrm>
            <a:off x="5715000" y="2532888"/>
            <a:ext cx="2286000" cy="201168"/>
          </a:xfrm>
          <a:prstGeom prst="rect">
            <a:avLst/>
          </a:prstGeom>
          <a:noFill/>
          <a:ln/>
        </p:spPr>
        <p:txBody>
          <a:bodyPr wrap="square" rtlCol="0" anchor="ctr"/>
          <a:lstStyle/>
          <a:p>
            <a:pPr marL="0" indent="0">
              <a:buNone/>
            </a:pPr>
            <a:r>
              <a:rPr lang="en-US" altLang="en-US" sz="900" dirty="0">
                <a:solidFill>
                  <a:srgbClr val="238636"/>
                </a:solidFill>
                <a:latin typeface="Calibri" pitchFamily="34" charset="0"/>
                <a:ea typeface="Calibri" pitchFamily="34" charset="-122"/>
                <a:cs typeface="Calibri" pitchFamily="34" charset="-120"/>
              </a:rPr>
              <a:t>~80% reduction</a:t>
            </a:r>
            <a:endParaRPr lang="en-US" sz="900" dirty="0"/>
          </a:p>
        </p:txBody>
      </p:sp>
      <p:sp>
        <p:nvSpPr>
          <p:cNvPr id="25" name="Text 23"/>
          <p:cNvSpPr/>
          <p:nvPr/>
        </p:nvSpPr>
        <p:spPr>
          <a:xfrm>
            <a:off x="7680960" y="2286000"/>
            <a:ext cx="731520" cy="411480"/>
          </a:xfrm>
          <a:prstGeom prst="rect">
            <a:avLst/>
          </a:prstGeom>
          <a:noFill/>
          <a:ln/>
        </p:spPr>
        <p:txBody>
          <a:bodyPr wrap="square" rtlCol="0" anchor="ctr"/>
          <a:lstStyle/>
          <a:p>
            <a:pPr marL="0" indent="0" algn="r">
              <a:buNone/>
            </a:pPr>
            <a:r>
              <a:rPr lang="en-US" altLang="en-US" sz="1400" b="1" dirty="0">
                <a:solidFill>
                  <a:srgbClr val="238636"/>
                </a:solidFill>
                <a:latin typeface="Calibri" pitchFamily="34" charset="0"/>
                <a:ea typeface="Calibri" pitchFamily="34" charset="-122"/>
                <a:cs typeface="Calibri" pitchFamily="34" charset="-120"/>
              </a:rPr>
              <a:t>saved</a:t>
            </a:r>
            <a:endParaRPr lang="en-US" sz="1400" dirty="0"/>
          </a:p>
        </p:txBody>
      </p:sp>
      <p:sp>
        <p:nvSpPr>
          <p:cNvPr id="26" name="Shape 24"/>
          <p:cNvSpPr/>
          <p:nvPr/>
        </p:nvSpPr>
        <p:spPr>
          <a:xfrm>
            <a:off x="5623560" y="2962656"/>
            <a:ext cx="3063240" cy="594360"/>
          </a:xfrm>
          <a:prstGeom prst="rect">
            <a:avLst/>
          </a:prstGeom>
          <a:solidFill>
            <a:srgbClr val="0D1117"/>
          </a:solidFill>
          <a:ln w="12700">
            <a:solidFill>
              <a:srgbClr val="30363D"/>
            </a:solidFill>
            <a:prstDash val="solid"/>
          </a:ln>
        </p:spPr>
        <p:txBody>
          <a:bodyPr/>
          <a:lstStyle/>
          <a:p>
            <a:endParaRPr lang="en-US"/>
          </a:p>
        </p:txBody>
      </p:sp>
      <p:sp>
        <p:nvSpPr>
          <p:cNvPr id="27" name="Text 25"/>
          <p:cNvSpPr/>
          <p:nvPr/>
        </p:nvSpPr>
        <p:spPr>
          <a:xfrm>
            <a:off x="5715000" y="2999232"/>
            <a:ext cx="2286000" cy="256032"/>
          </a:xfrm>
          <a:prstGeom prst="rect">
            <a:avLst/>
          </a:prstGeom>
          <a:noFill/>
          <a:ln/>
        </p:spPr>
        <p:txBody>
          <a:bodyPr wrap="square" rtlCol="0" anchor="ctr"/>
          <a:lstStyle/>
          <a:p>
            <a:pPr marL="0" indent="0">
              <a:buNone/>
            </a:pPr>
            <a:r>
              <a:rPr lang="en-US" altLang="en-US" sz="1000" b="1" dirty="0">
                <a:solidFill>
                  <a:srgbClr val="F0F6FC"/>
                </a:solidFill>
                <a:latin typeface="Consolas" pitchFamily="34" charset="0"/>
                <a:ea typeface="Consolas" pitchFamily="34" charset="-122"/>
                <a:cs typeface="Consolas" pitchFamily="34" charset="-120"/>
              </a:rPr>
              <a:t>npm test</a:t>
            </a:r>
            <a:endParaRPr lang="en-US" sz="1000" dirty="0"/>
          </a:p>
        </p:txBody>
      </p:sp>
      <p:sp>
        <p:nvSpPr>
          <p:cNvPr id="28" name="Text 26"/>
          <p:cNvSpPr/>
          <p:nvPr/>
        </p:nvSpPr>
        <p:spPr>
          <a:xfrm>
            <a:off x="5715000" y="3246120"/>
            <a:ext cx="2286000" cy="201168"/>
          </a:xfrm>
          <a:prstGeom prst="rect">
            <a:avLst/>
          </a:prstGeom>
          <a:noFill/>
          <a:ln/>
        </p:spPr>
        <p:txBody>
          <a:bodyPr wrap="square" rtlCol="0" anchor="ctr"/>
          <a:lstStyle/>
          <a:p>
            <a:pPr marL="0" indent="0">
              <a:buNone/>
            </a:pPr>
            <a:r>
              <a:rPr lang="en-US" altLang="en-US" sz="900" dirty="0">
                <a:solidFill>
                  <a:srgbClr val="238636"/>
                </a:solidFill>
                <a:latin typeface="Calibri" pitchFamily="34" charset="0"/>
                <a:ea typeface="Calibri" pitchFamily="34" charset="-122"/>
                <a:cs typeface="Calibri" pitchFamily="34" charset="-120"/>
              </a:rPr>
              <a:t>~75% reduction</a:t>
            </a:r>
            <a:endParaRPr lang="en-US" sz="900" dirty="0"/>
          </a:p>
        </p:txBody>
      </p:sp>
      <p:sp>
        <p:nvSpPr>
          <p:cNvPr id="29" name="Text 27"/>
          <p:cNvSpPr/>
          <p:nvPr/>
        </p:nvSpPr>
        <p:spPr>
          <a:xfrm>
            <a:off x="7680960" y="2999232"/>
            <a:ext cx="731520" cy="411480"/>
          </a:xfrm>
          <a:prstGeom prst="rect">
            <a:avLst/>
          </a:prstGeom>
          <a:noFill/>
          <a:ln/>
        </p:spPr>
        <p:txBody>
          <a:bodyPr wrap="square" rtlCol="0" anchor="ctr"/>
          <a:lstStyle/>
          <a:p>
            <a:pPr marL="0" indent="0" algn="r">
              <a:buNone/>
            </a:pPr>
            <a:r>
              <a:rPr lang="en-US" altLang="en-US" sz="1400" b="1" dirty="0">
                <a:solidFill>
                  <a:srgbClr val="238636"/>
                </a:solidFill>
                <a:latin typeface="Calibri" pitchFamily="34" charset="0"/>
                <a:ea typeface="Calibri" pitchFamily="34" charset="-122"/>
                <a:cs typeface="Calibri" pitchFamily="34" charset="-120"/>
              </a:rPr>
              <a:t>saved</a:t>
            </a:r>
            <a:endParaRPr lang="en-US" sz="1400" dirty="0"/>
          </a:p>
        </p:txBody>
      </p:sp>
      <p:sp>
        <p:nvSpPr>
          <p:cNvPr id="30" name="Shape 28"/>
          <p:cNvSpPr/>
          <p:nvPr/>
        </p:nvSpPr>
        <p:spPr>
          <a:xfrm>
            <a:off x="5623560" y="3675888"/>
            <a:ext cx="3063240" cy="594360"/>
          </a:xfrm>
          <a:prstGeom prst="rect">
            <a:avLst/>
          </a:prstGeom>
          <a:solidFill>
            <a:srgbClr val="0D1117"/>
          </a:solidFill>
          <a:ln w="12700">
            <a:solidFill>
              <a:srgbClr val="30363D"/>
            </a:solidFill>
            <a:prstDash val="solid"/>
          </a:ln>
        </p:spPr>
        <p:txBody>
          <a:bodyPr/>
          <a:lstStyle/>
          <a:p>
            <a:endParaRPr lang="en-US"/>
          </a:p>
        </p:txBody>
      </p:sp>
      <p:sp>
        <p:nvSpPr>
          <p:cNvPr id="31" name="Text 29"/>
          <p:cNvSpPr/>
          <p:nvPr/>
        </p:nvSpPr>
        <p:spPr>
          <a:xfrm>
            <a:off x="5715000" y="3712464"/>
            <a:ext cx="2286000" cy="256032"/>
          </a:xfrm>
          <a:prstGeom prst="rect">
            <a:avLst/>
          </a:prstGeom>
          <a:noFill/>
          <a:ln/>
        </p:spPr>
        <p:txBody>
          <a:bodyPr wrap="square" rtlCol="0" anchor="ctr"/>
          <a:lstStyle/>
          <a:p>
            <a:pPr marL="0" indent="0">
              <a:buNone/>
            </a:pPr>
            <a:r>
              <a:rPr lang="en-US" altLang="en-US" sz="1000" b="1" dirty="0">
                <a:solidFill>
                  <a:srgbClr val="F0F6FC"/>
                </a:solidFill>
                <a:latin typeface="Consolas" pitchFamily="34" charset="0"/>
                <a:ea typeface="Consolas" pitchFamily="34" charset="-122"/>
                <a:cs typeface="Consolas" pitchFamily="34" charset="-120"/>
              </a:rPr>
              <a:t>kubectl logs</a:t>
            </a:r>
            <a:endParaRPr lang="en-US" sz="1000" dirty="0"/>
          </a:p>
        </p:txBody>
      </p:sp>
      <p:sp>
        <p:nvSpPr>
          <p:cNvPr id="32" name="Text 30"/>
          <p:cNvSpPr/>
          <p:nvPr/>
        </p:nvSpPr>
        <p:spPr>
          <a:xfrm>
            <a:off x="5715000" y="3959352"/>
            <a:ext cx="2286000" cy="201168"/>
          </a:xfrm>
          <a:prstGeom prst="rect">
            <a:avLst/>
          </a:prstGeom>
          <a:noFill/>
          <a:ln/>
        </p:spPr>
        <p:txBody>
          <a:bodyPr wrap="square" rtlCol="0" anchor="ctr"/>
          <a:lstStyle/>
          <a:p>
            <a:pPr marL="0" indent="0">
              <a:buNone/>
            </a:pPr>
            <a:r>
              <a:rPr lang="en-US" altLang="en-US" sz="900" dirty="0">
                <a:solidFill>
                  <a:srgbClr val="238636"/>
                </a:solidFill>
                <a:latin typeface="Calibri" pitchFamily="34" charset="0"/>
                <a:ea typeface="Calibri" pitchFamily="34" charset="-122"/>
                <a:cs typeface="Calibri" pitchFamily="34" charset="-120"/>
              </a:rPr>
              <a:t>~90% reduction</a:t>
            </a:r>
            <a:endParaRPr lang="en-US" sz="900" dirty="0"/>
          </a:p>
        </p:txBody>
      </p:sp>
      <p:sp>
        <p:nvSpPr>
          <p:cNvPr id="33" name="Text 31"/>
          <p:cNvSpPr/>
          <p:nvPr/>
        </p:nvSpPr>
        <p:spPr>
          <a:xfrm>
            <a:off x="7680960" y="3712464"/>
            <a:ext cx="731520" cy="411480"/>
          </a:xfrm>
          <a:prstGeom prst="rect">
            <a:avLst/>
          </a:prstGeom>
          <a:noFill/>
          <a:ln/>
        </p:spPr>
        <p:txBody>
          <a:bodyPr wrap="square" rtlCol="0" anchor="ctr"/>
          <a:lstStyle/>
          <a:p>
            <a:pPr marL="0" indent="0" algn="r">
              <a:buNone/>
            </a:pPr>
            <a:r>
              <a:rPr lang="en-US" altLang="en-US" sz="1400" b="1" dirty="0">
                <a:solidFill>
                  <a:srgbClr val="238636"/>
                </a:solidFill>
                <a:latin typeface="Calibri" pitchFamily="34" charset="0"/>
                <a:ea typeface="Calibri" pitchFamily="34" charset="-122"/>
                <a:cs typeface="Calibri" pitchFamily="34" charset="-120"/>
              </a:rPr>
              <a:t>saved</a:t>
            </a:r>
            <a:endParaRPr lang="en-US" sz="1400" dirty="0"/>
          </a:p>
        </p:txBody>
      </p:sp>
      <p:sp>
        <p:nvSpPr>
          <p:cNvPr id="34" name="Shape 32"/>
          <p:cNvSpPr/>
          <p:nvPr/>
        </p:nvSpPr>
        <p:spPr>
          <a:xfrm>
            <a:off x="320040" y="4572000"/>
            <a:ext cx="8503920" cy="347472"/>
          </a:xfrm>
          <a:prstGeom prst="roundRect">
            <a:avLst>
              <a:gd name="adj" fmla="val 15789"/>
            </a:avLst>
          </a:prstGeom>
          <a:solidFill>
            <a:srgbClr val="161B22"/>
          </a:solidFill>
          <a:ln w="12700">
            <a:solidFill>
              <a:srgbClr val="1F6FEB"/>
            </a:solidFill>
            <a:prstDash val="solid"/>
          </a:ln>
        </p:spPr>
        <p:txBody>
          <a:bodyPr/>
          <a:lstStyle/>
          <a:p>
            <a:endParaRPr lang="en-US"/>
          </a:p>
        </p:txBody>
      </p:sp>
      <p:sp>
        <p:nvSpPr>
          <p:cNvPr id="35" name="Text 33"/>
          <p:cNvSpPr/>
          <p:nvPr/>
        </p:nvSpPr>
        <p:spPr>
          <a:xfrm>
            <a:off x="457200" y="4590288"/>
            <a:ext cx="8321040" cy="310896"/>
          </a:xfrm>
          <a:prstGeom prst="rect">
            <a:avLst/>
          </a:prstGeom>
          <a:noFill/>
          <a:ln/>
        </p:spPr>
        <p:txBody>
          <a:bodyPr wrap="square" rtlCol="0" anchor="ctr"/>
          <a:lstStyle/>
          <a:p>
            <a:pPr marL="0" indent="0" algn="ctr">
              <a:buNone/>
            </a:pPr>
            <a:r>
              <a:rPr lang="en-US" altLang="en-US" sz="950" dirty="0">
                <a:solidFill>
                  <a:srgbClr val="1F6FEB"/>
                </a:solidFill>
                <a:latin typeface="Calibri" pitchFamily="34" charset="0"/>
                <a:ea typeface="Calibri" pitchFamily="34" charset="-122"/>
                <a:cs typeface="Calibri" pitchFamily="34" charset="-120"/>
              </a:rPr>
              <a:t>Install: github.com/rtk-ai/rtk   |   rtk init -g (Claude/Copilot)   |   &lt;10ms overhead, 100+ supported commands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 AI Engineering Fluency</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Know your numbers — track token usage directly in VS Code</a:t>
            </a:r>
            <a:endParaRPr lang="en-US" sz="1300" dirty="0"/>
          </a:p>
        </p:txBody>
      </p:sp>
      <p:sp>
        <p:nvSpPr>
          <p:cNvPr id="5" name="Shape 3"/>
          <p:cNvSpPr/>
          <p:nvPr/>
        </p:nvSpPr>
        <p:spPr>
          <a:xfrm>
            <a:off x="320040" y="1005840"/>
            <a:ext cx="4937760" cy="3474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457200" y="1097280"/>
            <a:ext cx="4663440" cy="320040"/>
          </a:xfrm>
          <a:prstGeom prst="rect">
            <a:avLst/>
          </a:prstGeom>
          <a:noFill/>
          <a:ln/>
        </p:spPr>
        <p:txBody>
          <a:bodyPr wrap="square" rtlCol="0" anchor="ctr"/>
          <a:lstStyle/>
          <a:p>
            <a:pPr marL="0" indent="0">
              <a:buNone/>
            </a:pPr>
            <a:r>
              <a:rPr lang="en-US" altLang="en-US" sz="1300" b="1" dirty="0">
                <a:solidFill>
                  <a:srgbClr val="8250DF"/>
                </a:solidFill>
                <a:latin typeface="Calibri" pitchFamily="34" charset="0"/>
                <a:ea typeface="Calibri" pitchFamily="34" charset="-122"/>
                <a:cs typeface="Calibri" pitchFamily="34" charset="-120"/>
              </a:rPr>
              <a:t>What it tracks</a:t>
            </a:r>
            <a:endParaRPr lang="en-US" sz="1300" dirty="0"/>
          </a:p>
        </p:txBody>
      </p:sp>
      <p:sp>
        <p:nvSpPr>
          <p:cNvPr id="7" name="Text 5"/>
          <p:cNvSpPr/>
          <p:nvPr/>
        </p:nvSpPr>
        <p:spPr>
          <a:xfrm>
            <a:off x="457200" y="1508760"/>
            <a:ext cx="4663440" cy="411480"/>
          </a:xfrm>
          <a:prstGeom prst="rect">
            <a:avLst/>
          </a:prstGeom>
          <a:noFill/>
          <a:ln/>
        </p:spPr>
        <p:txBody>
          <a:bodyPr wrap="square" rtlCol="0" anchor="ctr"/>
          <a:lstStyle/>
          <a:p>
            <a:pPr marL="0" indent="0">
              <a:buNone/>
            </a:pPr>
            <a:r>
              <a:rPr lang="en-US" altLang="en-US" sz="1050" dirty="0">
                <a:solidFill>
                  <a:srgbClr val="F0F6FC"/>
                </a:solidFill>
                <a:latin typeface="Calibri" pitchFamily="34" charset="0"/>
                <a:ea typeface="Calibri" pitchFamily="34" charset="-122"/>
                <a:cs typeface="Calibri" pitchFamily="34" charset="-120"/>
              </a:rPr>
              <a:t>📈  Real-time token count in VS Code status bar</a:t>
            </a:r>
            <a:endParaRPr lang="en-US" sz="1050" dirty="0"/>
          </a:p>
        </p:txBody>
      </p:sp>
      <p:sp>
        <p:nvSpPr>
          <p:cNvPr id="8" name="Text 6"/>
          <p:cNvSpPr/>
          <p:nvPr/>
        </p:nvSpPr>
        <p:spPr>
          <a:xfrm>
            <a:off x="457200" y="1984248"/>
            <a:ext cx="4663440" cy="411480"/>
          </a:xfrm>
          <a:prstGeom prst="rect">
            <a:avLst/>
          </a:prstGeom>
          <a:noFill/>
          <a:ln/>
        </p:spPr>
        <p:txBody>
          <a:bodyPr wrap="square" rtlCol="0" anchor="ctr"/>
          <a:lstStyle/>
          <a:p>
            <a:pPr marL="0" indent="0">
              <a:buNone/>
            </a:pPr>
            <a:r>
              <a:rPr lang="en-US" altLang="en-US" sz="1050" dirty="0">
                <a:solidFill>
                  <a:srgbClr val="F0F6FC"/>
                </a:solidFill>
                <a:latin typeface="Calibri" pitchFamily="34" charset="0"/>
                <a:ea typeface="Calibri" pitchFamily="34" charset="-122"/>
                <a:cs typeface="Calibri" pitchFamily="34" charset="-120"/>
              </a:rPr>
              <a:t>📅  Today / 7-day / 30-day / all-time breakdown</a:t>
            </a:r>
            <a:endParaRPr lang="en-US" sz="1050" dirty="0"/>
          </a:p>
        </p:txBody>
      </p:sp>
      <p:sp>
        <p:nvSpPr>
          <p:cNvPr id="9" name="Text 7"/>
          <p:cNvSpPr/>
          <p:nvPr/>
        </p:nvSpPr>
        <p:spPr>
          <a:xfrm>
            <a:off x="457200" y="2459736"/>
            <a:ext cx="4663440" cy="411480"/>
          </a:xfrm>
          <a:prstGeom prst="rect">
            <a:avLst/>
          </a:prstGeom>
          <a:noFill/>
          <a:ln/>
        </p:spPr>
        <p:txBody>
          <a:bodyPr wrap="square" rtlCol="0" anchor="ctr"/>
          <a:lstStyle/>
          <a:p>
            <a:pPr marL="0" indent="0">
              <a:buNone/>
            </a:pPr>
            <a:r>
              <a:rPr lang="en-US" altLang="en-US" sz="1050" dirty="0">
                <a:solidFill>
                  <a:srgbClr val="F0F6FC"/>
                </a:solidFill>
                <a:latin typeface="Calibri" pitchFamily="34" charset="0"/>
                <a:ea typeface="Calibri" pitchFamily="34" charset="-122"/>
                <a:cs typeface="Calibri" pitchFamily="34" charset="-120"/>
              </a:rPr>
              <a:t>🤖  Per-model breakdown (GPT-4o, Claude, Gemini...)</a:t>
            </a:r>
            <a:endParaRPr lang="en-US" sz="1050" dirty="0"/>
          </a:p>
        </p:txBody>
      </p:sp>
      <p:sp>
        <p:nvSpPr>
          <p:cNvPr id="10" name="Text 8"/>
          <p:cNvSpPr/>
          <p:nvPr/>
        </p:nvSpPr>
        <p:spPr>
          <a:xfrm>
            <a:off x="457200" y="2935224"/>
            <a:ext cx="4663440" cy="411480"/>
          </a:xfrm>
          <a:prstGeom prst="rect">
            <a:avLst/>
          </a:prstGeom>
          <a:noFill/>
          <a:ln/>
        </p:spPr>
        <p:txBody>
          <a:bodyPr wrap="square" rtlCol="0" anchor="ctr"/>
          <a:lstStyle/>
          <a:p>
            <a:pPr marL="0" indent="0">
              <a:buNone/>
            </a:pPr>
            <a:r>
              <a:rPr lang="en-US" altLang="en-US" sz="1050" dirty="0">
                <a:solidFill>
                  <a:srgbClr val="F0F6FC"/>
                </a:solidFill>
                <a:latin typeface="Calibri" pitchFamily="34" charset="0"/>
                <a:ea typeface="Calibri" pitchFamily="34" charset="-122"/>
                <a:cs typeface="Calibri" pitchFamily="34" charset="-120"/>
              </a:rPr>
              <a:t>💰  Estimated cost in dollars per session</a:t>
            </a:r>
            <a:endParaRPr lang="en-US" sz="1050" dirty="0"/>
          </a:p>
        </p:txBody>
      </p:sp>
      <p:sp>
        <p:nvSpPr>
          <p:cNvPr id="11" name="Text 9"/>
          <p:cNvSpPr/>
          <p:nvPr/>
        </p:nvSpPr>
        <p:spPr>
          <a:xfrm>
            <a:off x="457200" y="3410712"/>
            <a:ext cx="4663440" cy="411480"/>
          </a:xfrm>
          <a:prstGeom prst="rect">
            <a:avLst/>
          </a:prstGeom>
          <a:noFill/>
          <a:ln/>
        </p:spPr>
        <p:txBody>
          <a:bodyPr wrap="square" rtlCol="0" anchor="ctr"/>
          <a:lstStyle/>
          <a:p>
            <a:pPr marL="0" indent="0">
              <a:buNone/>
            </a:pPr>
            <a:r>
              <a:rPr lang="en-US" altLang="en-US" sz="1050" dirty="0">
                <a:solidFill>
                  <a:srgbClr val="F0F6FC"/>
                </a:solidFill>
                <a:latin typeface="Calibri" pitchFamily="34" charset="0"/>
                <a:ea typeface="Calibri" pitchFamily="34" charset="-122"/>
                <a:cs typeface="Calibri" pitchFamily="34" charset="-120"/>
              </a:rPr>
              <a:t>🌿  Environmental impact: CO₂, water, tree offset</a:t>
            </a:r>
            <a:endParaRPr lang="en-US" sz="1050" dirty="0"/>
          </a:p>
        </p:txBody>
      </p:sp>
      <p:sp>
        <p:nvSpPr>
          <p:cNvPr id="12" name="Text 10"/>
          <p:cNvSpPr/>
          <p:nvPr/>
        </p:nvSpPr>
        <p:spPr>
          <a:xfrm>
            <a:off x="457200" y="3886200"/>
            <a:ext cx="4663440" cy="411480"/>
          </a:xfrm>
          <a:prstGeom prst="rect">
            <a:avLst/>
          </a:prstGeom>
          <a:noFill/>
          <a:ln/>
        </p:spPr>
        <p:txBody>
          <a:bodyPr wrap="square" rtlCol="0" anchor="ctr"/>
          <a:lstStyle/>
          <a:p>
            <a:pPr marL="0" indent="0">
              <a:buNone/>
            </a:pPr>
            <a:r>
              <a:rPr lang="en-US" altLang="en-US" sz="1050" dirty="0">
                <a:solidFill>
                  <a:srgbClr val="F0F6FC"/>
                </a:solidFill>
                <a:latin typeface="Calibri" pitchFamily="34" charset="0"/>
                <a:ea typeface="Calibri" pitchFamily="34" charset="-122"/>
                <a:cs typeface="Calibri" pitchFamily="34" charset="-120"/>
              </a:rPr>
              <a:t>🏆  Copilot Fluency Score across 6 categories</a:t>
            </a:r>
            <a:endParaRPr lang="en-US" sz="1050" dirty="0"/>
          </a:p>
        </p:txBody>
      </p:sp>
      <p:sp>
        <p:nvSpPr>
          <p:cNvPr id="13" name="Shape 11"/>
          <p:cNvSpPr/>
          <p:nvPr/>
        </p:nvSpPr>
        <p:spPr>
          <a:xfrm>
            <a:off x="5486400" y="1005840"/>
            <a:ext cx="3337560" cy="3474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14" name="Text 12"/>
          <p:cNvSpPr/>
          <p:nvPr/>
        </p:nvSpPr>
        <p:spPr>
          <a:xfrm>
            <a:off x="5623560" y="1097280"/>
            <a:ext cx="3063240" cy="320040"/>
          </a:xfrm>
          <a:prstGeom prst="rect">
            <a:avLst/>
          </a:prstGeom>
          <a:noFill/>
          <a:ln/>
        </p:spPr>
        <p:txBody>
          <a:bodyPr wrap="square" rtlCol="0" anchor="ctr"/>
          <a:lstStyle/>
          <a:p>
            <a:pPr marL="0" indent="0">
              <a:buNone/>
            </a:pPr>
            <a:r>
              <a:rPr lang="en-US" altLang="en-US" sz="1100" b="1" dirty="0">
                <a:solidFill>
                  <a:srgbClr val="8250DF"/>
                </a:solidFill>
                <a:latin typeface="Calibri" pitchFamily="34" charset="0"/>
                <a:ea typeface="Calibri" pitchFamily="34" charset="-122"/>
                <a:cs typeface="Calibri" pitchFamily="34" charset="-120"/>
              </a:rPr>
              <a:t>Sample Dashboard</a:t>
            </a:r>
            <a:endParaRPr lang="en-US" sz="1100" dirty="0"/>
          </a:p>
        </p:txBody>
      </p:sp>
      <p:sp>
        <p:nvSpPr>
          <p:cNvPr id="15" name="Shape 13"/>
          <p:cNvSpPr/>
          <p:nvPr/>
        </p:nvSpPr>
        <p:spPr>
          <a:xfrm>
            <a:off x="5532120" y="1508760"/>
            <a:ext cx="822960" cy="457200"/>
          </a:xfrm>
          <a:prstGeom prst="rect">
            <a:avLst/>
          </a:prstGeom>
          <a:solidFill>
            <a:srgbClr val="8250DF"/>
          </a:solidFill>
          <a:ln w="12700">
            <a:solidFill>
              <a:srgbClr val="30363D"/>
            </a:solidFill>
            <a:prstDash val="solid"/>
          </a:ln>
        </p:spPr>
        <p:txBody>
          <a:bodyPr/>
          <a:lstStyle/>
          <a:p>
            <a:endParaRPr lang="en-US"/>
          </a:p>
        </p:txBody>
      </p:sp>
      <p:sp>
        <p:nvSpPr>
          <p:cNvPr id="16" name="Text 14"/>
          <p:cNvSpPr/>
          <p:nvPr/>
        </p:nvSpPr>
        <p:spPr>
          <a:xfrm>
            <a:off x="5532120" y="1508760"/>
            <a:ext cx="822960" cy="457200"/>
          </a:xfrm>
          <a:prstGeom prst="rect">
            <a:avLst/>
          </a:prstGeom>
          <a:noFill/>
          <a:ln/>
        </p:spPr>
        <p:txBody>
          <a:bodyPr wrap="square" rtlCol="0" anchor="ctr"/>
          <a:lstStyle/>
          <a:p>
            <a:pPr marL="0" indent="0" algn="ctr">
              <a:buNone/>
            </a:pPr>
            <a:r>
              <a:rPr lang="en-US" altLang="en-US" sz="800" b="1" dirty="0">
                <a:solidFill>
                  <a:srgbClr val="F0F6FC"/>
                </a:solidFill>
                <a:latin typeface="Calibri" pitchFamily="34" charset="0"/>
                <a:ea typeface="Calibri" pitchFamily="34" charset="-122"/>
                <a:cs typeface="Calibri" pitchFamily="34" charset="-120"/>
              </a:rPr>
              <a:t>Period</a:t>
            </a:r>
            <a:endParaRPr lang="en-US" sz="800" dirty="0"/>
          </a:p>
        </p:txBody>
      </p:sp>
      <p:sp>
        <p:nvSpPr>
          <p:cNvPr id="17" name="Shape 15"/>
          <p:cNvSpPr/>
          <p:nvPr/>
        </p:nvSpPr>
        <p:spPr>
          <a:xfrm>
            <a:off x="6355080" y="1508760"/>
            <a:ext cx="822960" cy="457200"/>
          </a:xfrm>
          <a:prstGeom prst="rect">
            <a:avLst/>
          </a:prstGeom>
          <a:solidFill>
            <a:srgbClr val="8250DF"/>
          </a:solidFill>
          <a:ln w="12700">
            <a:solidFill>
              <a:srgbClr val="30363D"/>
            </a:solidFill>
            <a:prstDash val="solid"/>
          </a:ln>
        </p:spPr>
        <p:txBody>
          <a:bodyPr/>
          <a:lstStyle/>
          <a:p>
            <a:endParaRPr lang="en-US"/>
          </a:p>
        </p:txBody>
      </p:sp>
      <p:sp>
        <p:nvSpPr>
          <p:cNvPr id="18" name="Text 16"/>
          <p:cNvSpPr/>
          <p:nvPr/>
        </p:nvSpPr>
        <p:spPr>
          <a:xfrm>
            <a:off x="6355080" y="1508760"/>
            <a:ext cx="822960" cy="457200"/>
          </a:xfrm>
          <a:prstGeom prst="rect">
            <a:avLst/>
          </a:prstGeom>
          <a:noFill/>
          <a:ln/>
        </p:spPr>
        <p:txBody>
          <a:bodyPr wrap="square" rtlCol="0" anchor="ctr"/>
          <a:lstStyle/>
          <a:p>
            <a:pPr marL="0" indent="0" algn="ctr">
              <a:buNone/>
            </a:pPr>
            <a:r>
              <a:rPr lang="en-US" altLang="en-US" sz="800" b="1" dirty="0">
                <a:solidFill>
                  <a:srgbClr val="F0F6FC"/>
                </a:solidFill>
                <a:latin typeface="Calibri" pitchFamily="34" charset="0"/>
                <a:ea typeface="Calibri" pitchFamily="34" charset="-122"/>
                <a:cs typeface="Calibri" pitchFamily="34" charset="-120"/>
              </a:rPr>
              <a:t>Input</a:t>
            </a:r>
            <a:endParaRPr lang="en-US" sz="800" dirty="0"/>
          </a:p>
        </p:txBody>
      </p:sp>
      <p:sp>
        <p:nvSpPr>
          <p:cNvPr id="19" name="Shape 17"/>
          <p:cNvSpPr/>
          <p:nvPr/>
        </p:nvSpPr>
        <p:spPr>
          <a:xfrm>
            <a:off x="7178040" y="1508760"/>
            <a:ext cx="822960" cy="457200"/>
          </a:xfrm>
          <a:prstGeom prst="rect">
            <a:avLst/>
          </a:prstGeom>
          <a:solidFill>
            <a:srgbClr val="8250DF"/>
          </a:solidFill>
          <a:ln w="12700">
            <a:solidFill>
              <a:srgbClr val="30363D"/>
            </a:solidFill>
            <a:prstDash val="solid"/>
          </a:ln>
        </p:spPr>
        <p:txBody>
          <a:bodyPr/>
          <a:lstStyle/>
          <a:p>
            <a:endParaRPr lang="en-US"/>
          </a:p>
        </p:txBody>
      </p:sp>
      <p:sp>
        <p:nvSpPr>
          <p:cNvPr id="20" name="Text 18"/>
          <p:cNvSpPr/>
          <p:nvPr/>
        </p:nvSpPr>
        <p:spPr>
          <a:xfrm>
            <a:off x="7178040" y="1508760"/>
            <a:ext cx="822960" cy="457200"/>
          </a:xfrm>
          <a:prstGeom prst="rect">
            <a:avLst/>
          </a:prstGeom>
          <a:noFill/>
          <a:ln/>
        </p:spPr>
        <p:txBody>
          <a:bodyPr wrap="square" rtlCol="0" anchor="ctr"/>
          <a:lstStyle/>
          <a:p>
            <a:pPr marL="0" indent="0" algn="ctr">
              <a:buNone/>
            </a:pPr>
            <a:r>
              <a:rPr lang="en-US" altLang="en-US" sz="800" b="1" dirty="0">
                <a:solidFill>
                  <a:srgbClr val="F0F6FC"/>
                </a:solidFill>
                <a:latin typeface="Calibri" pitchFamily="34" charset="0"/>
                <a:ea typeface="Calibri" pitchFamily="34" charset="-122"/>
                <a:cs typeface="Calibri" pitchFamily="34" charset="-120"/>
              </a:rPr>
              <a:t>Output</a:t>
            </a:r>
            <a:endParaRPr lang="en-US" sz="800" dirty="0"/>
          </a:p>
        </p:txBody>
      </p:sp>
      <p:sp>
        <p:nvSpPr>
          <p:cNvPr id="21" name="Shape 19"/>
          <p:cNvSpPr/>
          <p:nvPr/>
        </p:nvSpPr>
        <p:spPr>
          <a:xfrm>
            <a:off x="8001000" y="1508760"/>
            <a:ext cx="822960" cy="457200"/>
          </a:xfrm>
          <a:prstGeom prst="rect">
            <a:avLst/>
          </a:prstGeom>
          <a:solidFill>
            <a:srgbClr val="8250DF"/>
          </a:solidFill>
          <a:ln w="12700">
            <a:solidFill>
              <a:srgbClr val="30363D"/>
            </a:solidFill>
            <a:prstDash val="solid"/>
          </a:ln>
        </p:spPr>
        <p:txBody>
          <a:bodyPr/>
          <a:lstStyle/>
          <a:p>
            <a:endParaRPr lang="en-US"/>
          </a:p>
        </p:txBody>
      </p:sp>
      <p:sp>
        <p:nvSpPr>
          <p:cNvPr id="22" name="Text 20"/>
          <p:cNvSpPr/>
          <p:nvPr/>
        </p:nvSpPr>
        <p:spPr>
          <a:xfrm>
            <a:off x="8001000" y="1508760"/>
            <a:ext cx="822960" cy="457200"/>
          </a:xfrm>
          <a:prstGeom prst="rect">
            <a:avLst/>
          </a:prstGeom>
          <a:noFill/>
          <a:ln/>
        </p:spPr>
        <p:txBody>
          <a:bodyPr wrap="square" rtlCol="0" anchor="ctr"/>
          <a:lstStyle/>
          <a:p>
            <a:pPr marL="0" indent="0" algn="ctr">
              <a:buNone/>
            </a:pPr>
            <a:r>
              <a:rPr lang="en-US" altLang="en-US" sz="800" b="1" dirty="0">
                <a:solidFill>
                  <a:srgbClr val="F0F6FC"/>
                </a:solidFill>
                <a:latin typeface="Calibri" pitchFamily="34" charset="0"/>
                <a:ea typeface="Calibri" pitchFamily="34" charset="-122"/>
                <a:cs typeface="Calibri" pitchFamily="34" charset="-120"/>
              </a:rPr>
              <a:t>Total</a:t>
            </a:r>
            <a:endParaRPr lang="en-US" sz="800" dirty="0"/>
          </a:p>
        </p:txBody>
      </p:sp>
      <p:sp>
        <p:nvSpPr>
          <p:cNvPr id="23" name="Shape 21"/>
          <p:cNvSpPr/>
          <p:nvPr/>
        </p:nvSpPr>
        <p:spPr>
          <a:xfrm>
            <a:off x="5532120" y="1984248"/>
            <a:ext cx="822960" cy="457200"/>
          </a:xfrm>
          <a:prstGeom prst="rect">
            <a:avLst/>
          </a:prstGeom>
          <a:solidFill>
            <a:srgbClr val="161B22"/>
          </a:solidFill>
          <a:ln w="12700">
            <a:solidFill>
              <a:srgbClr val="30363D"/>
            </a:solidFill>
            <a:prstDash val="solid"/>
          </a:ln>
        </p:spPr>
        <p:txBody>
          <a:bodyPr/>
          <a:lstStyle/>
          <a:p>
            <a:endParaRPr lang="en-US"/>
          </a:p>
        </p:txBody>
      </p:sp>
      <p:sp>
        <p:nvSpPr>
          <p:cNvPr id="24" name="Text 22"/>
          <p:cNvSpPr/>
          <p:nvPr/>
        </p:nvSpPr>
        <p:spPr>
          <a:xfrm>
            <a:off x="5532120" y="1984248"/>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Today</a:t>
            </a:r>
            <a:endParaRPr lang="en-US" sz="800" dirty="0"/>
          </a:p>
        </p:txBody>
      </p:sp>
      <p:sp>
        <p:nvSpPr>
          <p:cNvPr id="25" name="Shape 23"/>
          <p:cNvSpPr/>
          <p:nvPr/>
        </p:nvSpPr>
        <p:spPr>
          <a:xfrm>
            <a:off x="6355080" y="1984248"/>
            <a:ext cx="822960" cy="457200"/>
          </a:xfrm>
          <a:prstGeom prst="rect">
            <a:avLst/>
          </a:prstGeom>
          <a:solidFill>
            <a:srgbClr val="161B22"/>
          </a:solidFill>
          <a:ln w="12700">
            <a:solidFill>
              <a:srgbClr val="30363D"/>
            </a:solidFill>
            <a:prstDash val="solid"/>
          </a:ln>
        </p:spPr>
        <p:txBody>
          <a:bodyPr/>
          <a:lstStyle/>
          <a:p>
            <a:endParaRPr lang="en-US"/>
          </a:p>
        </p:txBody>
      </p:sp>
      <p:sp>
        <p:nvSpPr>
          <p:cNvPr id="26" name="Text 24"/>
          <p:cNvSpPr/>
          <p:nvPr/>
        </p:nvSpPr>
        <p:spPr>
          <a:xfrm>
            <a:off x="6355080" y="1984248"/>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8,432</a:t>
            </a:r>
            <a:endParaRPr lang="en-US" sz="800" dirty="0"/>
          </a:p>
        </p:txBody>
      </p:sp>
      <p:sp>
        <p:nvSpPr>
          <p:cNvPr id="27" name="Shape 25"/>
          <p:cNvSpPr/>
          <p:nvPr/>
        </p:nvSpPr>
        <p:spPr>
          <a:xfrm>
            <a:off x="7178040" y="1984248"/>
            <a:ext cx="822960" cy="457200"/>
          </a:xfrm>
          <a:prstGeom prst="rect">
            <a:avLst/>
          </a:prstGeom>
          <a:solidFill>
            <a:srgbClr val="161B22"/>
          </a:solidFill>
          <a:ln w="12700">
            <a:solidFill>
              <a:srgbClr val="30363D"/>
            </a:solidFill>
            <a:prstDash val="solid"/>
          </a:ln>
        </p:spPr>
        <p:txBody>
          <a:bodyPr/>
          <a:lstStyle/>
          <a:p>
            <a:endParaRPr lang="en-US"/>
          </a:p>
        </p:txBody>
      </p:sp>
      <p:sp>
        <p:nvSpPr>
          <p:cNvPr id="28" name="Text 26"/>
          <p:cNvSpPr/>
          <p:nvPr/>
        </p:nvSpPr>
        <p:spPr>
          <a:xfrm>
            <a:off x="7178040" y="1984248"/>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12,104</a:t>
            </a:r>
            <a:endParaRPr lang="en-US" sz="800" dirty="0"/>
          </a:p>
        </p:txBody>
      </p:sp>
      <p:sp>
        <p:nvSpPr>
          <p:cNvPr id="29" name="Shape 27"/>
          <p:cNvSpPr/>
          <p:nvPr/>
        </p:nvSpPr>
        <p:spPr>
          <a:xfrm>
            <a:off x="8001000" y="1984248"/>
            <a:ext cx="822960" cy="457200"/>
          </a:xfrm>
          <a:prstGeom prst="rect">
            <a:avLst/>
          </a:prstGeom>
          <a:solidFill>
            <a:srgbClr val="161B22"/>
          </a:solidFill>
          <a:ln w="12700">
            <a:solidFill>
              <a:srgbClr val="30363D"/>
            </a:solidFill>
            <a:prstDash val="solid"/>
          </a:ln>
        </p:spPr>
        <p:txBody>
          <a:bodyPr/>
          <a:lstStyle/>
          <a:p>
            <a:endParaRPr lang="en-US"/>
          </a:p>
        </p:txBody>
      </p:sp>
      <p:sp>
        <p:nvSpPr>
          <p:cNvPr id="30" name="Text 28"/>
          <p:cNvSpPr/>
          <p:nvPr/>
        </p:nvSpPr>
        <p:spPr>
          <a:xfrm>
            <a:off x="8001000" y="1984248"/>
            <a:ext cx="822960" cy="457200"/>
          </a:xfrm>
          <a:prstGeom prst="rect">
            <a:avLst/>
          </a:prstGeom>
          <a:noFill/>
          <a:ln/>
        </p:spPr>
        <p:txBody>
          <a:bodyPr wrap="square" rtlCol="0" anchor="ctr"/>
          <a:lstStyle/>
          <a:p>
            <a:pPr marL="0" indent="0" algn="ctr">
              <a:buNone/>
            </a:pPr>
            <a:r>
              <a:rPr lang="en-US" altLang="en-US" sz="800" dirty="0">
                <a:solidFill>
                  <a:srgbClr val="238636"/>
                </a:solidFill>
                <a:latin typeface="Calibri" pitchFamily="34" charset="0"/>
                <a:ea typeface="Calibri" pitchFamily="34" charset="-122"/>
                <a:cs typeface="Calibri" pitchFamily="34" charset="-120"/>
              </a:rPr>
              <a:t>20,536</a:t>
            </a:r>
            <a:endParaRPr lang="en-US" sz="800" dirty="0"/>
          </a:p>
        </p:txBody>
      </p:sp>
      <p:sp>
        <p:nvSpPr>
          <p:cNvPr id="31" name="Shape 29"/>
          <p:cNvSpPr/>
          <p:nvPr/>
        </p:nvSpPr>
        <p:spPr>
          <a:xfrm>
            <a:off x="5532120" y="2459736"/>
            <a:ext cx="822960" cy="457200"/>
          </a:xfrm>
          <a:prstGeom prst="rect">
            <a:avLst/>
          </a:prstGeom>
          <a:solidFill>
            <a:srgbClr val="0D1117"/>
          </a:solidFill>
          <a:ln w="12700">
            <a:solidFill>
              <a:srgbClr val="30363D"/>
            </a:solidFill>
            <a:prstDash val="solid"/>
          </a:ln>
        </p:spPr>
        <p:txBody>
          <a:bodyPr/>
          <a:lstStyle/>
          <a:p>
            <a:endParaRPr lang="en-US"/>
          </a:p>
        </p:txBody>
      </p:sp>
      <p:sp>
        <p:nvSpPr>
          <p:cNvPr id="32" name="Text 30"/>
          <p:cNvSpPr/>
          <p:nvPr/>
        </p:nvSpPr>
        <p:spPr>
          <a:xfrm>
            <a:off x="5532120" y="2459736"/>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7 days</a:t>
            </a:r>
            <a:endParaRPr lang="en-US" sz="800" dirty="0"/>
          </a:p>
        </p:txBody>
      </p:sp>
      <p:sp>
        <p:nvSpPr>
          <p:cNvPr id="33" name="Shape 31"/>
          <p:cNvSpPr/>
          <p:nvPr/>
        </p:nvSpPr>
        <p:spPr>
          <a:xfrm>
            <a:off x="6355080" y="2459736"/>
            <a:ext cx="822960" cy="457200"/>
          </a:xfrm>
          <a:prstGeom prst="rect">
            <a:avLst/>
          </a:prstGeom>
          <a:solidFill>
            <a:srgbClr val="0D1117"/>
          </a:solidFill>
          <a:ln w="12700">
            <a:solidFill>
              <a:srgbClr val="30363D"/>
            </a:solidFill>
            <a:prstDash val="solid"/>
          </a:ln>
        </p:spPr>
        <p:txBody>
          <a:bodyPr/>
          <a:lstStyle/>
          <a:p>
            <a:endParaRPr lang="en-US"/>
          </a:p>
        </p:txBody>
      </p:sp>
      <p:sp>
        <p:nvSpPr>
          <p:cNvPr id="34" name="Text 32"/>
          <p:cNvSpPr/>
          <p:nvPr/>
        </p:nvSpPr>
        <p:spPr>
          <a:xfrm>
            <a:off x="6355080" y="2459736"/>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52,871</a:t>
            </a:r>
            <a:endParaRPr lang="en-US" sz="800" dirty="0"/>
          </a:p>
        </p:txBody>
      </p:sp>
      <p:sp>
        <p:nvSpPr>
          <p:cNvPr id="35" name="Shape 33"/>
          <p:cNvSpPr/>
          <p:nvPr/>
        </p:nvSpPr>
        <p:spPr>
          <a:xfrm>
            <a:off x="7178040" y="2459736"/>
            <a:ext cx="822960" cy="457200"/>
          </a:xfrm>
          <a:prstGeom prst="rect">
            <a:avLst/>
          </a:prstGeom>
          <a:solidFill>
            <a:srgbClr val="0D1117"/>
          </a:solidFill>
          <a:ln w="12700">
            <a:solidFill>
              <a:srgbClr val="30363D"/>
            </a:solidFill>
            <a:prstDash val="solid"/>
          </a:ln>
        </p:spPr>
        <p:txBody>
          <a:bodyPr/>
          <a:lstStyle/>
          <a:p>
            <a:endParaRPr lang="en-US"/>
          </a:p>
        </p:txBody>
      </p:sp>
      <p:sp>
        <p:nvSpPr>
          <p:cNvPr id="36" name="Text 34"/>
          <p:cNvSpPr/>
          <p:nvPr/>
        </p:nvSpPr>
        <p:spPr>
          <a:xfrm>
            <a:off x="7178040" y="2459736"/>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74,209</a:t>
            </a:r>
            <a:endParaRPr lang="en-US" sz="800" dirty="0"/>
          </a:p>
        </p:txBody>
      </p:sp>
      <p:sp>
        <p:nvSpPr>
          <p:cNvPr id="37" name="Shape 35"/>
          <p:cNvSpPr/>
          <p:nvPr/>
        </p:nvSpPr>
        <p:spPr>
          <a:xfrm>
            <a:off x="8001000" y="2459736"/>
            <a:ext cx="822960" cy="457200"/>
          </a:xfrm>
          <a:prstGeom prst="rect">
            <a:avLst/>
          </a:prstGeom>
          <a:solidFill>
            <a:srgbClr val="0D1117"/>
          </a:solidFill>
          <a:ln w="12700">
            <a:solidFill>
              <a:srgbClr val="30363D"/>
            </a:solidFill>
            <a:prstDash val="solid"/>
          </a:ln>
        </p:spPr>
        <p:txBody>
          <a:bodyPr/>
          <a:lstStyle/>
          <a:p>
            <a:endParaRPr lang="en-US"/>
          </a:p>
        </p:txBody>
      </p:sp>
      <p:sp>
        <p:nvSpPr>
          <p:cNvPr id="38" name="Text 36"/>
          <p:cNvSpPr/>
          <p:nvPr/>
        </p:nvSpPr>
        <p:spPr>
          <a:xfrm>
            <a:off x="8001000" y="2459736"/>
            <a:ext cx="822960" cy="457200"/>
          </a:xfrm>
          <a:prstGeom prst="rect">
            <a:avLst/>
          </a:prstGeom>
          <a:noFill/>
          <a:ln/>
        </p:spPr>
        <p:txBody>
          <a:bodyPr wrap="square" rtlCol="0" anchor="ctr"/>
          <a:lstStyle/>
          <a:p>
            <a:pPr marL="0" indent="0" algn="ctr">
              <a:buNone/>
            </a:pPr>
            <a:r>
              <a:rPr lang="en-US" altLang="en-US" sz="800" dirty="0">
                <a:solidFill>
                  <a:srgbClr val="238636"/>
                </a:solidFill>
                <a:latin typeface="Calibri" pitchFamily="34" charset="0"/>
                <a:ea typeface="Calibri" pitchFamily="34" charset="-122"/>
                <a:cs typeface="Calibri" pitchFamily="34" charset="-120"/>
              </a:rPr>
              <a:t>127,080</a:t>
            </a:r>
            <a:endParaRPr lang="en-US" sz="800" dirty="0"/>
          </a:p>
        </p:txBody>
      </p:sp>
      <p:sp>
        <p:nvSpPr>
          <p:cNvPr id="39" name="Shape 37"/>
          <p:cNvSpPr/>
          <p:nvPr/>
        </p:nvSpPr>
        <p:spPr>
          <a:xfrm>
            <a:off x="5532120" y="2935224"/>
            <a:ext cx="822960" cy="457200"/>
          </a:xfrm>
          <a:prstGeom prst="rect">
            <a:avLst/>
          </a:prstGeom>
          <a:solidFill>
            <a:srgbClr val="161B22"/>
          </a:solidFill>
          <a:ln w="12700">
            <a:solidFill>
              <a:srgbClr val="30363D"/>
            </a:solidFill>
            <a:prstDash val="solid"/>
          </a:ln>
        </p:spPr>
        <p:txBody>
          <a:bodyPr/>
          <a:lstStyle/>
          <a:p>
            <a:endParaRPr lang="en-US"/>
          </a:p>
        </p:txBody>
      </p:sp>
      <p:sp>
        <p:nvSpPr>
          <p:cNvPr id="40" name="Text 38"/>
          <p:cNvSpPr/>
          <p:nvPr/>
        </p:nvSpPr>
        <p:spPr>
          <a:xfrm>
            <a:off x="5532120" y="2935224"/>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30 days</a:t>
            </a:r>
            <a:endParaRPr lang="en-US" sz="800" dirty="0"/>
          </a:p>
        </p:txBody>
      </p:sp>
      <p:sp>
        <p:nvSpPr>
          <p:cNvPr id="41" name="Shape 39"/>
          <p:cNvSpPr/>
          <p:nvPr/>
        </p:nvSpPr>
        <p:spPr>
          <a:xfrm>
            <a:off x="6355080" y="2935224"/>
            <a:ext cx="822960" cy="457200"/>
          </a:xfrm>
          <a:prstGeom prst="rect">
            <a:avLst/>
          </a:prstGeom>
          <a:solidFill>
            <a:srgbClr val="161B22"/>
          </a:solidFill>
          <a:ln w="12700">
            <a:solidFill>
              <a:srgbClr val="30363D"/>
            </a:solidFill>
            <a:prstDash val="solid"/>
          </a:ln>
        </p:spPr>
        <p:txBody>
          <a:bodyPr/>
          <a:lstStyle/>
          <a:p>
            <a:endParaRPr lang="en-US"/>
          </a:p>
        </p:txBody>
      </p:sp>
      <p:sp>
        <p:nvSpPr>
          <p:cNvPr id="42" name="Text 40"/>
          <p:cNvSpPr/>
          <p:nvPr/>
        </p:nvSpPr>
        <p:spPr>
          <a:xfrm>
            <a:off x="6355080" y="2935224"/>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218,540</a:t>
            </a:r>
            <a:endParaRPr lang="en-US" sz="800" dirty="0"/>
          </a:p>
        </p:txBody>
      </p:sp>
      <p:sp>
        <p:nvSpPr>
          <p:cNvPr id="43" name="Shape 41"/>
          <p:cNvSpPr/>
          <p:nvPr/>
        </p:nvSpPr>
        <p:spPr>
          <a:xfrm>
            <a:off x="7178040" y="2935224"/>
            <a:ext cx="822960" cy="457200"/>
          </a:xfrm>
          <a:prstGeom prst="rect">
            <a:avLst/>
          </a:prstGeom>
          <a:solidFill>
            <a:srgbClr val="161B22"/>
          </a:solidFill>
          <a:ln w="12700">
            <a:solidFill>
              <a:srgbClr val="30363D"/>
            </a:solidFill>
            <a:prstDash val="solid"/>
          </a:ln>
        </p:spPr>
        <p:txBody>
          <a:bodyPr/>
          <a:lstStyle/>
          <a:p>
            <a:endParaRPr lang="en-US"/>
          </a:p>
        </p:txBody>
      </p:sp>
      <p:sp>
        <p:nvSpPr>
          <p:cNvPr id="44" name="Text 42"/>
          <p:cNvSpPr/>
          <p:nvPr/>
        </p:nvSpPr>
        <p:spPr>
          <a:xfrm>
            <a:off x="7178040" y="2935224"/>
            <a:ext cx="822960" cy="457200"/>
          </a:xfrm>
          <a:prstGeom prst="rect">
            <a:avLst/>
          </a:prstGeom>
          <a:noFill/>
          <a:ln/>
        </p:spPr>
        <p:txBody>
          <a:bodyPr wrap="square" rtlCol="0" anchor="ctr"/>
          <a:lstStyle/>
          <a:p>
            <a:pPr marL="0" indent="0" algn="ctr">
              <a:buNone/>
            </a:pPr>
            <a:r>
              <a:rPr lang="en-US" altLang="en-US" sz="800" dirty="0">
                <a:solidFill>
                  <a:srgbClr val="F0F6FC"/>
                </a:solidFill>
                <a:latin typeface="Calibri" pitchFamily="34" charset="0"/>
                <a:ea typeface="Calibri" pitchFamily="34" charset="-122"/>
                <a:cs typeface="Calibri" pitchFamily="34" charset="-120"/>
              </a:rPr>
              <a:t>301,883</a:t>
            </a:r>
            <a:endParaRPr lang="en-US" sz="800" dirty="0"/>
          </a:p>
        </p:txBody>
      </p:sp>
      <p:sp>
        <p:nvSpPr>
          <p:cNvPr id="45" name="Shape 43"/>
          <p:cNvSpPr/>
          <p:nvPr/>
        </p:nvSpPr>
        <p:spPr>
          <a:xfrm>
            <a:off x="8001000" y="2935224"/>
            <a:ext cx="822960" cy="457200"/>
          </a:xfrm>
          <a:prstGeom prst="rect">
            <a:avLst/>
          </a:prstGeom>
          <a:solidFill>
            <a:srgbClr val="161B22"/>
          </a:solidFill>
          <a:ln w="12700">
            <a:solidFill>
              <a:srgbClr val="30363D"/>
            </a:solidFill>
            <a:prstDash val="solid"/>
          </a:ln>
        </p:spPr>
        <p:txBody>
          <a:bodyPr/>
          <a:lstStyle/>
          <a:p>
            <a:endParaRPr lang="en-US"/>
          </a:p>
        </p:txBody>
      </p:sp>
      <p:sp>
        <p:nvSpPr>
          <p:cNvPr id="46" name="Text 44"/>
          <p:cNvSpPr/>
          <p:nvPr/>
        </p:nvSpPr>
        <p:spPr>
          <a:xfrm>
            <a:off x="8001000" y="2935224"/>
            <a:ext cx="822960" cy="457200"/>
          </a:xfrm>
          <a:prstGeom prst="rect">
            <a:avLst/>
          </a:prstGeom>
          <a:noFill/>
          <a:ln/>
        </p:spPr>
        <p:txBody>
          <a:bodyPr wrap="square" rtlCol="0" anchor="ctr"/>
          <a:lstStyle/>
          <a:p>
            <a:pPr marL="0" indent="0" algn="ctr">
              <a:buNone/>
            </a:pPr>
            <a:r>
              <a:rPr lang="en-US" altLang="en-US" sz="800" dirty="0">
                <a:solidFill>
                  <a:srgbClr val="238636"/>
                </a:solidFill>
                <a:latin typeface="Calibri" pitchFamily="34" charset="0"/>
                <a:ea typeface="Calibri" pitchFamily="34" charset="-122"/>
                <a:cs typeface="Calibri" pitchFamily="34" charset="-120"/>
              </a:rPr>
              <a:t>520,423</a:t>
            </a:r>
            <a:endParaRPr lang="en-US" sz="800" dirty="0"/>
          </a:p>
        </p:txBody>
      </p:sp>
      <p:sp>
        <p:nvSpPr>
          <p:cNvPr id="47" name="Text 45"/>
          <p:cNvSpPr/>
          <p:nvPr/>
        </p:nvSpPr>
        <p:spPr>
          <a:xfrm>
            <a:off x="5623560" y="3456432"/>
            <a:ext cx="3063240" cy="256032"/>
          </a:xfrm>
          <a:prstGeom prst="rect">
            <a:avLst/>
          </a:prstGeom>
          <a:noFill/>
          <a:ln/>
        </p:spPr>
        <p:txBody>
          <a:bodyPr wrap="square" rtlCol="0" anchor="ctr"/>
          <a:lstStyle/>
          <a:p>
            <a:pPr marL="0" indent="0">
              <a:buNone/>
            </a:pPr>
            <a:r>
              <a:rPr lang="en-US" altLang="en-US" sz="900" dirty="0">
                <a:solidFill>
                  <a:srgbClr val="8B949E"/>
                </a:solidFill>
                <a:latin typeface="Calibri" pitchFamily="34" charset="0"/>
                <a:ea typeface="Calibri" pitchFamily="34" charset="-122"/>
                <a:cs typeface="Calibri" pitchFamily="34" charset="-120"/>
              </a:rPr>
              <a:t>Fluency Score categories:</a:t>
            </a:r>
            <a:endParaRPr lang="en-US" sz="900" dirty="0"/>
          </a:p>
        </p:txBody>
      </p:sp>
      <p:sp>
        <p:nvSpPr>
          <p:cNvPr id="48" name="Shape 46"/>
          <p:cNvSpPr/>
          <p:nvPr/>
        </p:nvSpPr>
        <p:spPr>
          <a:xfrm>
            <a:off x="5623560" y="3749040"/>
            <a:ext cx="1463040" cy="0"/>
          </a:xfrm>
          <a:prstGeom prst="rect">
            <a:avLst/>
          </a:prstGeom>
          <a:noFill/>
          <a:ln/>
        </p:spPr>
        <p:txBody>
          <a:bodyPr/>
          <a:lstStyle/>
          <a:p>
            <a:endParaRPr lang="en-US"/>
          </a:p>
        </p:txBody>
      </p:sp>
      <p:sp>
        <p:nvSpPr>
          <p:cNvPr id="49" name="Shape 47"/>
          <p:cNvSpPr/>
          <p:nvPr/>
        </p:nvSpPr>
        <p:spPr>
          <a:xfrm>
            <a:off x="5623560" y="3749040"/>
            <a:ext cx="1463040" cy="0"/>
          </a:xfrm>
          <a:prstGeom prst="rect">
            <a:avLst/>
          </a:prstGeom>
          <a:noFill/>
          <a:ln/>
        </p:spPr>
        <p:txBody>
          <a:bodyPr/>
          <a:lstStyle/>
          <a:p>
            <a:endParaRPr lang="en-US"/>
          </a:p>
        </p:txBody>
      </p:sp>
      <p:sp>
        <p:nvSpPr>
          <p:cNvPr id="50" name="Shape 48"/>
          <p:cNvSpPr/>
          <p:nvPr/>
        </p:nvSpPr>
        <p:spPr>
          <a:xfrm>
            <a:off x="5623560" y="3749040"/>
            <a:ext cx="1463040" cy="0"/>
          </a:xfrm>
          <a:prstGeom prst="rect">
            <a:avLst/>
          </a:prstGeom>
          <a:noFill/>
          <a:ln/>
        </p:spPr>
        <p:txBody>
          <a:bodyPr/>
          <a:lstStyle/>
          <a:p>
            <a:endParaRPr lang="en-US"/>
          </a:p>
        </p:txBody>
      </p:sp>
      <p:sp>
        <p:nvSpPr>
          <p:cNvPr id="51" name="Shape 49"/>
          <p:cNvSpPr/>
          <p:nvPr/>
        </p:nvSpPr>
        <p:spPr>
          <a:xfrm>
            <a:off x="5623560" y="3749040"/>
            <a:ext cx="1463040" cy="0"/>
          </a:xfrm>
          <a:prstGeom prst="rect">
            <a:avLst/>
          </a:prstGeom>
          <a:noFill/>
          <a:ln/>
        </p:spPr>
        <p:txBody>
          <a:bodyPr/>
          <a:lstStyle/>
          <a:p>
            <a:endParaRPr lang="en-US"/>
          </a:p>
        </p:txBody>
      </p:sp>
      <p:sp>
        <p:nvSpPr>
          <p:cNvPr id="52" name="Shape 50"/>
          <p:cNvSpPr/>
          <p:nvPr/>
        </p:nvSpPr>
        <p:spPr>
          <a:xfrm>
            <a:off x="5623560" y="3749040"/>
            <a:ext cx="1463040" cy="0"/>
          </a:xfrm>
          <a:prstGeom prst="rect">
            <a:avLst/>
          </a:prstGeom>
          <a:noFill/>
          <a:ln/>
        </p:spPr>
        <p:txBody>
          <a:bodyPr/>
          <a:lstStyle/>
          <a:p>
            <a:endParaRPr lang="en-US"/>
          </a:p>
        </p:txBody>
      </p:sp>
      <p:sp>
        <p:nvSpPr>
          <p:cNvPr id="53" name="Shape 51"/>
          <p:cNvSpPr/>
          <p:nvPr/>
        </p:nvSpPr>
        <p:spPr>
          <a:xfrm>
            <a:off x="5623560" y="3749040"/>
            <a:ext cx="1463040" cy="0"/>
          </a:xfrm>
          <a:prstGeom prst="rect">
            <a:avLst/>
          </a:prstGeom>
          <a:noFill/>
          <a:ln/>
        </p:spPr>
        <p:txBody>
          <a:bodyPr/>
          <a:lstStyle/>
          <a:p>
            <a:endParaRPr lang="en-US"/>
          </a:p>
        </p:txBody>
      </p:sp>
      <p:sp>
        <p:nvSpPr>
          <p:cNvPr id="54" name="Text 52"/>
          <p:cNvSpPr/>
          <p:nvPr/>
        </p:nvSpPr>
        <p:spPr>
          <a:xfrm>
            <a:off x="5623560" y="3749040"/>
            <a:ext cx="3108960" cy="594360"/>
          </a:xfrm>
          <a:prstGeom prst="rect">
            <a:avLst/>
          </a:prstGeom>
          <a:noFill/>
          <a:ln/>
        </p:spPr>
        <p:txBody>
          <a:bodyPr wrap="square" rtlCol="0" anchor="ctr"/>
          <a:lstStyle/>
          <a:p>
            <a:pPr marL="0" indent="0">
              <a:buNone/>
            </a:pPr>
            <a:r>
              <a:rPr lang="en-US" altLang="en-US" sz="750" dirty="0">
                <a:solidFill>
                  <a:srgbClr val="8250DF"/>
                </a:solidFill>
                <a:latin typeface="Calibri" pitchFamily="34" charset="0"/>
                <a:ea typeface="Calibri" pitchFamily="34" charset="-122"/>
                <a:cs typeface="Calibri" pitchFamily="34" charset="-120"/>
              </a:rPr>
              <a:t>Prompt Engineering  ·  Context Engineering  ·  Agentic  ·  Tool Usage  ·  Customization  ·  Workflow Integration</a:t>
            </a:r>
            <a:endParaRPr lang="en-US" sz="750" dirty="0"/>
          </a:p>
        </p:txBody>
      </p:sp>
      <p:sp>
        <p:nvSpPr>
          <p:cNvPr id="55" name="Shape 53"/>
          <p:cNvSpPr/>
          <p:nvPr/>
        </p:nvSpPr>
        <p:spPr>
          <a:xfrm>
            <a:off x="320040" y="4572000"/>
            <a:ext cx="8503920" cy="347472"/>
          </a:xfrm>
          <a:prstGeom prst="roundRect">
            <a:avLst>
              <a:gd name="adj" fmla="val 15789"/>
            </a:avLst>
          </a:prstGeom>
          <a:solidFill>
            <a:srgbClr val="161B22"/>
          </a:solidFill>
          <a:ln w="12700">
            <a:solidFill>
              <a:srgbClr val="8250DF"/>
            </a:solidFill>
            <a:prstDash val="solid"/>
          </a:ln>
        </p:spPr>
        <p:txBody>
          <a:bodyPr/>
          <a:lstStyle/>
          <a:p>
            <a:endParaRPr lang="en-US"/>
          </a:p>
        </p:txBody>
      </p:sp>
      <p:sp>
        <p:nvSpPr>
          <p:cNvPr id="56" name="Text 54"/>
          <p:cNvSpPr/>
          <p:nvPr/>
        </p:nvSpPr>
        <p:spPr>
          <a:xfrm>
            <a:off x="457200" y="4590288"/>
            <a:ext cx="8321040" cy="310896"/>
          </a:xfrm>
          <a:prstGeom prst="rect">
            <a:avLst/>
          </a:prstGeom>
          <a:noFill/>
          <a:ln/>
        </p:spPr>
        <p:txBody>
          <a:bodyPr wrap="square" rtlCol="0" anchor="ctr"/>
          <a:lstStyle/>
          <a:p>
            <a:pPr marL="0" indent="0" algn="ctr">
              <a:buNone/>
            </a:pPr>
            <a:r>
              <a:rPr lang="en-US" altLang="en-US" sz="950" dirty="0">
                <a:solidFill>
                  <a:srgbClr val="8250DF"/>
                </a:solidFill>
                <a:latin typeface="Calibri" pitchFamily="34" charset="0"/>
                <a:ea typeface="Calibri" pitchFamily="34" charset="-122"/>
                <a:cs typeface="Calibri" pitchFamily="34" charset="-120"/>
              </a:rPr>
              <a:t>Install: Search 'AI Engineering Fluency' in VS Code Extensions  |  github.com/rajbos/ai-engineering-fluency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Putting It All Together</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Real token counts: baseline vs. fully optimised</a:t>
            </a:r>
            <a:endParaRPr lang="en-US" sz="1300" dirty="0"/>
          </a:p>
        </p:txBody>
      </p:sp>
      <p:sp>
        <p:nvSpPr>
          <p:cNvPr id="5" name="Text 3"/>
          <p:cNvSpPr/>
          <p:nvPr/>
        </p:nvSpPr>
        <p:spPr>
          <a:xfrm>
            <a:off x="320040" y="1024128"/>
            <a:ext cx="2377440" cy="347472"/>
          </a:xfrm>
          <a:prstGeom prst="rect">
            <a:avLst/>
          </a:prstGeom>
          <a:noFill/>
          <a:ln/>
        </p:spPr>
        <p:txBody>
          <a:bodyPr wrap="square" rtlCol="0" anchor="b"/>
          <a:lstStyle/>
          <a:p>
            <a:pPr marL="0" indent="0">
              <a:buNone/>
            </a:pPr>
            <a:r>
              <a:rPr lang="en-US" altLang="en-US" sz="1100" b="1" dirty="0">
                <a:solidFill>
                  <a:srgbClr val="F0F6FC"/>
                </a:solidFill>
                <a:latin typeface="Calibri" pitchFamily="34" charset="0"/>
                <a:ea typeface="Calibri" pitchFamily="34" charset="-122"/>
                <a:cs typeface="Calibri" pitchFamily="34" charset="-120"/>
              </a:rPr>
              <a:t>Simple chat Q&amp;A</a:t>
            </a:r>
            <a:endParaRPr lang="en-US" sz="1100" dirty="0"/>
          </a:p>
        </p:txBody>
      </p:sp>
      <p:sp>
        <p:nvSpPr>
          <p:cNvPr id="6" name="Text 4"/>
          <p:cNvSpPr/>
          <p:nvPr/>
        </p:nvSpPr>
        <p:spPr>
          <a:xfrm>
            <a:off x="320040" y="1371600"/>
            <a:ext cx="2377440"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Best with: Caveman</a:t>
            </a:r>
            <a:endParaRPr lang="en-US" sz="800" dirty="0"/>
          </a:p>
        </p:txBody>
      </p:sp>
      <p:sp>
        <p:nvSpPr>
          <p:cNvPr id="7" name="Shape 5"/>
          <p:cNvSpPr/>
          <p:nvPr/>
        </p:nvSpPr>
        <p:spPr>
          <a:xfrm>
            <a:off x="2788920" y="1060704"/>
            <a:ext cx="181051" cy="256032"/>
          </a:xfrm>
          <a:prstGeom prst="rect">
            <a:avLst/>
          </a:prstGeom>
          <a:solidFill>
            <a:srgbClr val="E3672B"/>
          </a:solidFill>
          <a:ln w="12700">
            <a:solidFill>
              <a:srgbClr val="E3672B"/>
            </a:solidFill>
            <a:prstDash val="solid"/>
          </a:ln>
        </p:spPr>
        <p:txBody>
          <a:bodyPr/>
          <a:lstStyle/>
          <a:p>
            <a:endParaRPr lang="en-US"/>
          </a:p>
        </p:txBody>
      </p:sp>
      <p:sp>
        <p:nvSpPr>
          <p:cNvPr id="8" name="Text 6"/>
          <p:cNvSpPr/>
          <p:nvPr/>
        </p:nvSpPr>
        <p:spPr>
          <a:xfrm>
            <a:off x="3015691" y="1060704"/>
            <a:ext cx="822960" cy="256032"/>
          </a:xfrm>
          <a:prstGeom prst="rect">
            <a:avLst/>
          </a:prstGeom>
          <a:noFill/>
          <a:ln/>
        </p:spPr>
        <p:txBody>
          <a:bodyPr wrap="square" rtlCol="0" anchor="ctr"/>
          <a:lstStyle/>
          <a:p>
            <a:pPr marL="0" indent="0">
              <a:buNone/>
            </a:pPr>
            <a:r>
              <a:rPr lang="en-US" altLang="en-US" sz="900" b="1" dirty="0">
                <a:solidFill>
                  <a:srgbClr val="E3672B"/>
                </a:solidFill>
                <a:latin typeface="Calibri" pitchFamily="34" charset="0"/>
                <a:ea typeface="Calibri" pitchFamily="34" charset="-122"/>
                <a:cs typeface="Calibri" pitchFamily="34" charset="-120"/>
              </a:rPr>
              <a:t>4,200</a:t>
            </a:r>
            <a:endParaRPr lang="en-US" sz="900" dirty="0"/>
          </a:p>
        </p:txBody>
      </p:sp>
      <p:sp>
        <p:nvSpPr>
          <p:cNvPr id="9" name="Shape 7"/>
          <p:cNvSpPr/>
          <p:nvPr/>
        </p:nvSpPr>
        <p:spPr>
          <a:xfrm>
            <a:off x="2788920" y="1371600"/>
            <a:ext cx="64661" cy="256032"/>
          </a:xfrm>
          <a:prstGeom prst="rect">
            <a:avLst/>
          </a:prstGeom>
          <a:solidFill>
            <a:srgbClr val="238636"/>
          </a:solidFill>
          <a:ln w="12700">
            <a:solidFill>
              <a:srgbClr val="238636"/>
            </a:solidFill>
            <a:prstDash val="solid"/>
          </a:ln>
        </p:spPr>
        <p:txBody>
          <a:bodyPr/>
          <a:lstStyle/>
          <a:p>
            <a:endParaRPr lang="en-US"/>
          </a:p>
        </p:txBody>
      </p:sp>
      <p:sp>
        <p:nvSpPr>
          <p:cNvPr id="10" name="Text 8"/>
          <p:cNvSpPr/>
          <p:nvPr/>
        </p:nvSpPr>
        <p:spPr>
          <a:xfrm>
            <a:off x="2899301" y="1371600"/>
            <a:ext cx="822960" cy="256032"/>
          </a:xfrm>
          <a:prstGeom prst="rect">
            <a:avLst/>
          </a:prstGeom>
          <a:noFill/>
          <a:ln/>
        </p:spPr>
        <p:txBody>
          <a:bodyPr wrap="square" rtlCol="0" anchor="ctr"/>
          <a:lstStyle/>
          <a:p>
            <a:pPr marL="0" indent="0">
              <a:buNone/>
            </a:pPr>
            <a:r>
              <a:rPr lang="en-US" altLang="en-US" sz="900" b="1" dirty="0">
                <a:solidFill>
                  <a:srgbClr val="238636"/>
                </a:solidFill>
                <a:latin typeface="Calibri" pitchFamily="34" charset="0"/>
                <a:ea typeface="Calibri" pitchFamily="34" charset="-122"/>
                <a:cs typeface="Calibri" pitchFamily="34" charset="-120"/>
              </a:rPr>
              <a:t>1,500</a:t>
            </a:r>
            <a:endParaRPr lang="en-US" sz="900" dirty="0"/>
          </a:p>
        </p:txBody>
      </p:sp>
      <p:sp>
        <p:nvSpPr>
          <p:cNvPr id="11" name="Shape 9"/>
          <p:cNvSpPr/>
          <p:nvPr/>
        </p:nvSpPr>
        <p:spPr>
          <a:xfrm>
            <a:off x="8549640" y="1133856"/>
            <a:ext cx="530352" cy="402336"/>
          </a:xfrm>
          <a:prstGeom prst="roundRect">
            <a:avLst>
              <a:gd name="adj" fmla="val 13636"/>
            </a:avLst>
          </a:prstGeom>
          <a:solidFill>
            <a:srgbClr val="161B22"/>
          </a:solidFill>
          <a:ln w="12700">
            <a:solidFill>
              <a:srgbClr val="238636"/>
            </a:solidFill>
            <a:prstDash val="solid"/>
          </a:ln>
        </p:spPr>
        <p:txBody>
          <a:bodyPr/>
          <a:lstStyle/>
          <a:p>
            <a:endParaRPr lang="en-US"/>
          </a:p>
        </p:txBody>
      </p:sp>
      <p:sp>
        <p:nvSpPr>
          <p:cNvPr id="12" name="Text 10"/>
          <p:cNvSpPr/>
          <p:nvPr/>
        </p:nvSpPr>
        <p:spPr>
          <a:xfrm>
            <a:off x="8549640" y="1133856"/>
            <a:ext cx="530352" cy="402336"/>
          </a:xfrm>
          <a:prstGeom prst="rect">
            <a:avLst/>
          </a:prstGeom>
          <a:noFill/>
          <a:ln/>
        </p:spPr>
        <p:txBody>
          <a:bodyPr wrap="square" rtlCol="0" anchor="ctr"/>
          <a:lstStyle/>
          <a:p>
            <a:pPr marL="0" indent="0" algn="ctr">
              <a:buNone/>
            </a:pPr>
            <a:r>
              <a:rPr lang="en-US" altLang="en-US" sz="1100" b="1" dirty="0">
                <a:solidFill>
                  <a:srgbClr val="238636"/>
                </a:solidFill>
                <a:latin typeface="Calibri" pitchFamily="34" charset="0"/>
                <a:ea typeface="Calibri" pitchFamily="34" charset="-122"/>
                <a:cs typeface="Calibri" pitchFamily="34" charset="-120"/>
              </a:rPr>
              <a:t>-64%</a:t>
            </a:r>
            <a:endParaRPr lang="en-US" sz="1100" dirty="0"/>
          </a:p>
        </p:txBody>
      </p:sp>
      <p:sp>
        <p:nvSpPr>
          <p:cNvPr id="13" name="Shape 11"/>
          <p:cNvSpPr/>
          <p:nvPr/>
        </p:nvSpPr>
        <p:spPr>
          <a:xfrm>
            <a:off x="320040" y="2011680"/>
            <a:ext cx="8503920" cy="9144"/>
          </a:xfrm>
          <a:prstGeom prst="rect">
            <a:avLst/>
          </a:prstGeom>
          <a:solidFill>
            <a:srgbClr val="30363D"/>
          </a:solidFill>
          <a:ln w="12700">
            <a:solidFill>
              <a:srgbClr val="30363D"/>
            </a:solidFill>
            <a:prstDash val="solid"/>
          </a:ln>
        </p:spPr>
        <p:txBody>
          <a:bodyPr/>
          <a:lstStyle/>
          <a:p>
            <a:endParaRPr lang="en-US"/>
          </a:p>
        </p:txBody>
      </p:sp>
      <p:sp>
        <p:nvSpPr>
          <p:cNvPr id="14" name="Text 12"/>
          <p:cNvSpPr/>
          <p:nvPr/>
        </p:nvSpPr>
        <p:spPr>
          <a:xfrm>
            <a:off x="320040" y="2029968"/>
            <a:ext cx="2377440" cy="347472"/>
          </a:xfrm>
          <a:prstGeom prst="rect">
            <a:avLst/>
          </a:prstGeom>
          <a:noFill/>
          <a:ln/>
        </p:spPr>
        <p:txBody>
          <a:bodyPr wrap="square" rtlCol="0" anchor="b"/>
          <a:lstStyle/>
          <a:p>
            <a:pPr marL="0" indent="0">
              <a:buNone/>
            </a:pPr>
            <a:r>
              <a:rPr lang="en-US" altLang="en-US" sz="1100" b="1" dirty="0">
                <a:solidFill>
                  <a:srgbClr val="F0F6FC"/>
                </a:solidFill>
                <a:latin typeface="Calibri" pitchFamily="34" charset="0"/>
                <a:ea typeface="Calibri" pitchFamily="34" charset="-122"/>
                <a:cs typeface="Calibri" pitchFamily="34" charset="-120"/>
              </a:rPr>
              <a:t>.NET build debug</a:t>
            </a:r>
            <a:endParaRPr lang="en-US" sz="1100" dirty="0"/>
          </a:p>
        </p:txBody>
      </p:sp>
      <p:sp>
        <p:nvSpPr>
          <p:cNvPr id="15" name="Text 13"/>
          <p:cNvSpPr/>
          <p:nvPr/>
        </p:nvSpPr>
        <p:spPr>
          <a:xfrm>
            <a:off x="320040" y="2377440"/>
            <a:ext cx="2377440"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Best with: Caveman + RTK</a:t>
            </a:r>
            <a:endParaRPr lang="en-US" sz="800" dirty="0"/>
          </a:p>
        </p:txBody>
      </p:sp>
      <p:sp>
        <p:nvSpPr>
          <p:cNvPr id="16" name="Shape 14"/>
          <p:cNvSpPr/>
          <p:nvPr/>
        </p:nvSpPr>
        <p:spPr>
          <a:xfrm>
            <a:off x="2788920" y="2066544"/>
            <a:ext cx="797487" cy="256032"/>
          </a:xfrm>
          <a:prstGeom prst="rect">
            <a:avLst/>
          </a:prstGeom>
          <a:solidFill>
            <a:srgbClr val="E3672B"/>
          </a:solidFill>
          <a:ln w="12700">
            <a:solidFill>
              <a:srgbClr val="E3672B"/>
            </a:solidFill>
            <a:prstDash val="solid"/>
          </a:ln>
        </p:spPr>
        <p:txBody>
          <a:bodyPr/>
          <a:lstStyle/>
          <a:p>
            <a:endParaRPr lang="en-US"/>
          </a:p>
        </p:txBody>
      </p:sp>
      <p:sp>
        <p:nvSpPr>
          <p:cNvPr id="17" name="Text 15"/>
          <p:cNvSpPr/>
          <p:nvPr/>
        </p:nvSpPr>
        <p:spPr>
          <a:xfrm>
            <a:off x="3632127" y="2066544"/>
            <a:ext cx="822960" cy="256032"/>
          </a:xfrm>
          <a:prstGeom prst="rect">
            <a:avLst/>
          </a:prstGeom>
          <a:noFill/>
          <a:ln/>
        </p:spPr>
        <p:txBody>
          <a:bodyPr wrap="square" rtlCol="0" anchor="ctr"/>
          <a:lstStyle/>
          <a:p>
            <a:pPr marL="0" indent="0">
              <a:buNone/>
            </a:pPr>
            <a:r>
              <a:rPr lang="en-US" altLang="en-US" sz="900" b="1" dirty="0">
                <a:solidFill>
                  <a:srgbClr val="E3672B"/>
                </a:solidFill>
                <a:latin typeface="Calibri" pitchFamily="34" charset="0"/>
                <a:ea typeface="Calibri" pitchFamily="34" charset="-122"/>
                <a:cs typeface="Calibri" pitchFamily="34" charset="-120"/>
              </a:rPr>
              <a:t>18,500</a:t>
            </a:r>
            <a:endParaRPr lang="en-US" sz="900" dirty="0"/>
          </a:p>
        </p:txBody>
      </p:sp>
      <p:sp>
        <p:nvSpPr>
          <p:cNvPr id="18" name="Shape 16"/>
          <p:cNvSpPr/>
          <p:nvPr/>
        </p:nvSpPr>
        <p:spPr>
          <a:xfrm>
            <a:off x="2788920" y="2377440"/>
            <a:ext cx="137944" cy="256032"/>
          </a:xfrm>
          <a:prstGeom prst="rect">
            <a:avLst/>
          </a:prstGeom>
          <a:solidFill>
            <a:srgbClr val="238636"/>
          </a:solidFill>
          <a:ln w="12700">
            <a:solidFill>
              <a:srgbClr val="238636"/>
            </a:solidFill>
            <a:prstDash val="solid"/>
          </a:ln>
        </p:spPr>
        <p:txBody>
          <a:bodyPr/>
          <a:lstStyle/>
          <a:p>
            <a:endParaRPr lang="en-US"/>
          </a:p>
        </p:txBody>
      </p:sp>
      <p:sp>
        <p:nvSpPr>
          <p:cNvPr id="19" name="Text 17"/>
          <p:cNvSpPr/>
          <p:nvPr/>
        </p:nvSpPr>
        <p:spPr>
          <a:xfrm>
            <a:off x="2972584" y="2377440"/>
            <a:ext cx="822960" cy="256032"/>
          </a:xfrm>
          <a:prstGeom prst="rect">
            <a:avLst/>
          </a:prstGeom>
          <a:noFill/>
          <a:ln/>
        </p:spPr>
        <p:txBody>
          <a:bodyPr wrap="square" rtlCol="0" anchor="ctr"/>
          <a:lstStyle/>
          <a:p>
            <a:pPr marL="0" indent="0">
              <a:buNone/>
            </a:pPr>
            <a:r>
              <a:rPr lang="en-US" altLang="en-US" sz="900" b="1" dirty="0">
                <a:solidFill>
                  <a:srgbClr val="238636"/>
                </a:solidFill>
                <a:latin typeface="Calibri" pitchFamily="34" charset="0"/>
                <a:ea typeface="Calibri" pitchFamily="34" charset="-122"/>
                <a:cs typeface="Calibri" pitchFamily="34" charset="-120"/>
              </a:rPr>
              <a:t>3,200</a:t>
            </a:r>
            <a:endParaRPr lang="en-US" sz="900" dirty="0"/>
          </a:p>
        </p:txBody>
      </p:sp>
      <p:sp>
        <p:nvSpPr>
          <p:cNvPr id="20" name="Shape 18"/>
          <p:cNvSpPr/>
          <p:nvPr/>
        </p:nvSpPr>
        <p:spPr>
          <a:xfrm>
            <a:off x="8549640" y="2139696"/>
            <a:ext cx="530352" cy="402336"/>
          </a:xfrm>
          <a:prstGeom prst="roundRect">
            <a:avLst>
              <a:gd name="adj" fmla="val 13636"/>
            </a:avLst>
          </a:prstGeom>
          <a:solidFill>
            <a:srgbClr val="161B22"/>
          </a:solidFill>
          <a:ln w="12700">
            <a:solidFill>
              <a:srgbClr val="238636"/>
            </a:solidFill>
            <a:prstDash val="solid"/>
          </a:ln>
        </p:spPr>
        <p:txBody>
          <a:bodyPr/>
          <a:lstStyle/>
          <a:p>
            <a:endParaRPr lang="en-US"/>
          </a:p>
        </p:txBody>
      </p:sp>
      <p:sp>
        <p:nvSpPr>
          <p:cNvPr id="21" name="Text 19"/>
          <p:cNvSpPr/>
          <p:nvPr/>
        </p:nvSpPr>
        <p:spPr>
          <a:xfrm>
            <a:off x="8549640" y="2139696"/>
            <a:ext cx="530352" cy="402336"/>
          </a:xfrm>
          <a:prstGeom prst="rect">
            <a:avLst/>
          </a:prstGeom>
          <a:noFill/>
          <a:ln/>
        </p:spPr>
        <p:txBody>
          <a:bodyPr wrap="square" rtlCol="0" anchor="ctr"/>
          <a:lstStyle/>
          <a:p>
            <a:pPr marL="0" indent="0" algn="ctr">
              <a:buNone/>
            </a:pPr>
            <a:r>
              <a:rPr lang="en-US" altLang="en-US" sz="1100" b="1" dirty="0">
                <a:solidFill>
                  <a:srgbClr val="238636"/>
                </a:solidFill>
                <a:latin typeface="Calibri" pitchFamily="34" charset="0"/>
                <a:ea typeface="Calibri" pitchFamily="34" charset="-122"/>
                <a:cs typeface="Calibri" pitchFamily="34" charset="-120"/>
              </a:rPr>
              <a:t>-83%</a:t>
            </a:r>
            <a:endParaRPr lang="en-US" sz="1100" dirty="0"/>
          </a:p>
        </p:txBody>
      </p:sp>
      <p:sp>
        <p:nvSpPr>
          <p:cNvPr id="22" name="Shape 20"/>
          <p:cNvSpPr/>
          <p:nvPr/>
        </p:nvSpPr>
        <p:spPr>
          <a:xfrm>
            <a:off x="320040" y="3017520"/>
            <a:ext cx="8503920" cy="9144"/>
          </a:xfrm>
          <a:prstGeom prst="rect">
            <a:avLst/>
          </a:prstGeom>
          <a:solidFill>
            <a:srgbClr val="30363D"/>
          </a:solidFill>
          <a:ln w="12700">
            <a:solidFill>
              <a:srgbClr val="30363D"/>
            </a:solidFill>
            <a:prstDash val="solid"/>
          </a:ln>
        </p:spPr>
        <p:txBody>
          <a:bodyPr/>
          <a:lstStyle/>
          <a:p>
            <a:endParaRPr lang="en-US"/>
          </a:p>
        </p:txBody>
      </p:sp>
      <p:sp>
        <p:nvSpPr>
          <p:cNvPr id="23" name="Text 21"/>
          <p:cNvSpPr/>
          <p:nvPr/>
        </p:nvSpPr>
        <p:spPr>
          <a:xfrm>
            <a:off x="320040" y="3035808"/>
            <a:ext cx="2377440" cy="347472"/>
          </a:xfrm>
          <a:prstGeom prst="rect">
            <a:avLst/>
          </a:prstGeom>
          <a:noFill/>
          <a:ln/>
        </p:spPr>
        <p:txBody>
          <a:bodyPr wrap="square" rtlCol="0" anchor="b"/>
          <a:lstStyle/>
          <a:p>
            <a:pPr marL="0" indent="0">
              <a:buNone/>
            </a:pPr>
            <a:r>
              <a:rPr lang="en-US" altLang="en-US" sz="1100" b="1" dirty="0">
                <a:solidFill>
                  <a:srgbClr val="F0F6FC"/>
                </a:solidFill>
                <a:latin typeface="Calibri" pitchFamily="34" charset="0"/>
                <a:ea typeface="Calibri" pitchFamily="34" charset="-122"/>
                <a:cs typeface="Calibri" pitchFamily="34" charset="-120"/>
              </a:rPr>
              <a:t>Code review (3 files)</a:t>
            </a:r>
            <a:endParaRPr lang="en-US" sz="1100" dirty="0"/>
          </a:p>
        </p:txBody>
      </p:sp>
      <p:sp>
        <p:nvSpPr>
          <p:cNvPr id="24" name="Text 22"/>
          <p:cNvSpPr/>
          <p:nvPr/>
        </p:nvSpPr>
        <p:spPr>
          <a:xfrm>
            <a:off x="320040" y="3383280"/>
            <a:ext cx="2377440"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Best with: Caveman + #file refs</a:t>
            </a:r>
            <a:endParaRPr lang="en-US" sz="800" dirty="0"/>
          </a:p>
        </p:txBody>
      </p:sp>
      <p:sp>
        <p:nvSpPr>
          <p:cNvPr id="25" name="Shape 23"/>
          <p:cNvSpPr/>
          <p:nvPr/>
        </p:nvSpPr>
        <p:spPr>
          <a:xfrm>
            <a:off x="2788920" y="3072384"/>
            <a:ext cx="517289" cy="256032"/>
          </a:xfrm>
          <a:prstGeom prst="rect">
            <a:avLst/>
          </a:prstGeom>
          <a:solidFill>
            <a:srgbClr val="E3672B"/>
          </a:solidFill>
          <a:ln w="12700">
            <a:solidFill>
              <a:srgbClr val="E3672B"/>
            </a:solidFill>
            <a:prstDash val="solid"/>
          </a:ln>
        </p:spPr>
        <p:txBody>
          <a:bodyPr/>
          <a:lstStyle/>
          <a:p>
            <a:endParaRPr lang="en-US"/>
          </a:p>
        </p:txBody>
      </p:sp>
      <p:sp>
        <p:nvSpPr>
          <p:cNvPr id="26" name="Text 24"/>
          <p:cNvSpPr/>
          <p:nvPr/>
        </p:nvSpPr>
        <p:spPr>
          <a:xfrm>
            <a:off x="3351929" y="3072384"/>
            <a:ext cx="822960" cy="256032"/>
          </a:xfrm>
          <a:prstGeom prst="rect">
            <a:avLst/>
          </a:prstGeom>
          <a:noFill/>
          <a:ln/>
        </p:spPr>
        <p:txBody>
          <a:bodyPr wrap="square" rtlCol="0" anchor="ctr"/>
          <a:lstStyle/>
          <a:p>
            <a:pPr marL="0" indent="0">
              <a:buNone/>
            </a:pPr>
            <a:r>
              <a:rPr lang="en-US" altLang="en-US" sz="900" b="1" dirty="0">
                <a:solidFill>
                  <a:srgbClr val="E3672B"/>
                </a:solidFill>
                <a:latin typeface="Calibri" pitchFamily="34" charset="0"/>
                <a:ea typeface="Calibri" pitchFamily="34" charset="-122"/>
                <a:cs typeface="Calibri" pitchFamily="34" charset="-120"/>
              </a:rPr>
              <a:t>12,000</a:t>
            </a:r>
            <a:endParaRPr lang="en-US" sz="900" dirty="0"/>
          </a:p>
        </p:txBody>
      </p:sp>
      <p:sp>
        <p:nvSpPr>
          <p:cNvPr id="27" name="Shape 25"/>
          <p:cNvSpPr/>
          <p:nvPr/>
        </p:nvSpPr>
        <p:spPr>
          <a:xfrm>
            <a:off x="2788920" y="3383280"/>
            <a:ext cx="181051" cy="256032"/>
          </a:xfrm>
          <a:prstGeom prst="rect">
            <a:avLst/>
          </a:prstGeom>
          <a:solidFill>
            <a:srgbClr val="238636"/>
          </a:solidFill>
          <a:ln w="12700">
            <a:solidFill>
              <a:srgbClr val="238636"/>
            </a:solidFill>
            <a:prstDash val="solid"/>
          </a:ln>
        </p:spPr>
        <p:txBody>
          <a:bodyPr/>
          <a:lstStyle/>
          <a:p>
            <a:endParaRPr lang="en-US"/>
          </a:p>
        </p:txBody>
      </p:sp>
      <p:sp>
        <p:nvSpPr>
          <p:cNvPr id="28" name="Text 26"/>
          <p:cNvSpPr/>
          <p:nvPr/>
        </p:nvSpPr>
        <p:spPr>
          <a:xfrm>
            <a:off x="3015691" y="3383280"/>
            <a:ext cx="822960" cy="256032"/>
          </a:xfrm>
          <a:prstGeom prst="rect">
            <a:avLst/>
          </a:prstGeom>
          <a:noFill/>
          <a:ln/>
        </p:spPr>
        <p:txBody>
          <a:bodyPr wrap="square" rtlCol="0" anchor="ctr"/>
          <a:lstStyle/>
          <a:p>
            <a:pPr marL="0" indent="0">
              <a:buNone/>
            </a:pPr>
            <a:r>
              <a:rPr lang="en-US" altLang="en-US" sz="900" b="1" dirty="0">
                <a:solidFill>
                  <a:srgbClr val="238636"/>
                </a:solidFill>
                <a:latin typeface="Calibri" pitchFamily="34" charset="0"/>
                <a:ea typeface="Calibri" pitchFamily="34" charset="-122"/>
                <a:cs typeface="Calibri" pitchFamily="34" charset="-120"/>
              </a:rPr>
              <a:t>4,200</a:t>
            </a:r>
            <a:endParaRPr lang="en-US" sz="900" dirty="0"/>
          </a:p>
        </p:txBody>
      </p:sp>
      <p:sp>
        <p:nvSpPr>
          <p:cNvPr id="29" name="Shape 27"/>
          <p:cNvSpPr/>
          <p:nvPr/>
        </p:nvSpPr>
        <p:spPr>
          <a:xfrm>
            <a:off x="8549640" y="3145536"/>
            <a:ext cx="530352" cy="402336"/>
          </a:xfrm>
          <a:prstGeom prst="roundRect">
            <a:avLst>
              <a:gd name="adj" fmla="val 13636"/>
            </a:avLst>
          </a:prstGeom>
          <a:solidFill>
            <a:srgbClr val="161B22"/>
          </a:solidFill>
          <a:ln w="12700">
            <a:solidFill>
              <a:srgbClr val="238636"/>
            </a:solidFill>
            <a:prstDash val="solid"/>
          </a:ln>
        </p:spPr>
        <p:txBody>
          <a:bodyPr/>
          <a:lstStyle/>
          <a:p>
            <a:endParaRPr lang="en-US"/>
          </a:p>
        </p:txBody>
      </p:sp>
      <p:sp>
        <p:nvSpPr>
          <p:cNvPr id="30" name="Text 28"/>
          <p:cNvSpPr/>
          <p:nvPr/>
        </p:nvSpPr>
        <p:spPr>
          <a:xfrm>
            <a:off x="8549640" y="3145536"/>
            <a:ext cx="530352" cy="402336"/>
          </a:xfrm>
          <a:prstGeom prst="rect">
            <a:avLst/>
          </a:prstGeom>
          <a:noFill/>
          <a:ln/>
        </p:spPr>
        <p:txBody>
          <a:bodyPr wrap="square" rtlCol="0" anchor="ctr"/>
          <a:lstStyle/>
          <a:p>
            <a:pPr marL="0" indent="0" algn="ctr">
              <a:buNone/>
            </a:pPr>
            <a:r>
              <a:rPr lang="en-US" altLang="en-US" sz="1100" b="1" dirty="0">
                <a:solidFill>
                  <a:srgbClr val="238636"/>
                </a:solidFill>
                <a:latin typeface="Calibri" pitchFamily="34" charset="0"/>
                <a:ea typeface="Calibri" pitchFamily="34" charset="-122"/>
                <a:cs typeface="Calibri" pitchFamily="34" charset="-120"/>
              </a:rPr>
              <a:t>-65%</a:t>
            </a:r>
            <a:endParaRPr lang="en-US" sz="1100" dirty="0"/>
          </a:p>
        </p:txBody>
      </p:sp>
      <p:sp>
        <p:nvSpPr>
          <p:cNvPr id="31" name="Shape 29"/>
          <p:cNvSpPr/>
          <p:nvPr/>
        </p:nvSpPr>
        <p:spPr>
          <a:xfrm>
            <a:off x="320040" y="4023360"/>
            <a:ext cx="8503920" cy="9144"/>
          </a:xfrm>
          <a:prstGeom prst="rect">
            <a:avLst/>
          </a:prstGeom>
          <a:solidFill>
            <a:srgbClr val="30363D"/>
          </a:solidFill>
          <a:ln w="12700">
            <a:solidFill>
              <a:srgbClr val="30363D"/>
            </a:solidFill>
            <a:prstDash val="solid"/>
          </a:ln>
        </p:spPr>
        <p:txBody>
          <a:bodyPr/>
          <a:lstStyle/>
          <a:p>
            <a:endParaRPr lang="en-US"/>
          </a:p>
        </p:txBody>
      </p:sp>
      <p:sp>
        <p:nvSpPr>
          <p:cNvPr id="32" name="Text 30"/>
          <p:cNvSpPr/>
          <p:nvPr/>
        </p:nvSpPr>
        <p:spPr>
          <a:xfrm>
            <a:off x="320040" y="4041648"/>
            <a:ext cx="2377440" cy="347472"/>
          </a:xfrm>
          <a:prstGeom prst="rect">
            <a:avLst/>
          </a:prstGeom>
          <a:noFill/>
          <a:ln/>
        </p:spPr>
        <p:txBody>
          <a:bodyPr wrap="square" rtlCol="0" anchor="b"/>
          <a:lstStyle/>
          <a:p>
            <a:pPr marL="0" indent="0">
              <a:buNone/>
            </a:pPr>
            <a:r>
              <a:rPr lang="en-US" altLang="en-US" sz="1100" b="1" dirty="0">
                <a:solidFill>
                  <a:srgbClr val="F0F6FC"/>
                </a:solidFill>
                <a:latin typeface="Calibri" pitchFamily="34" charset="0"/>
                <a:ea typeface="Calibri" pitchFamily="34" charset="-122"/>
                <a:cs typeface="Calibri" pitchFamily="34" charset="-120"/>
              </a:rPr>
              <a:t>Agent task (10 steps)</a:t>
            </a:r>
            <a:endParaRPr lang="en-US" sz="1100" dirty="0"/>
          </a:p>
        </p:txBody>
      </p:sp>
      <p:sp>
        <p:nvSpPr>
          <p:cNvPr id="33" name="Text 31"/>
          <p:cNvSpPr/>
          <p:nvPr/>
        </p:nvSpPr>
        <p:spPr>
          <a:xfrm>
            <a:off x="320040" y="4389120"/>
            <a:ext cx="2377440" cy="201168"/>
          </a:xfrm>
          <a:prstGeom prst="rect">
            <a:avLst/>
          </a:prstGeom>
          <a:noFill/>
          <a:ln/>
        </p:spPr>
        <p:txBody>
          <a:bodyPr wrap="square" rtlCol="0" anchor="ctr"/>
          <a:lstStyle/>
          <a:p>
            <a:pPr marL="0" indent="0">
              <a:buNone/>
            </a:pPr>
            <a:r>
              <a:rPr lang="en-US" altLang="en-US" sz="800" dirty="0">
                <a:solidFill>
                  <a:srgbClr val="8B949E"/>
                </a:solidFill>
                <a:latin typeface="Calibri" pitchFamily="34" charset="0"/>
                <a:ea typeface="Calibri" pitchFamily="34" charset="-122"/>
                <a:cs typeface="Calibri" pitchFamily="34" charset="-120"/>
              </a:rPr>
              <a:t>Best with: RTK + session hygiene</a:t>
            </a:r>
            <a:endParaRPr lang="en-US" sz="800" dirty="0"/>
          </a:p>
        </p:txBody>
      </p:sp>
      <p:sp>
        <p:nvSpPr>
          <p:cNvPr id="34" name="Shape 32"/>
          <p:cNvSpPr/>
          <p:nvPr/>
        </p:nvSpPr>
        <p:spPr>
          <a:xfrm>
            <a:off x="2788920" y="4078224"/>
            <a:ext cx="2801983" cy="256032"/>
          </a:xfrm>
          <a:prstGeom prst="rect">
            <a:avLst/>
          </a:prstGeom>
          <a:solidFill>
            <a:srgbClr val="E3672B"/>
          </a:solidFill>
          <a:ln w="12700">
            <a:solidFill>
              <a:srgbClr val="E3672B"/>
            </a:solidFill>
            <a:prstDash val="solid"/>
          </a:ln>
        </p:spPr>
        <p:txBody>
          <a:bodyPr/>
          <a:lstStyle/>
          <a:p>
            <a:endParaRPr lang="en-US"/>
          </a:p>
        </p:txBody>
      </p:sp>
      <p:sp>
        <p:nvSpPr>
          <p:cNvPr id="35" name="Text 33"/>
          <p:cNvSpPr/>
          <p:nvPr/>
        </p:nvSpPr>
        <p:spPr>
          <a:xfrm>
            <a:off x="5636623" y="4078224"/>
            <a:ext cx="822960" cy="256032"/>
          </a:xfrm>
          <a:prstGeom prst="rect">
            <a:avLst/>
          </a:prstGeom>
          <a:noFill/>
          <a:ln/>
        </p:spPr>
        <p:txBody>
          <a:bodyPr wrap="square" rtlCol="0" anchor="ctr"/>
          <a:lstStyle/>
          <a:p>
            <a:pPr marL="0" indent="0">
              <a:buNone/>
            </a:pPr>
            <a:r>
              <a:rPr lang="en-US" altLang="en-US" sz="900" b="1" dirty="0">
                <a:solidFill>
                  <a:srgbClr val="E3672B"/>
                </a:solidFill>
                <a:latin typeface="Calibri" pitchFamily="34" charset="0"/>
                <a:ea typeface="Calibri" pitchFamily="34" charset="-122"/>
                <a:cs typeface="Calibri" pitchFamily="34" charset="-120"/>
              </a:rPr>
              <a:t>65,000</a:t>
            </a:r>
            <a:endParaRPr lang="en-US" sz="900" dirty="0"/>
          </a:p>
        </p:txBody>
      </p:sp>
      <p:sp>
        <p:nvSpPr>
          <p:cNvPr id="36" name="Shape 34"/>
          <p:cNvSpPr/>
          <p:nvPr/>
        </p:nvSpPr>
        <p:spPr>
          <a:xfrm>
            <a:off x="2788920" y="4389120"/>
            <a:ext cx="775934" cy="256032"/>
          </a:xfrm>
          <a:prstGeom prst="rect">
            <a:avLst/>
          </a:prstGeom>
          <a:solidFill>
            <a:srgbClr val="238636"/>
          </a:solidFill>
          <a:ln w="12700">
            <a:solidFill>
              <a:srgbClr val="238636"/>
            </a:solidFill>
            <a:prstDash val="solid"/>
          </a:ln>
        </p:spPr>
        <p:txBody>
          <a:bodyPr/>
          <a:lstStyle/>
          <a:p>
            <a:endParaRPr lang="en-US"/>
          </a:p>
        </p:txBody>
      </p:sp>
      <p:sp>
        <p:nvSpPr>
          <p:cNvPr id="37" name="Text 35"/>
          <p:cNvSpPr/>
          <p:nvPr/>
        </p:nvSpPr>
        <p:spPr>
          <a:xfrm>
            <a:off x="3610574" y="4389120"/>
            <a:ext cx="822960" cy="256032"/>
          </a:xfrm>
          <a:prstGeom prst="rect">
            <a:avLst/>
          </a:prstGeom>
          <a:noFill/>
          <a:ln/>
        </p:spPr>
        <p:txBody>
          <a:bodyPr wrap="square" rtlCol="0" anchor="ctr"/>
          <a:lstStyle/>
          <a:p>
            <a:pPr marL="0" indent="0">
              <a:buNone/>
            </a:pPr>
            <a:r>
              <a:rPr lang="en-US" altLang="en-US" sz="900" b="1" dirty="0">
                <a:solidFill>
                  <a:srgbClr val="238636"/>
                </a:solidFill>
                <a:latin typeface="Calibri" pitchFamily="34" charset="0"/>
                <a:ea typeface="Calibri" pitchFamily="34" charset="-122"/>
                <a:cs typeface="Calibri" pitchFamily="34" charset="-120"/>
              </a:rPr>
              <a:t>18,000</a:t>
            </a:r>
            <a:endParaRPr lang="en-US" sz="900" dirty="0"/>
          </a:p>
        </p:txBody>
      </p:sp>
      <p:sp>
        <p:nvSpPr>
          <p:cNvPr id="38" name="Shape 36"/>
          <p:cNvSpPr/>
          <p:nvPr/>
        </p:nvSpPr>
        <p:spPr>
          <a:xfrm>
            <a:off x="8549640" y="4151376"/>
            <a:ext cx="530352" cy="402336"/>
          </a:xfrm>
          <a:prstGeom prst="roundRect">
            <a:avLst>
              <a:gd name="adj" fmla="val 13636"/>
            </a:avLst>
          </a:prstGeom>
          <a:solidFill>
            <a:srgbClr val="161B22"/>
          </a:solidFill>
          <a:ln w="12700">
            <a:solidFill>
              <a:srgbClr val="238636"/>
            </a:solidFill>
            <a:prstDash val="solid"/>
          </a:ln>
        </p:spPr>
        <p:txBody>
          <a:bodyPr/>
          <a:lstStyle/>
          <a:p>
            <a:endParaRPr lang="en-US"/>
          </a:p>
        </p:txBody>
      </p:sp>
      <p:sp>
        <p:nvSpPr>
          <p:cNvPr id="39" name="Text 37"/>
          <p:cNvSpPr/>
          <p:nvPr/>
        </p:nvSpPr>
        <p:spPr>
          <a:xfrm>
            <a:off x="8549640" y="4151376"/>
            <a:ext cx="530352" cy="402336"/>
          </a:xfrm>
          <a:prstGeom prst="rect">
            <a:avLst/>
          </a:prstGeom>
          <a:noFill/>
          <a:ln/>
        </p:spPr>
        <p:txBody>
          <a:bodyPr wrap="square" rtlCol="0" anchor="ctr"/>
          <a:lstStyle/>
          <a:p>
            <a:pPr marL="0" indent="0" algn="ctr">
              <a:buNone/>
            </a:pPr>
            <a:r>
              <a:rPr lang="en-US" altLang="en-US" sz="1100" b="1" dirty="0">
                <a:solidFill>
                  <a:srgbClr val="238636"/>
                </a:solidFill>
                <a:latin typeface="Calibri" pitchFamily="34" charset="0"/>
                <a:ea typeface="Calibri" pitchFamily="34" charset="-122"/>
                <a:cs typeface="Calibri" pitchFamily="34" charset="-120"/>
              </a:rPr>
              <a:t>-72%</a:t>
            </a:r>
            <a:endParaRPr lang="en-US" sz="1100" dirty="0"/>
          </a:p>
        </p:txBody>
      </p:sp>
      <p:sp>
        <p:nvSpPr>
          <p:cNvPr id="40" name="Shape 38"/>
          <p:cNvSpPr/>
          <p:nvPr/>
        </p:nvSpPr>
        <p:spPr>
          <a:xfrm>
            <a:off x="2788920" y="4727448"/>
            <a:ext cx="201168" cy="128016"/>
          </a:xfrm>
          <a:prstGeom prst="rect">
            <a:avLst/>
          </a:prstGeom>
          <a:solidFill>
            <a:srgbClr val="E3672B"/>
          </a:solidFill>
          <a:ln w="12700">
            <a:solidFill>
              <a:srgbClr val="E3672B"/>
            </a:solidFill>
            <a:prstDash val="solid"/>
          </a:ln>
        </p:spPr>
        <p:txBody>
          <a:bodyPr/>
          <a:lstStyle/>
          <a:p>
            <a:endParaRPr lang="en-US"/>
          </a:p>
        </p:txBody>
      </p:sp>
      <p:sp>
        <p:nvSpPr>
          <p:cNvPr id="41" name="Text 39"/>
          <p:cNvSpPr/>
          <p:nvPr/>
        </p:nvSpPr>
        <p:spPr>
          <a:xfrm>
            <a:off x="3044952" y="4700016"/>
            <a:ext cx="2103120" cy="201168"/>
          </a:xfrm>
          <a:prstGeom prst="rect">
            <a:avLst/>
          </a:prstGeom>
          <a:noFill/>
          <a:ln/>
        </p:spPr>
        <p:txBody>
          <a:bodyPr wrap="square" rtlCol="0" anchor="ctr"/>
          <a:lstStyle/>
          <a:p>
            <a:pPr marL="0" indent="0">
              <a:buNone/>
            </a:pPr>
            <a:r>
              <a:rPr lang="en-US" altLang="en-US" sz="900" dirty="0">
                <a:solidFill>
                  <a:srgbClr val="8B949E"/>
                </a:solidFill>
                <a:latin typeface="Calibri" pitchFamily="34" charset="0"/>
                <a:ea typeface="Calibri" pitchFamily="34" charset="-122"/>
                <a:cs typeface="Calibri" pitchFamily="34" charset="-120"/>
              </a:rPr>
              <a:t>Baseline (no optimisation)</a:t>
            </a:r>
            <a:endParaRPr lang="en-US" sz="900" dirty="0"/>
          </a:p>
        </p:txBody>
      </p:sp>
      <p:sp>
        <p:nvSpPr>
          <p:cNvPr id="42" name="Shape 40"/>
          <p:cNvSpPr/>
          <p:nvPr/>
        </p:nvSpPr>
        <p:spPr>
          <a:xfrm>
            <a:off x="5349240" y="4727448"/>
            <a:ext cx="201168" cy="128016"/>
          </a:xfrm>
          <a:prstGeom prst="rect">
            <a:avLst/>
          </a:prstGeom>
          <a:solidFill>
            <a:srgbClr val="238636"/>
          </a:solidFill>
          <a:ln w="12700">
            <a:solidFill>
              <a:srgbClr val="238636"/>
            </a:solidFill>
            <a:prstDash val="solid"/>
          </a:ln>
        </p:spPr>
        <p:txBody>
          <a:bodyPr/>
          <a:lstStyle/>
          <a:p>
            <a:endParaRPr lang="en-US"/>
          </a:p>
        </p:txBody>
      </p:sp>
      <p:sp>
        <p:nvSpPr>
          <p:cNvPr id="43" name="Text 41"/>
          <p:cNvSpPr/>
          <p:nvPr/>
        </p:nvSpPr>
        <p:spPr>
          <a:xfrm>
            <a:off x="5605272" y="4700016"/>
            <a:ext cx="2926080" cy="201168"/>
          </a:xfrm>
          <a:prstGeom prst="rect">
            <a:avLst/>
          </a:prstGeom>
          <a:noFill/>
          <a:ln/>
        </p:spPr>
        <p:txBody>
          <a:bodyPr wrap="square" rtlCol="0" anchor="ctr"/>
          <a:lstStyle/>
          <a:p>
            <a:pPr marL="0" indent="0">
              <a:buNone/>
            </a:pPr>
            <a:r>
              <a:rPr lang="en-US" altLang="en-US" sz="900" dirty="0">
                <a:solidFill>
                  <a:srgbClr val="8B949E"/>
                </a:solidFill>
                <a:latin typeface="Calibri" pitchFamily="34" charset="0"/>
                <a:ea typeface="Calibri" pitchFamily="34" charset="-122"/>
                <a:cs typeface="Calibri" pitchFamily="34" charset="-120"/>
              </a:rPr>
              <a:t>With Caveman + RTK + session hygiene</a:t>
            </a:r>
            <a:endParaRPr lang="en-US" sz="900" dirty="0"/>
          </a:p>
        </p:txBody>
      </p:sp>
      <p:sp>
        <p:nvSpPr>
          <p:cNvPr id="44" name="Shape 42"/>
          <p:cNvSpPr/>
          <p:nvPr/>
        </p:nvSpPr>
        <p:spPr>
          <a:xfrm>
            <a:off x="320040" y="4681728"/>
            <a:ext cx="8503920" cy="292608"/>
          </a:xfrm>
          <a:prstGeom prst="rect">
            <a:avLst/>
          </a:prstGeom>
          <a:solidFill>
            <a:srgbClr val="161B22"/>
          </a:solidFill>
          <a:ln w="12700">
            <a:solidFill>
              <a:srgbClr val="E3672B"/>
            </a:solidFill>
            <a:prstDash val="solid"/>
          </a:ln>
        </p:spPr>
        <p:txBody>
          <a:bodyPr/>
          <a:lstStyle/>
          <a:p>
            <a:endParaRPr lang="en-US"/>
          </a:p>
        </p:txBody>
      </p:sp>
      <p:sp>
        <p:nvSpPr>
          <p:cNvPr id="45" name="Text 43"/>
          <p:cNvSpPr/>
          <p:nvPr/>
        </p:nvSpPr>
        <p:spPr>
          <a:xfrm>
            <a:off x="411480" y="4690872"/>
            <a:ext cx="8321040" cy="274320"/>
          </a:xfrm>
          <a:prstGeom prst="rect">
            <a:avLst/>
          </a:prstGeom>
          <a:noFill/>
          <a:ln/>
        </p:spPr>
        <p:txBody>
          <a:bodyPr wrap="square" rtlCol="0" anchor="ctr"/>
          <a:lstStyle/>
          <a:p>
            <a:pPr marL="0" indent="0">
              <a:buNone/>
            </a:pPr>
            <a:r>
              <a:rPr lang="en-US" altLang="en-US" sz="900" dirty="0">
                <a:solidFill>
                  <a:srgbClr val="F0F6FC"/>
                </a:solidFill>
                <a:latin typeface="Calibri" pitchFamily="34" charset="0"/>
                <a:ea typeface="Calibri" pitchFamily="34" charset="-122"/>
                <a:cs typeface="Calibri" pitchFamily="34" charset="-120"/>
              </a:rPr>
              <a:t>💡  Savings compound — Caveman cuts response size, RTK cuts tool output, session hygiene stops history replay from multiplying both.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38636"/>
          </a:solidFill>
          <a:ln w="12700">
            <a:solidFill>
              <a:srgbClr val="238636"/>
            </a:solidFill>
            <a:prstDash val="solid"/>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altLang="en-US" sz="2600" b="1" dirty="0">
                <a:solidFill>
                  <a:srgbClr val="F0F6FC"/>
                </a:solidFill>
                <a:latin typeface="Calibri" pitchFamily="34" charset="0"/>
                <a:ea typeface="Calibri" pitchFamily="34" charset="-122"/>
                <a:cs typeface="Calibri" pitchFamily="34" charset="-120"/>
              </a:rPr>
              <a:t>Your Action Plan</a:t>
            </a:r>
            <a:endParaRPr lang="en-US" sz="2600" dirty="0"/>
          </a:p>
        </p:txBody>
      </p:sp>
      <p:sp>
        <p:nvSpPr>
          <p:cNvPr id="4" name="Text 2"/>
          <p:cNvSpPr/>
          <p:nvPr/>
        </p:nvSpPr>
        <p:spPr>
          <a:xfrm>
            <a:off x="365760" y="658368"/>
            <a:ext cx="8412480" cy="274320"/>
          </a:xfrm>
          <a:prstGeom prst="rect">
            <a:avLst/>
          </a:prstGeom>
          <a:noFill/>
          <a:ln/>
        </p:spPr>
        <p:txBody>
          <a:bodyPr wrap="square" rtlCol="0" anchor="ctr"/>
          <a:lstStyle/>
          <a:p>
            <a:pPr marL="0" indent="0">
              <a:buNone/>
            </a:pPr>
            <a:r>
              <a:rPr lang="en-US" altLang="en-US" sz="1300" dirty="0">
                <a:solidFill>
                  <a:srgbClr val="8B949E"/>
                </a:solidFill>
                <a:latin typeface="Calibri" pitchFamily="34" charset="0"/>
                <a:ea typeface="Calibri" pitchFamily="34" charset="-122"/>
                <a:cs typeface="Calibri" pitchFamily="34" charset="-120"/>
              </a:rPr>
              <a:t>Start saving tokens today — 3 installs, 3 habits</a:t>
            </a:r>
            <a:endParaRPr lang="en-US" sz="1300" dirty="0"/>
          </a:p>
        </p:txBody>
      </p:sp>
      <p:sp>
        <p:nvSpPr>
          <p:cNvPr id="5" name="Shape 3"/>
          <p:cNvSpPr/>
          <p:nvPr/>
        </p:nvSpPr>
        <p:spPr>
          <a:xfrm>
            <a:off x="320040" y="1005840"/>
            <a:ext cx="4114800" cy="37947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6" name="Shape 4"/>
          <p:cNvSpPr/>
          <p:nvPr/>
        </p:nvSpPr>
        <p:spPr>
          <a:xfrm>
            <a:off x="320040" y="1005840"/>
            <a:ext cx="4114800" cy="365760"/>
          </a:xfrm>
          <a:prstGeom prst="rect">
            <a:avLst/>
          </a:prstGeom>
          <a:solidFill>
            <a:srgbClr val="238636"/>
          </a:solidFill>
          <a:ln w="12700">
            <a:solidFill>
              <a:srgbClr val="238636"/>
            </a:solidFill>
            <a:prstDash val="solid"/>
          </a:ln>
        </p:spPr>
        <p:txBody>
          <a:bodyPr/>
          <a:lstStyle/>
          <a:p>
            <a:endParaRPr lang="en-US"/>
          </a:p>
        </p:txBody>
      </p:sp>
      <p:sp>
        <p:nvSpPr>
          <p:cNvPr id="7" name="Text 5"/>
          <p:cNvSpPr/>
          <p:nvPr/>
        </p:nvSpPr>
        <p:spPr>
          <a:xfrm>
            <a:off x="457200" y="1024128"/>
            <a:ext cx="3840480" cy="329184"/>
          </a:xfrm>
          <a:prstGeom prst="rect">
            <a:avLst/>
          </a:prstGeom>
          <a:noFill/>
          <a:ln/>
        </p:spPr>
        <p:txBody>
          <a:bodyPr wrap="square" rtlCol="0" anchor="ctr"/>
          <a:lstStyle/>
          <a:p>
            <a:pPr marL="0" indent="0">
              <a:buNone/>
            </a:pPr>
            <a:r>
              <a:rPr lang="en-US" altLang="en-US" sz="1300" b="1" dirty="0">
                <a:solidFill>
                  <a:srgbClr val="F0F6FC"/>
                </a:solidFill>
                <a:latin typeface="Calibri" pitchFamily="34" charset="0"/>
                <a:ea typeface="Calibri" pitchFamily="34" charset="-122"/>
                <a:cs typeface="Calibri" pitchFamily="34" charset="-120"/>
              </a:rPr>
              <a:t>🔧  3 Installs</a:t>
            </a:r>
            <a:endParaRPr lang="en-US" sz="1300" dirty="0"/>
          </a:p>
        </p:txBody>
      </p:sp>
      <p:sp>
        <p:nvSpPr>
          <p:cNvPr id="8" name="Shape 6"/>
          <p:cNvSpPr/>
          <p:nvPr/>
        </p:nvSpPr>
        <p:spPr>
          <a:xfrm>
            <a:off x="457200" y="1508760"/>
            <a:ext cx="292608" cy="292608"/>
          </a:xfrm>
          <a:prstGeom prst="ellipse">
            <a:avLst/>
          </a:prstGeom>
          <a:solidFill>
            <a:srgbClr val="238636"/>
          </a:solidFill>
          <a:ln w="12700">
            <a:solidFill>
              <a:srgbClr val="238636"/>
            </a:solidFill>
            <a:prstDash val="solid"/>
          </a:ln>
        </p:spPr>
        <p:txBody>
          <a:bodyPr/>
          <a:lstStyle/>
          <a:p>
            <a:endParaRPr lang="en-US"/>
          </a:p>
        </p:txBody>
      </p:sp>
      <p:sp>
        <p:nvSpPr>
          <p:cNvPr id="9" name="Text 7"/>
          <p:cNvSpPr/>
          <p:nvPr/>
        </p:nvSpPr>
        <p:spPr>
          <a:xfrm>
            <a:off x="457200" y="1508760"/>
            <a:ext cx="292608" cy="292608"/>
          </a:xfrm>
          <a:prstGeom prst="rect">
            <a:avLst/>
          </a:prstGeom>
          <a:noFill/>
          <a:ln/>
        </p:spPr>
        <p:txBody>
          <a:bodyPr wrap="square" rtlCol="0" anchor="ctr"/>
          <a:lstStyle/>
          <a:p>
            <a:pPr marL="0" indent="0" algn="ctr">
              <a:buNone/>
            </a:pPr>
            <a:r>
              <a:rPr lang="en-US" altLang="en-US" sz="1100" b="1" dirty="0">
                <a:solidFill>
                  <a:srgbClr val="F0F6FC"/>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22960" y="1508760"/>
            <a:ext cx="3474720" cy="274320"/>
          </a:xfrm>
          <a:prstGeom prst="rect">
            <a:avLst/>
          </a:prstGeom>
          <a:noFill/>
          <a:ln/>
        </p:spPr>
        <p:txBody>
          <a:bodyPr wrap="square" rtlCol="0" anchor="ctr"/>
          <a:lstStyle/>
          <a:p>
            <a:pPr marL="0" indent="0">
              <a:buNone/>
            </a:pPr>
            <a:r>
              <a:rPr lang="en-US" altLang="en-US" sz="1100" b="1" dirty="0">
                <a:solidFill>
                  <a:srgbClr val="F0F6FC"/>
                </a:solidFill>
                <a:latin typeface="Calibri" pitchFamily="34" charset="0"/>
                <a:ea typeface="Calibri" pitchFamily="34" charset="-122"/>
                <a:cs typeface="Calibri" pitchFamily="34" charset="-120"/>
              </a:rPr>
              <a:t>Caveman Skill</a:t>
            </a:r>
            <a:endParaRPr lang="en-US" sz="1100" dirty="0"/>
          </a:p>
        </p:txBody>
      </p:sp>
      <p:sp>
        <p:nvSpPr>
          <p:cNvPr id="11" name="Text 9"/>
          <p:cNvSpPr/>
          <p:nvPr/>
        </p:nvSpPr>
        <p:spPr>
          <a:xfrm>
            <a:off x="822960" y="1783080"/>
            <a:ext cx="3474720" cy="228600"/>
          </a:xfrm>
          <a:prstGeom prst="rect">
            <a:avLst/>
          </a:prstGeom>
          <a:noFill/>
          <a:ln/>
        </p:spPr>
        <p:txBody>
          <a:bodyPr wrap="square" rtlCol="0" anchor="ctr"/>
          <a:lstStyle/>
          <a:p>
            <a:pPr marL="0" indent="0">
              <a:buNone/>
            </a:pPr>
            <a:r>
              <a:rPr lang="en-US" altLang="en-US" sz="900" dirty="0">
                <a:solidFill>
                  <a:srgbClr val="238636"/>
                </a:solidFill>
                <a:latin typeface="Consolas" pitchFamily="34" charset="0"/>
                <a:ea typeface="Consolas" pitchFamily="34" charset="-122"/>
                <a:cs typeface="Consolas" pitchFamily="34" charset="-120"/>
              </a:rPr>
              <a:t>npx skills install caveman</a:t>
            </a:r>
            <a:endParaRPr lang="en-US" sz="900" dirty="0"/>
          </a:p>
        </p:txBody>
      </p:sp>
      <p:sp>
        <p:nvSpPr>
          <p:cNvPr id="12" name="Text 10"/>
          <p:cNvSpPr/>
          <p:nvPr/>
        </p:nvSpPr>
        <p:spPr>
          <a:xfrm>
            <a:off x="822960" y="2011680"/>
            <a:ext cx="3474720" cy="320040"/>
          </a:xfrm>
          <a:prstGeom prst="rect">
            <a:avLst/>
          </a:prstGeom>
          <a:noFill/>
          <a:ln/>
        </p:spPr>
        <p:txBody>
          <a:bodyPr wrap="square" rtlCol="0" anchor="ctr"/>
          <a:lstStyle/>
          <a:p>
            <a:pPr marL="0" indent="0">
              <a:buNone/>
            </a:pPr>
            <a:r>
              <a:rPr lang="en-US" altLang="en-US" sz="900" dirty="0">
                <a:solidFill>
                  <a:srgbClr val="8B949E"/>
                </a:solidFill>
                <a:latin typeface="Calibri" pitchFamily="34" charset="0"/>
                <a:ea typeface="Calibri" pitchFamily="34" charset="-122"/>
                <a:cs typeface="Calibri" pitchFamily="34" charset="-120"/>
              </a:rPr>
              <a:t>Cuts ~75% of output tokens automatically</a:t>
            </a:r>
            <a:endParaRPr lang="en-US" sz="900" dirty="0"/>
          </a:p>
        </p:txBody>
      </p:sp>
      <p:sp>
        <p:nvSpPr>
          <p:cNvPr id="13" name="Shape 11"/>
          <p:cNvSpPr/>
          <p:nvPr/>
        </p:nvSpPr>
        <p:spPr>
          <a:xfrm>
            <a:off x="457200" y="2587752"/>
            <a:ext cx="292608" cy="292608"/>
          </a:xfrm>
          <a:prstGeom prst="ellipse">
            <a:avLst/>
          </a:prstGeom>
          <a:solidFill>
            <a:srgbClr val="238636"/>
          </a:solidFill>
          <a:ln w="12700">
            <a:solidFill>
              <a:srgbClr val="238636"/>
            </a:solidFill>
            <a:prstDash val="solid"/>
          </a:ln>
        </p:spPr>
        <p:txBody>
          <a:bodyPr/>
          <a:lstStyle/>
          <a:p>
            <a:endParaRPr lang="en-US"/>
          </a:p>
        </p:txBody>
      </p:sp>
      <p:sp>
        <p:nvSpPr>
          <p:cNvPr id="14" name="Text 12"/>
          <p:cNvSpPr/>
          <p:nvPr/>
        </p:nvSpPr>
        <p:spPr>
          <a:xfrm>
            <a:off x="457200" y="2587752"/>
            <a:ext cx="292608" cy="292608"/>
          </a:xfrm>
          <a:prstGeom prst="rect">
            <a:avLst/>
          </a:prstGeom>
          <a:noFill/>
          <a:ln/>
        </p:spPr>
        <p:txBody>
          <a:bodyPr wrap="square" rtlCol="0" anchor="ctr"/>
          <a:lstStyle/>
          <a:p>
            <a:pPr marL="0" indent="0" algn="ctr">
              <a:buNone/>
            </a:pPr>
            <a:r>
              <a:rPr lang="en-US" altLang="en-US" sz="1100" b="1" dirty="0">
                <a:solidFill>
                  <a:srgbClr val="F0F6FC"/>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22960" y="2587752"/>
            <a:ext cx="3474720" cy="274320"/>
          </a:xfrm>
          <a:prstGeom prst="rect">
            <a:avLst/>
          </a:prstGeom>
          <a:noFill/>
          <a:ln/>
        </p:spPr>
        <p:txBody>
          <a:bodyPr wrap="square" rtlCol="0" anchor="ctr"/>
          <a:lstStyle/>
          <a:p>
            <a:pPr marL="0" indent="0">
              <a:buNone/>
            </a:pPr>
            <a:r>
              <a:rPr lang="en-US" altLang="en-US" sz="1100" b="1" dirty="0">
                <a:solidFill>
                  <a:srgbClr val="F0F6FC"/>
                </a:solidFill>
                <a:latin typeface="Calibri" pitchFamily="34" charset="0"/>
                <a:ea typeface="Calibri" pitchFamily="34" charset="-122"/>
                <a:cs typeface="Calibri" pitchFamily="34" charset="-120"/>
              </a:rPr>
              <a:t>RTK Plugin</a:t>
            </a:r>
            <a:endParaRPr lang="en-US" sz="1100" dirty="0"/>
          </a:p>
        </p:txBody>
      </p:sp>
      <p:sp>
        <p:nvSpPr>
          <p:cNvPr id="16" name="Text 14"/>
          <p:cNvSpPr/>
          <p:nvPr/>
        </p:nvSpPr>
        <p:spPr>
          <a:xfrm>
            <a:off x="822960" y="2862072"/>
            <a:ext cx="3474720" cy="228600"/>
          </a:xfrm>
          <a:prstGeom prst="rect">
            <a:avLst/>
          </a:prstGeom>
          <a:noFill/>
          <a:ln/>
        </p:spPr>
        <p:txBody>
          <a:bodyPr wrap="square" rtlCol="0" anchor="ctr"/>
          <a:lstStyle/>
          <a:p>
            <a:pPr marL="0" indent="0">
              <a:buNone/>
            </a:pPr>
            <a:r>
              <a:rPr lang="en-US" altLang="en-US" sz="900" dirty="0">
                <a:solidFill>
                  <a:srgbClr val="238636"/>
                </a:solidFill>
                <a:latin typeface="Consolas" pitchFamily="34" charset="0"/>
                <a:ea typeface="Consolas" pitchFamily="34" charset="-122"/>
                <a:cs typeface="Consolas" pitchFamily="34" charset="-120"/>
              </a:rPr>
              <a:t>rtk init -g</a:t>
            </a:r>
            <a:endParaRPr lang="en-US" sz="900" dirty="0"/>
          </a:p>
        </p:txBody>
      </p:sp>
      <p:sp>
        <p:nvSpPr>
          <p:cNvPr id="17" name="Text 15"/>
          <p:cNvSpPr/>
          <p:nvPr/>
        </p:nvSpPr>
        <p:spPr>
          <a:xfrm>
            <a:off x="822960" y="3090672"/>
            <a:ext cx="3474720" cy="320040"/>
          </a:xfrm>
          <a:prstGeom prst="rect">
            <a:avLst/>
          </a:prstGeom>
          <a:noFill/>
          <a:ln/>
        </p:spPr>
        <p:txBody>
          <a:bodyPr wrap="square" rtlCol="0" anchor="ctr"/>
          <a:lstStyle/>
          <a:p>
            <a:pPr marL="0" indent="0">
              <a:buNone/>
            </a:pPr>
            <a:r>
              <a:rPr lang="en-US" altLang="en-US" sz="900" dirty="0">
                <a:solidFill>
                  <a:srgbClr val="8B949E"/>
                </a:solidFill>
                <a:latin typeface="Calibri" pitchFamily="34" charset="0"/>
                <a:ea typeface="Calibri" pitchFamily="34" charset="-122"/>
                <a:cs typeface="Calibri" pitchFamily="34" charset="-120"/>
              </a:rPr>
              <a:t>Compresses CLI output 60–90% before context injection</a:t>
            </a:r>
            <a:endParaRPr lang="en-US" sz="900" dirty="0"/>
          </a:p>
        </p:txBody>
      </p:sp>
      <p:sp>
        <p:nvSpPr>
          <p:cNvPr id="18" name="Shape 16"/>
          <p:cNvSpPr/>
          <p:nvPr/>
        </p:nvSpPr>
        <p:spPr>
          <a:xfrm>
            <a:off x="457200" y="3666744"/>
            <a:ext cx="292608" cy="292608"/>
          </a:xfrm>
          <a:prstGeom prst="ellipse">
            <a:avLst/>
          </a:prstGeom>
          <a:solidFill>
            <a:srgbClr val="238636"/>
          </a:solidFill>
          <a:ln w="12700">
            <a:solidFill>
              <a:srgbClr val="238636"/>
            </a:solidFill>
            <a:prstDash val="solid"/>
          </a:ln>
        </p:spPr>
        <p:txBody>
          <a:bodyPr/>
          <a:lstStyle/>
          <a:p>
            <a:endParaRPr lang="en-US"/>
          </a:p>
        </p:txBody>
      </p:sp>
      <p:sp>
        <p:nvSpPr>
          <p:cNvPr id="19" name="Text 17"/>
          <p:cNvSpPr/>
          <p:nvPr/>
        </p:nvSpPr>
        <p:spPr>
          <a:xfrm>
            <a:off x="457200" y="3666744"/>
            <a:ext cx="292608" cy="292608"/>
          </a:xfrm>
          <a:prstGeom prst="rect">
            <a:avLst/>
          </a:prstGeom>
          <a:noFill/>
          <a:ln/>
        </p:spPr>
        <p:txBody>
          <a:bodyPr wrap="square" rtlCol="0" anchor="ctr"/>
          <a:lstStyle/>
          <a:p>
            <a:pPr marL="0" indent="0" algn="ctr">
              <a:buNone/>
            </a:pPr>
            <a:r>
              <a:rPr lang="en-US" altLang="en-US" sz="1100" b="1" dirty="0">
                <a:solidFill>
                  <a:srgbClr val="F0F6FC"/>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822960" y="3666744"/>
            <a:ext cx="3474720" cy="274320"/>
          </a:xfrm>
          <a:prstGeom prst="rect">
            <a:avLst/>
          </a:prstGeom>
          <a:noFill/>
          <a:ln/>
        </p:spPr>
        <p:txBody>
          <a:bodyPr wrap="square" rtlCol="0" anchor="ctr"/>
          <a:lstStyle/>
          <a:p>
            <a:pPr marL="0" indent="0">
              <a:buNone/>
            </a:pPr>
            <a:r>
              <a:rPr lang="en-US" altLang="en-US" sz="1100" b="1" dirty="0">
                <a:solidFill>
                  <a:srgbClr val="F0F6FC"/>
                </a:solidFill>
                <a:latin typeface="Calibri" pitchFamily="34" charset="0"/>
                <a:ea typeface="Calibri" pitchFamily="34" charset="-122"/>
                <a:cs typeface="Calibri" pitchFamily="34" charset="-120"/>
              </a:rPr>
              <a:t>AI Engineering Fluency</a:t>
            </a:r>
            <a:endParaRPr lang="en-US" sz="1100" dirty="0"/>
          </a:p>
        </p:txBody>
      </p:sp>
      <p:sp>
        <p:nvSpPr>
          <p:cNvPr id="21" name="Text 19"/>
          <p:cNvSpPr/>
          <p:nvPr/>
        </p:nvSpPr>
        <p:spPr>
          <a:xfrm>
            <a:off x="822960" y="3941064"/>
            <a:ext cx="3474720" cy="228600"/>
          </a:xfrm>
          <a:prstGeom prst="rect">
            <a:avLst/>
          </a:prstGeom>
          <a:noFill/>
          <a:ln/>
        </p:spPr>
        <p:txBody>
          <a:bodyPr wrap="square" rtlCol="0" anchor="ctr"/>
          <a:lstStyle/>
          <a:p>
            <a:pPr marL="0" indent="0">
              <a:buNone/>
            </a:pPr>
            <a:r>
              <a:rPr lang="en-US" altLang="en-US" sz="900" dirty="0">
                <a:solidFill>
                  <a:srgbClr val="238636"/>
                </a:solidFill>
                <a:latin typeface="Consolas" pitchFamily="34" charset="0"/>
                <a:ea typeface="Consolas" pitchFamily="34" charset="-122"/>
                <a:cs typeface="Consolas" pitchFamily="34" charset="-120"/>
              </a:rPr>
              <a:t>VS Code Extensions → search</a:t>
            </a:r>
            <a:endParaRPr lang="en-US" sz="900" dirty="0"/>
          </a:p>
        </p:txBody>
      </p:sp>
      <p:sp>
        <p:nvSpPr>
          <p:cNvPr id="22" name="Text 20"/>
          <p:cNvSpPr/>
          <p:nvPr/>
        </p:nvSpPr>
        <p:spPr>
          <a:xfrm>
            <a:off x="822960" y="4169664"/>
            <a:ext cx="3474720" cy="320040"/>
          </a:xfrm>
          <a:prstGeom prst="rect">
            <a:avLst/>
          </a:prstGeom>
          <a:noFill/>
          <a:ln/>
        </p:spPr>
        <p:txBody>
          <a:bodyPr wrap="square" rtlCol="0" anchor="ctr"/>
          <a:lstStyle/>
          <a:p>
            <a:pPr marL="0" indent="0">
              <a:buNone/>
            </a:pPr>
            <a:r>
              <a:rPr lang="en-US" altLang="en-US" sz="900" dirty="0">
                <a:solidFill>
                  <a:srgbClr val="8B949E"/>
                </a:solidFill>
                <a:latin typeface="Calibri" pitchFamily="34" charset="0"/>
                <a:ea typeface="Calibri" pitchFamily="34" charset="-122"/>
                <a:cs typeface="Calibri" pitchFamily="34" charset="-120"/>
              </a:rPr>
              <a:t>See exactly how many tokens you're burning</a:t>
            </a:r>
            <a:endParaRPr lang="en-US" sz="900" dirty="0"/>
          </a:p>
        </p:txBody>
      </p:sp>
      <p:sp>
        <p:nvSpPr>
          <p:cNvPr id="23" name="Shape 21"/>
          <p:cNvSpPr/>
          <p:nvPr/>
        </p:nvSpPr>
        <p:spPr>
          <a:xfrm>
            <a:off x="4663440" y="1005840"/>
            <a:ext cx="4160520" cy="37947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txBody>
          <a:bodyPr/>
          <a:lstStyle/>
          <a:p>
            <a:endParaRPr lang="en-US"/>
          </a:p>
        </p:txBody>
      </p:sp>
      <p:sp>
        <p:nvSpPr>
          <p:cNvPr id="24" name="Shape 22"/>
          <p:cNvSpPr/>
          <p:nvPr/>
        </p:nvSpPr>
        <p:spPr>
          <a:xfrm>
            <a:off x="4663440" y="1005840"/>
            <a:ext cx="4160520" cy="365760"/>
          </a:xfrm>
          <a:prstGeom prst="rect">
            <a:avLst/>
          </a:prstGeom>
          <a:solidFill>
            <a:srgbClr val="1F6FEB"/>
          </a:solidFill>
          <a:ln w="12700">
            <a:solidFill>
              <a:srgbClr val="1F6FEB"/>
            </a:solidFill>
            <a:prstDash val="solid"/>
          </a:ln>
        </p:spPr>
        <p:txBody>
          <a:bodyPr/>
          <a:lstStyle/>
          <a:p>
            <a:endParaRPr lang="en-US"/>
          </a:p>
        </p:txBody>
      </p:sp>
      <p:sp>
        <p:nvSpPr>
          <p:cNvPr id="25" name="Text 23"/>
          <p:cNvSpPr/>
          <p:nvPr/>
        </p:nvSpPr>
        <p:spPr>
          <a:xfrm>
            <a:off x="4800600" y="1024128"/>
            <a:ext cx="3886200" cy="329184"/>
          </a:xfrm>
          <a:prstGeom prst="rect">
            <a:avLst/>
          </a:prstGeom>
          <a:noFill/>
          <a:ln/>
        </p:spPr>
        <p:txBody>
          <a:bodyPr wrap="square" rtlCol="0" anchor="ctr"/>
          <a:lstStyle/>
          <a:p>
            <a:pPr marL="0" indent="0">
              <a:buNone/>
            </a:pPr>
            <a:r>
              <a:rPr lang="en-US" altLang="en-US" sz="1300" b="1" dirty="0">
                <a:solidFill>
                  <a:srgbClr val="F0F6FC"/>
                </a:solidFill>
                <a:latin typeface="Calibri" pitchFamily="34" charset="0"/>
                <a:ea typeface="Calibri" pitchFamily="34" charset="-122"/>
                <a:cs typeface="Calibri" pitchFamily="34" charset="-120"/>
              </a:rPr>
              <a:t>✅  3 Habits</a:t>
            </a:r>
            <a:endParaRPr lang="en-US" sz="1300" dirty="0"/>
          </a:p>
        </p:txBody>
      </p:sp>
      <p:sp>
        <p:nvSpPr>
          <p:cNvPr id="26" name="Shape 24"/>
          <p:cNvSpPr/>
          <p:nvPr/>
        </p:nvSpPr>
        <p:spPr>
          <a:xfrm>
            <a:off x="4800600" y="1508760"/>
            <a:ext cx="292608" cy="292608"/>
          </a:xfrm>
          <a:prstGeom prst="ellipse">
            <a:avLst/>
          </a:prstGeom>
          <a:solidFill>
            <a:srgbClr val="1F6FEB"/>
          </a:solidFill>
          <a:ln w="12700">
            <a:solidFill>
              <a:srgbClr val="1F6FEB"/>
            </a:solidFill>
            <a:prstDash val="solid"/>
          </a:ln>
        </p:spPr>
        <p:txBody>
          <a:bodyPr/>
          <a:lstStyle/>
          <a:p>
            <a:endParaRPr lang="en-US"/>
          </a:p>
        </p:txBody>
      </p:sp>
      <p:sp>
        <p:nvSpPr>
          <p:cNvPr id="27" name="Text 25"/>
          <p:cNvSpPr/>
          <p:nvPr/>
        </p:nvSpPr>
        <p:spPr>
          <a:xfrm>
            <a:off x="4800600" y="1508760"/>
            <a:ext cx="292608" cy="292608"/>
          </a:xfrm>
          <a:prstGeom prst="rect">
            <a:avLst/>
          </a:prstGeom>
          <a:noFill/>
          <a:ln/>
        </p:spPr>
        <p:txBody>
          <a:bodyPr wrap="square" rtlCol="0" anchor="ctr"/>
          <a:lstStyle/>
          <a:p>
            <a:pPr marL="0" indent="0" algn="ctr">
              <a:buNone/>
            </a:pPr>
            <a:r>
              <a:rPr lang="en-US" altLang="en-US" sz="1100" b="1" dirty="0">
                <a:solidFill>
                  <a:srgbClr val="F0F6FC"/>
                </a:solidFill>
                <a:latin typeface="Calibri" pitchFamily="34" charset="0"/>
                <a:ea typeface="Calibri" pitchFamily="34" charset="-122"/>
                <a:cs typeface="Calibri" pitchFamily="34" charset="-120"/>
              </a:rPr>
              <a:t>A</a:t>
            </a:r>
            <a:endParaRPr lang="en-US" sz="1100" dirty="0"/>
          </a:p>
        </p:txBody>
      </p:sp>
      <p:sp>
        <p:nvSpPr>
          <p:cNvPr id="28" name="Text 26"/>
          <p:cNvSpPr/>
          <p:nvPr/>
        </p:nvSpPr>
        <p:spPr>
          <a:xfrm>
            <a:off x="5166360" y="1508760"/>
            <a:ext cx="3520440" cy="274320"/>
          </a:xfrm>
          <a:prstGeom prst="rect">
            <a:avLst/>
          </a:prstGeom>
          <a:noFill/>
          <a:ln/>
        </p:spPr>
        <p:txBody>
          <a:bodyPr wrap="square" rtlCol="0" anchor="ctr"/>
          <a:lstStyle/>
          <a:p>
            <a:pPr marL="0" indent="0">
              <a:buNone/>
            </a:pPr>
            <a:r>
              <a:rPr lang="en-US" altLang="en-US" sz="1100" b="1" dirty="0">
                <a:solidFill>
                  <a:srgbClr val="F0F6FC"/>
                </a:solidFill>
                <a:latin typeface="Calibri" pitchFamily="34" charset="0"/>
                <a:ea typeface="Calibri" pitchFamily="34" charset="-122"/>
                <a:cs typeface="Calibri" pitchFamily="34" charset="-120"/>
              </a:rPr>
              <a:t>Start fresh sessions</a:t>
            </a:r>
            <a:endParaRPr lang="en-US" sz="1100" dirty="0"/>
          </a:p>
        </p:txBody>
      </p:sp>
      <p:sp>
        <p:nvSpPr>
          <p:cNvPr id="29" name="Text 27"/>
          <p:cNvSpPr/>
          <p:nvPr/>
        </p:nvSpPr>
        <p:spPr>
          <a:xfrm>
            <a:off x="5166360" y="1783080"/>
            <a:ext cx="3520440" cy="594360"/>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New topic = new session. Don't let history pile up. Use /clear or open a new chat.</a:t>
            </a:r>
            <a:endParaRPr lang="en-US" sz="950" dirty="0"/>
          </a:p>
        </p:txBody>
      </p:sp>
      <p:sp>
        <p:nvSpPr>
          <p:cNvPr id="30" name="Shape 28"/>
          <p:cNvSpPr/>
          <p:nvPr/>
        </p:nvSpPr>
        <p:spPr>
          <a:xfrm>
            <a:off x="4800600" y="2587752"/>
            <a:ext cx="292608" cy="292608"/>
          </a:xfrm>
          <a:prstGeom prst="ellipse">
            <a:avLst/>
          </a:prstGeom>
          <a:solidFill>
            <a:srgbClr val="1F6FEB"/>
          </a:solidFill>
          <a:ln w="12700">
            <a:solidFill>
              <a:srgbClr val="1F6FEB"/>
            </a:solidFill>
            <a:prstDash val="solid"/>
          </a:ln>
        </p:spPr>
        <p:txBody>
          <a:bodyPr/>
          <a:lstStyle/>
          <a:p>
            <a:endParaRPr lang="en-US"/>
          </a:p>
        </p:txBody>
      </p:sp>
      <p:sp>
        <p:nvSpPr>
          <p:cNvPr id="31" name="Text 29"/>
          <p:cNvSpPr/>
          <p:nvPr/>
        </p:nvSpPr>
        <p:spPr>
          <a:xfrm>
            <a:off x="4800600" y="2587752"/>
            <a:ext cx="292608" cy="292608"/>
          </a:xfrm>
          <a:prstGeom prst="rect">
            <a:avLst/>
          </a:prstGeom>
          <a:noFill/>
          <a:ln/>
        </p:spPr>
        <p:txBody>
          <a:bodyPr wrap="square" rtlCol="0" anchor="ctr"/>
          <a:lstStyle/>
          <a:p>
            <a:pPr marL="0" indent="0" algn="ctr">
              <a:buNone/>
            </a:pPr>
            <a:r>
              <a:rPr lang="en-US" altLang="en-US" sz="1100" b="1" dirty="0">
                <a:solidFill>
                  <a:srgbClr val="F0F6FC"/>
                </a:solidFill>
                <a:latin typeface="Calibri" pitchFamily="34" charset="0"/>
                <a:ea typeface="Calibri" pitchFamily="34" charset="-122"/>
                <a:cs typeface="Calibri" pitchFamily="34" charset="-120"/>
              </a:rPr>
              <a:t>B</a:t>
            </a:r>
            <a:endParaRPr lang="en-US" sz="1100" dirty="0"/>
          </a:p>
        </p:txBody>
      </p:sp>
      <p:sp>
        <p:nvSpPr>
          <p:cNvPr id="32" name="Text 30"/>
          <p:cNvSpPr/>
          <p:nvPr/>
        </p:nvSpPr>
        <p:spPr>
          <a:xfrm>
            <a:off x="5166360" y="2587752"/>
            <a:ext cx="3520440" cy="274320"/>
          </a:xfrm>
          <a:prstGeom prst="rect">
            <a:avLst/>
          </a:prstGeom>
          <a:noFill/>
          <a:ln/>
        </p:spPr>
        <p:txBody>
          <a:bodyPr wrap="square" rtlCol="0" anchor="ctr"/>
          <a:lstStyle/>
          <a:p>
            <a:pPr marL="0" indent="0">
              <a:buNone/>
            </a:pPr>
            <a:r>
              <a:rPr lang="en-US" altLang="en-US" sz="1100" b="1" dirty="0">
                <a:solidFill>
                  <a:srgbClr val="F0F6FC"/>
                </a:solidFill>
                <a:latin typeface="Calibri" pitchFamily="34" charset="0"/>
                <a:ea typeface="Calibri" pitchFamily="34" charset="-122"/>
                <a:cs typeface="Calibri" pitchFamily="34" charset="-120"/>
              </a:rPr>
              <a:t>Reference, don't paste</a:t>
            </a:r>
            <a:endParaRPr lang="en-US" sz="1100" dirty="0"/>
          </a:p>
        </p:txBody>
      </p:sp>
      <p:sp>
        <p:nvSpPr>
          <p:cNvPr id="33" name="Text 31"/>
          <p:cNvSpPr/>
          <p:nvPr/>
        </p:nvSpPr>
        <p:spPr>
          <a:xfrm>
            <a:off x="5166360" y="2862072"/>
            <a:ext cx="3520440" cy="594360"/>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Use #file:MyService.cs instead of pasting the whole file. Copilot fetches what it needs.</a:t>
            </a:r>
            <a:endParaRPr lang="en-US" sz="950" dirty="0"/>
          </a:p>
        </p:txBody>
      </p:sp>
      <p:sp>
        <p:nvSpPr>
          <p:cNvPr id="34" name="Shape 32"/>
          <p:cNvSpPr/>
          <p:nvPr/>
        </p:nvSpPr>
        <p:spPr>
          <a:xfrm>
            <a:off x="4800600" y="3666744"/>
            <a:ext cx="292608" cy="292608"/>
          </a:xfrm>
          <a:prstGeom prst="ellipse">
            <a:avLst/>
          </a:prstGeom>
          <a:solidFill>
            <a:srgbClr val="1F6FEB"/>
          </a:solidFill>
          <a:ln w="12700">
            <a:solidFill>
              <a:srgbClr val="1F6FEB"/>
            </a:solidFill>
            <a:prstDash val="solid"/>
          </a:ln>
        </p:spPr>
        <p:txBody>
          <a:bodyPr/>
          <a:lstStyle/>
          <a:p>
            <a:endParaRPr lang="en-US"/>
          </a:p>
        </p:txBody>
      </p:sp>
      <p:sp>
        <p:nvSpPr>
          <p:cNvPr id="35" name="Text 33"/>
          <p:cNvSpPr/>
          <p:nvPr/>
        </p:nvSpPr>
        <p:spPr>
          <a:xfrm>
            <a:off x="4800600" y="3666744"/>
            <a:ext cx="292608" cy="292608"/>
          </a:xfrm>
          <a:prstGeom prst="rect">
            <a:avLst/>
          </a:prstGeom>
          <a:noFill/>
          <a:ln/>
        </p:spPr>
        <p:txBody>
          <a:bodyPr wrap="square" rtlCol="0" anchor="ctr"/>
          <a:lstStyle/>
          <a:p>
            <a:pPr marL="0" indent="0" algn="ctr">
              <a:buNone/>
            </a:pPr>
            <a:r>
              <a:rPr lang="en-US" altLang="en-US" sz="1100" b="1" dirty="0">
                <a:solidFill>
                  <a:srgbClr val="F0F6FC"/>
                </a:solidFill>
                <a:latin typeface="Calibri" pitchFamily="34" charset="0"/>
                <a:ea typeface="Calibri" pitchFamily="34" charset="-122"/>
                <a:cs typeface="Calibri" pitchFamily="34" charset="-120"/>
              </a:rPr>
              <a:t>C</a:t>
            </a:r>
            <a:endParaRPr lang="en-US" sz="1100" dirty="0"/>
          </a:p>
        </p:txBody>
      </p:sp>
      <p:sp>
        <p:nvSpPr>
          <p:cNvPr id="36" name="Text 34"/>
          <p:cNvSpPr/>
          <p:nvPr/>
        </p:nvSpPr>
        <p:spPr>
          <a:xfrm>
            <a:off x="5166360" y="3666744"/>
            <a:ext cx="3520440" cy="274320"/>
          </a:xfrm>
          <a:prstGeom prst="rect">
            <a:avLst/>
          </a:prstGeom>
          <a:noFill/>
          <a:ln/>
        </p:spPr>
        <p:txBody>
          <a:bodyPr wrap="square" rtlCol="0" anchor="ctr"/>
          <a:lstStyle/>
          <a:p>
            <a:pPr marL="0" indent="0">
              <a:buNone/>
            </a:pPr>
            <a:r>
              <a:rPr lang="en-US" altLang="en-US" sz="1100" b="1" dirty="0">
                <a:solidFill>
                  <a:srgbClr val="F0F6FC"/>
                </a:solidFill>
                <a:latin typeface="Calibri" pitchFamily="34" charset="0"/>
                <a:ea typeface="Calibri" pitchFamily="34" charset="-122"/>
                <a:cs typeface="Calibri" pitchFamily="34" charset="-120"/>
              </a:rPr>
              <a:t>Trim your instructions</a:t>
            </a:r>
            <a:endParaRPr lang="en-US" sz="1100" dirty="0"/>
          </a:p>
        </p:txBody>
      </p:sp>
      <p:sp>
        <p:nvSpPr>
          <p:cNvPr id="37" name="Text 35"/>
          <p:cNvSpPr/>
          <p:nvPr/>
        </p:nvSpPr>
        <p:spPr>
          <a:xfrm>
            <a:off x="5166360" y="3941064"/>
            <a:ext cx="3520440" cy="594360"/>
          </a:xfrm>
          <a:prstGeom prst="rect">
            <a:avLst/>
          </a:prstGeom>
          <a:noFill/>
          <a:ln/>
        </p:spPr>
        <p:txBody>
          <a:bodyPr wrap="square" rtlCol="0" anchor="ctr"/>
          <a:lstStyle/>
          <a:p>
            <a:pPr marL="0" indent="0">
              <a:buNone/>
            </a:pPr>
            <a:r>
              <a:rPr lang="en-US" altLang="en-US" sz="950" dirty="0">
                <a:solidFill>
                  <a:srgbClr val="8B949E"/>
                </a:solidFill>
                <a:latin typeface="Calibri" pitchFamily="34" charset="0"/>
                <a:ea typeface="Calibri" pitchFamily="34" charset="-122"/>
                <a:cs typeface="Calibri" pitchFamily="34" charset="-120"/>
              </a:rPr>
              <a:t>Review .github/copilot-instructions.md regularly. Remove stale rules. Every line costs tokens on EVERY request.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38636"/>
          </a:solidFill>
          <a:ln w="12700">
            <a:solidFill>
              <a:srgbClr val="238636"/>
            </a:solidFill>
            <a:prstDash val="solid"/>
          </a:ln>
        </p:spPr>
        <p:txBody>
          <a:bodyPr/>
          <a:lstStyle/>
          <a:p>
            <a:endParaRPr lang="en-US"/>
          </a:p>
        </p:txBody>
      </p:sp>
      <p:sp>
        <p:nvSpPr>
          <p:cNvPr id="3" name="Shape 1"/>
          <p:cNvSpPr/>
          <p:nvPr/>
        </p:nvSpPr>
        <p:spPr>
          <a:xfrm>
            <a:off x="0" y="5033772"/>
            <a:ext cx="9144000" cy="109728"/>
          </a:xfrm>
          <a:prstGeom prst="rect">
            <a:avLst/>
          </a:prstGeom>
          <a:solidFill>
            <a:srgbClr val="238636"/>
          </a:solidFill>
          <a:ln w="12700">
            <a:solidFill>
              <a:srgbClr val="238636"/>
            </a:solidFill>
            <a:prstDash val="solid"/>
          </a:ln>
        </p:spPr>
        <p:txBody>
          <a:bodyPr/>
          <a:lstStyle/>
          <a:p>
            <a:endParaRPr lang="en-US"/>
          </a:p>
        </p:txBody>
      </p:sp>
      <p:sp>
        <p:nvSpPr>
          <p:cNvPr id="4" name="Text 2"/>
          <p:cNvSpPr/>
          <p:nvPr/>
        </p:nvSpPr>
        <p:spPr>
          <a:xfrm>
            <a:off x="548640" y="502920"/>
            <a:ext cx="8046720" cy="1188720"/>
          </a:xfrm>
          <a:prstGeom prst="rect">
            <a:avLst/>
          </a:prstGeom>
          <a:noFill/>
          <a:ln/>
        </p:spPr>
        <p:txBody>
          <a:bodyPr wrap="square" rtlCol="0" anchor="ctr"/>
          <a:lstStyle/>
          <a:p>
            <a:pPr marL="0" indent="0" algn="ctr">
              <a:buNone/>
            </a:pPr>
            <a:r>
              <a:rPr lang="en-US" altLang="en-US" sz="3400" b="1" dirty="0">
                <a:solidFill>
                  <a:srgbClr val="F0F6FC"/>
                </a:solidFill>
                <a:latin typeface="Calibri" pitchFamily="34" charset="0"/>
                <a:ea typeface="Calibri" pitchFamily="34" charset="-122"/>
                <a:cs typeface="Calibri" pitchFamily="34" charset="-120"/>
              </a:rPr>
              <a:t>Token Efficiency is a</a:t>
            </a:r>
            <a:endParaRPr lang="en-US" sz="3400" dirty="0"/>
          </a:p>
          <a:p>
            <a:pPr marL="0" indent="0" algn="ctr">
              <a:buNone/>
            </a:pPr>
            <a:r>
              <a:rPr lang="en-US" altLang="en-US" sz="3400" b="1" dirty="0">
                <a:solidFill>
                  <a:srgbClr val="F0F6FC"/>
                </a:solidFill>
                <a:latin typeface="Calibri" pitchFamily="34" charset="0"/>
                <a:ea typeface="Calibri" pitchFamily="34" charset="-122"/>
                <a:cs typeface="Calibri" pitchFamily="34" charset="-120"/>
              </a:rPr>
              <a:t>Competitive Advantage</a:t>
            </a:r>
            <a:endParaRPr lang="en-US" sz="3400" dirty="0"/>
          </a:p>
        </p:txBody>
      </p:sp>
      <p:sp>
        <p:nvSpPr>
          <p:cNvPr id="5" name="Shape 3"/>
          <p:cNvSpPr/>
          <p:nvPr/>
        </p:nvSpPr>
        <p:spPr>
          <a:xfrm>
            <a:off x="502920" y="1920240"/>
            <a:ext cx="2468880" cy="822960"/>
          </a:xfrm>
          <a:prstGeom prst="rect">
            <a:avLst/>
          </a:prstGeom>
          <a:solidFill>
            <a:srgbClr val="161B22"/>
          </a:solidFill>
          <a:ln w="12700">
            <a:solidFill>
              <a:srgbClr val="E3672B"/>
            </a:solidFill>
            <a:prstDash val="solid"/>
          </a:ln>
          <a:effectLst>
            <a:outerShdw blurRad="101600" dist="38100" dir="8100000" algn="bl" rotWithShape="0">
              <a:srgbClr val="000000">
                <a:alpha val="30000"/>
              </a:srgbClr>
            </a:outerShdw>
          </a:effectLst>
        </p:spPr>
        <p:txBody>
          <a:bodyPr/>
          <a:lstStyle/>
          <a:p>
            <a:endParaRPr lang="en-US"/>
          </a:p>
        </p:txBody>
      </p:sp>
      <p:sp>
        <p:nvSpPr>
          <p:cNvPr id="6" name="Shape 4"/>
          <p:cNvSpPr/>
          <p:nvPr/>
        </p:nvSpPr>
        <p:spPr>
          <a:xfrm>
            <a:off x="502920" y="1920240"/>
            <a:ext cx="2468880" cy="54864"/>
          </a:xfrm>
          <a:prstGeom prst="rect">
            <a:avLst/>
          </a:prstGeom>
          <a:solidFill>
            <a:srgbClr val="E3672B"/>
          </a:solidFill>
          <a:ln w="12700">
            <a:solidFill>
              <a:srgbClr val="E3672B"/>
            </a:solidFill>
            <a:prstDash val="solid"/>
          </a:ln>
        </p:spPr>
        <p:txBody>
          <a:bodyPr/>
          <a:lstStyle/>
          <a:p>
            <a:endParaRPr lang="en-US"/>
          </a:p>
        </p:txBody>
      </p:sp>
      <p:sp>
        <p:nvSpPr>
          <p:cNvPr id="7" name="Text 5"/>
          <p:cNvSpPr/>
          <p:nvPr/>
        </p:nvSpPr>
        <p:spPr>
          <a:xfrm>
            <a:off x="502920" y="2029968"/>
            <a:ext cx="2468880" cy="320040"/>
          </a:xfrm>
          <a:prstGeom prst="rect">
            <a:avLst/>
          </a:prstGeom>
          <a:noFill/>
          <a:ln/>
        </p:spPr>
        <p:txBody>
          <a:bodyPr wrap="square" rtlCol="0" anchor="ctr"/>
          <a:lstStyle/>
          <a:p>
            <a:pPr marL="0" indent="0" algn="ctr">
              <a:buNone/>
            </a:pPr>
            <a:r>
              <a:rPr lang="en-US" altLang="en-US" sz="1300" b="1" dirty="0">
                <a:solidFill>
                  <a:srgbClr val="E3672B"/>
                </a:solidFill>
                <a:latin typeface="Calibri" pitchFamily="34" charset="0"/>
                <a:ea typeface="Calibri" pitchFamily="34" charset="-122"/>
                <a:cs typeface="Calibri" pitchFamily="34" charset="-120"/>
              </a:rPr>
              <a:t>🪨 Caveman</a:t>
            </a:r>
            <a:endParaRPr lang="en-US" sz="1300" dirty="0"/>
          </a:p>
        </p:txBody>
      </p:sp>
      <p:sp>
        <p:nvSpPr>
          <p:cNvPr id="8" name="Text 6"/>
          <p:cNvSpPr/>
          <p:nvPr/>
        </p:nvSpPr>
        <p:spPr>
          <a:xfrm>
            <a:off x="502920" y="2359152"/>
            <a:ext cx="2468880" cy="256032"/>
          </a:xfrm>
          <a:prstGeom prst="rect">
            <a:avLst/>
          </a:prstGeom>
          <a:noFill/>
          <a:ln/>
        </p:spPr>
        <p:txBody>
          <a:bodyPr wrap="square" rtlCol="0" anchor="ctr"/>
          <a:lstStyle/>
          <a:p>
            <a:pPr marL="0" indent="0" algn="ctr">
              <a:buNone/>
            </a:pPr>
            <a:r>
              <a:rPr lang="en-US" altLang="en-US" sz="750" dirty="0">
                <a:solidFill>
                  <a:srgbClr val="8B949E"/>
                </a:solidFill>
                <a:latin typeface="Calibri" pitchFamily="34" charset="0"/>
                <a:ea typeface="Calibri" pitchFamily="34" charset="-122"/>
                <a:cs typeface="Calibri" pitchFamily="34" charset="-120"/>
              </a:rPr>
              <a:t>github.com/JuliusBrussee/caveman</a:t>
            </a:r>
            <a:endParaRPr lang="en-US" sz="750" dirty="0"/>
          </a:p>
        </p:txBody>
      </p:sp>
      <p:sp>
        <p:nvSpPr>
          <p:cNvPr id="9" name="Shape 7"/>
          <p:cNvSpPr/>
          <p:nvPr/>
        </p:nvSpPr>
        <p:spPr>
          <a:xfrm>
            <a:off x="3246120" y="1920240"/>
            <a:ext cx="2468880" cy="822960"/>
          </a:xfrm>
          <a:prstGeom prst="rect">
            <a:avLst/>
          </a:prstGeom>
          <a:solidFill>
            <a:srgbClr val="161B22"/>
          </a:solidFill>
          <a:ln w="12700">
            <a:solidFill>
              <a:srgbClr val="1F6FEB"/>
            </a:solidFill>
            <a:prstDash val="solid"/>
          </a:ln>
          <a:effectLst>
            <a:outerShdw blurRad="101600" dist="38100" dir="8100000" algn="bl" rotWithShape="0">
              <a:srgbClr val="000000">
                <a:alpha val="30000"/>
              </a:srgbClr>
            </a:outerShdw>
          </a:effectLst>
        </p:spPr>
        <p:txBody>
          <a:bodyPr/>
          <a:lstStyle/>
          <a:p>
            <a:endParaRPr lang="en-US"/>
          </a:p>
        </p:txBody>
      </p:sp>
      <p:sp>
        <p:nvSpPr>
          <p:cNvPr id="10" name="Shape 8"/>
          <p:cNvSpPr/>
          <p:nvPr/>
        </p:nvSpPr>
        <p:spPr>
          <a:xfrm>
            <a:off x="3246120" y="1920240"/>
            <a:ext cx="2468880" cy="54864"/>
          </a:xfrm>
          <a:prstGeom prst="rect">
            <a:avLst/>
          </a:prstGeom>
          <a:solidFill>
            <a:srgbClr val="1F6FEB"/>
          </a:solidFill>
          <a:ln w="12700">
            <a:solidFill>
              <a:srgbClr val="1F6FEB"/>
            </a:solidFill>
            <a:prstDash val="solid"/>
          </a:ln>
        </p:spPr>
        <p:txBody>
          <a:bodyPr/>
          <a:lstStyle/>
          <a:p>
            <a:endParaRPr lang="en-US"/>
          </a:p>
        </p:txBody>
      </p:sp>
      <p:sp>
        <p:nvSpPr>
          <p:cNvPr id="11" name="Text 9"/>
          <p:cNvSpPr/>
          <p:nvPr/>
        </p:nvSpPr>
        <p:spPr>
          <a:xfrm>
            <a:off x="3246120" y="2029968"/>
            <a:ext cx="2468880" cy="320040"/>
          </a:xfrm>
          <a:prstGeom prst="rect">
            <a:avLst/>
          </a:prstGeom>
          <a:noFill/>
          <a:ln/>
        </p:spPr>
        <p:txBody>
          <a:bodyPr wrap="square" rtlCol="0" anchor="ctr"/>
          <a:lstStyle/>
          <a:p>
            <a:pPr marL="0" indent="0" algn="ctr">
              <a:buNone/>
            </a:pPr>
            <a:r>
              <a:rPr lang="en-US" altLang="en-US" sz="1300" b="1" dirty="0">
                <a:solidFill>
                  <a:srgbClr val="1F6FEB"/>
                </a:solidFill>
                <a:latin typeface="Calibri" pitchFamily="34" charset="0"/>
                <a:ea typeface="Calibri" pitchFamily="34" charset="-122"/>
                <a:cs typeface="Calibri" pitchFamily="34" charset="-120"/>
              </a:rPr>
              <a:t>⚡ RTK</a:t>
            </a:r>
            <a:endParaRPr lang="en-US" sz="1300" dirty="0"/>
          </a:p>
        </p:txBody>
      </p:sp>
      <p:sp>
        <p:nvSpPr>
          <p:cNvPr id="12" name="Text 10"/>
          <p:cNvSpPr/>
          <p:nvPr/>
        </p:nvSpPr>
        <p:spPr>
          <a:xfrm>
            <a:off x="3246120" y="2359152"/>
            <a:ext cx="2468880" cy="256032"/>
          </a:xfrm>
          <a:prstGeom prst="rect">
            <a:avLst/>
          </a:prstGeom>
          <a:noFill/>
          <a:ln/>
        </p:spPr>
        <p:txBody>
          <a:bodyPr wrap="square" rtlCol="0" anchor="ctr"/>
          <a:lstStyle/>
          <a:p>
            <a:pPr marL="0" indent="0" algn="ctr">
              <a:buNone/>
            </a:pPr>
            <a:r>
              <a:rPr lang="en-US" altLang="en-US" sz="750" dirty="0">
                <a:solidFill>
                  <a:srgbClr val="8B949E"/>
                </a:solidFill>
                <a:latin typeface="Calibri" pitchFamily="34" charset="0"/>
                <a:ea typeface="Calibri" pitchFamily="34" charset="-122"/>
                <a:cs typeface="Calibri" pitchFamily="34" charset="-120"/>
              </a:rPr>
              <a:t>github.com/rtk-ai/rtk</a:t>
            </a:r>
            <a:endParaRPr lang="en-US" sz="750" dirty="0"/>
          </a:p>
        </p:txBody>
      </p:sp>
      <p:sp>
        <p:nvSpPr>
          <p:cNvPr id="13" name="Shape 11"/>
          <p:cNvSpPr/>
          <p:nvPr/>
        </p:nvSpPr>
        <p:spPr>
          <a:xfrm>
            <a:off x="5989320" y="1920240"/>
            <a:ext cx="2468880" cy="822960"/>
          </a:xfrm>
          <a:prstGeom prst="rect">
            <a:avLst/>
          </a:prstGeom>
          <a:solidFill>
            <a:srgbClr val="161B22"/>
          </a:solidFill>
          <a:ln w="12700">
            <a:solidFill>
              <a:srgbClr val="8250DF"/>
            </a:solidFill>
            <a:prstDash val="solid"/>
          </a:ln>
          <a:effectLst>
            <a:outerShdw blurRad="101600" dist="38100" dir="8100000" algn="bl" rotWithShape="0">
              <a:srgbClr val="000000">
                <a:alpha val="30000"/>
              </a:srgbClr>
            </a:outerShdw>
          </a:effectLst>
        </p:spPr>
        <p:txBody>
          <a:bodyPr/>
          <a:lstStyle/>
          <a:p>
            <a:endParaRPr lang="en-US"/>
          </a:p>
        </p:txBody>
      </p:sp>
      <p:sp>
        <p:nvSpPr>
          <p:cNvPr id="14" name="Shape 12"/>
          <p:cNvSpPr/>
          <p:nvPr/>
        </p:nvSpPr>
        <p:spPr>
          <a:xfrm>
            <a:off x="5989320" y="1920240"/>
            <a:ext cx="2468880" cy="54864"/>
          </a:xfrm>
          <a:prstGeom prst="rect">
            <a:avLst/>
          </a:prstGeom>
          <a:solidFill>
            <a:srgbClr val="8250DF"/>
          </a:solidFill>
          <a:ln w="12700">
            <a:solidFill>
              <a:srgbClr val="8250DF"/>
            </a:solidFill>
            <a:prstDash val="solid"/>
          </a:ln>
        </p:spPr>
        <p:txBody>
          <a:bodyPr/>
          <a:lstStyle/>
          <a:p>
            <a:endParaRPr lang="en-US"/>
          </a:p>
        </p:txBody>
      </p:sp>
      <p:sp>
        <p:nvSpPr>
          <p:cNvPr id="15" name="Text 13"/>
          <p:cNvSpPr/>
          <p:nvPr/>
        </p:nvSpPr>
        <p:spPr>
          <a:xfrm>
            <a:off x="5989320" y="2029968"/>
            <a:ext cx="2468880" cy="320040"/>
          </a:xfrm>
          <a:prstGeom prst="rect">
            <a:avLst/>
          </a:prstGeom>
          <a:noFill/>
          <a:ln/>
        </p:spPr>
        <p:txBody>
          <a:bodyPr wrap="square" rtlCol="0" anchor="ctr"/>
          <a:lstStyle/>
          <a:p>
            <a:pPr marL="0" indent="0" algn="ctr">
              <a:buNone/>
            </a:pPr>
            <a:r>
              <a:rPr lang="en-US" altLang="en-US" sz="1300" b="1" dirty="0">
                <a:solidFill>
                  <a:srgbClr val="8250DF"/>
                </a:solidFill>
                <a:latin typeface="Calibri" pitchFamily="34" charset="0"/>
                <a:ea typeface="Calibri" pitchFamily="34" charset="-122"/>
                <a:cs typeface="Calibri" pitchFamily="34" charset="-120"/>
              </a:rPr>
              <a:t>📊 AI Eng. Fluency</a:t>
            </a:r>
            <a:endParaRPr lang="en-US" sz="1300" dirty="0"/>
          </a:p>
        </p:txBody>
      </p:sp>
      <p:sp>
        <p:nvSpPr>
          <p:cNvPr id="16" name="Text 14"/>
          <p:cNvSpPr/>
          <p:nvPr/>
        </p:nvSpPr>
        <p:spPr>
          <a:xfrm>
            <a:off x="5989320" y="2359152"/>
            <a:ext cx="2468880" cy="256032"/>
          </a:xfrm>
          <a:prstGeom prst="rect">
            <a:avLst/>
          </a:prstGeom>
          <a:noFill/>
          <a:ln/>
        </p:spPr>
        <p:txBody>
          <a:bodyPr wrap="square" rtlCol="0" anchor="ctr"/>
          <a:lstStyle/>
          <a:p>
            <a:pPr marL="0" indent="0" algn="ctr">
              <a:buNone/>
            </a:pPr>
            <a:r>
              <a:rPr lang="en-US" altLang="en-US" sz="750" dirty="0">
                <a:solidFill>
                  <a:srgbClr val="8B949E"/>
                </a:solidFill>
                <a:latin typeface="Calibri" pitchFamily="34" charset="0"/>
                <a:ea typeface="Calibri" pitchFamily="34" charset="-122"/>
                <a:cs typeface="Calibri" pitchFamily="34" charset="-120"/>
              </a:rPr>
              <a:t>github.com/rajbos/ai-engineering-fluency</a:t>
            </a:r>
            <a:endParaRPr lang="en-US" sz="750" dirty="0"/>
          </a:p>
        </p:txBody>
      </p:sp>
      <p:sp>
        <p:nvSpPr>
          <p:cNvPr id="17" name="Text 15"/>
          <p:cNvSpPr/>
          <p:nvPr/>
        </p:nvSpPr>
        <p:spPr>
          <a:xfrm>
            <a:off x="1371600" y="2926080"/>
            <a:ext cx="6400800" cy="292608"/>
          </a:xfrm>
          <a:prstGeom prst="rect">
            <a:avLst/>
          </a:prstGeom>
          <a:noFill/>
          <a:ln/>
        </p:spPr>
        <p:txBody>
          <a:bodyPr wrap="square" rtlCol="0" anchor="ctr"/>
          <a:lstStyle/>
          <a:p>
            <a:pPr marL="0" indent="0" algn="ctr">
              <a:buNone/>
            </a:pPr>
            <a:r>
              <a:rPr lang="en-US" altLang="en-US" sz="1300" b="1" dirty="0">
                <a:solidFill>
                  <a:srgbClr val="8B949E"/>
                </a:solidFill>
                <a:latin typeface="Calibri" pitchFamily="34" charset="0"/>
                <a:ea typeface="Calibri" pitchFamily="34" charset="-122"/>
                <a:cs typeface="Calibri" pitchFamily="34" charset="-120"/>
              </a:rPr>
              <a:t>Key takeaways</a:t>
            </a:r>
            <a:endParaRPr lang="en-US" sz="1300" dirty="0"/>
          </a:p>
        </p:txBody>
      </p:sp>
      <p:sp>
        <p:nvSpPr>
          <p:cNvPr id="18" name="Shape 16"/>
          <p:cNvSpPr/>
          <p:nvPr/>
        </p:nvSpPr>
        <p:spPr>
          <a:xfrm>
            <a:off x="1371600" y="3310128"/>
            <a:ext cx="54864" cy="274320"/>
          </a:xfrm>
          <a:prstGeom prst="rect">
            <a:avLst/>
          </a:prstGeom>
          <a:solidFill>
            <a:srgbClr val="238636"/>
          </a:solidFill>
          <a:ln w="12700">
            <a:solidFill>
              <a:srgbClr val="238636"/>
            </a:solidFill>
            <a:prstDash val="solid"/>
          </a:ln>
        </p:spPr>
        <p:txBody>
          <a:bodyPr/>
          <a:lstStyle/>
          <a:p>
            <a:endParaRPr lang="en-US"/>
          </a:p>
        </p:txBody>
      </p:sp>
      <p:sp>
        <p:nvSpPr>
          <p:cNvPr id="19" name="Text 17"/>
          <p:cNvSpPr/>
          <p:nvPr/>
        </p:nvSpPr>
        <p:spPr>
          <a:xfrm>
            <a:off x="1536192" y="3264408"/>
            <a:ext cx="6126480" cy="384048"/>
          </a:xfrm>
          <a:prstGeom prst="rect">
            <a:avLst/>
          </a:prstGeom>
          <a:noFill/>
          <a:ln/>
        </p:spPr>
        <p:txBody>
          <a:bodyPr wrap="square" rtlCol="0" anchor="ctr"/>
          <a:lstStyle/>
          <a:p>
            <a:pPr marL="0" indent="0">
              <a:buNone/>
            </a:pPr>
            <a:r>
              <a:rPr lang="en-US" altLang="en-US" sz="1100" dirty="0">
                <a:solidFill>
                  <a:srgbClr val="F0F6FC"/>
                </a:solidFill>
                <a:latin typeface="Calibri" pitchFamily="34" charset="0"/>
                <a:ea typeface="Calibri" pitchFamily="34" charset="-122"/>
                <a:cs typeface="Calibri" pitchFamily="34" charset="-120"/>
              </a:rPr>
              <a:t>Every chat turn re-sends ALL previous messages — short sessions = fewer tokens</a:t>
            </a:r>
            <a:endParaRPr lang="en-US" sz="1100" dirty="0"/>
          </a:p>
        </p:txBody>
      </p:sp>
      <p:sp>
        <p:nvSpPr>
          <p:cNvPr id="20" name="Shape 18"/>
          <p:cNvSpPr/>
          <p:nvPr/>
        </p:nvSpPr>
        <p:spPr>
          <a:xfrm>
            <a:off x="1371600" y="3749040"/>
            <a:ext cx="54864" cy="274320"/>
          </a:xfrm>
          <a:prstGeom prst="rect">
            <a:avLst/>
          </a:prstGeom>
          <a:solidFill>
            <a:srgbClr val="238636"/>
          </a:solidFill>
          <a:ln w="12700">
            <a:solidFill>
              <a:srgbClr val="238636"/>
            </a:solidFill>
            <a:prstDash val="solid"/>
          </a:ln>
        </p:spPr>
        <p:txBody>
          <a:bodyPr/>
          <a:lstStyle/>
          <a:p>
            <a:endParaRPr lang="en-US"/>
          </a:p>
        </p:txBody>
      </p:sp>
      <p:sp>
        <p:nvSpPr>
          <p:cNvPr id="21" name="Text 19"/>
          <p:cNvSpPr/>
          <p:nvPr/>
        </p:nvSpPr>
        <p:spPr>
          <a:xfrm>
            <a:off x="1536192" y="3703320"/>
            <a:ext cx="6126480" cy="384048"/>
          </a:xfrm>
          <a:prstGeom prst="rect">
            <a:avLst/>
          </a:prstGeom>
          <a:noFill/>
          <a:ln/>
        </p:spPr>
        <p:txBody>
          <a:bodyPr wrap="square" rtlCol="0" anchor="ctr"/>
          <a:lstStyle/>
          <a:p>
            <a:pPr marL="0" indent="0">
              <a:buNone/>
            </a:pPr>
            <a:r>
              <a:rPr lang="en-US" altLang="en-US" sz="1100" dirty="0">
                <a:solidFill>
                  <a:srgbClr val="F0F6FC"/>
                </a:solidFill>
                <a:latin typeface="Calibri" pitchFamily="34" charset="0"/>
                <a:ea typeface="Calibri" pitchFamily="34" charset="-122"/>
                <a:cs typeface="Calibri" pitchFamily="34" charset="-120"/>
              </a:rPr>
              <a:t>Caveman + RTK compound: language compression × data compression</a:t>
            </a:r>
            <a:endParaRPr lang="en-US" sz="1100" dirty="0"/>
          </a:p>
        </p:txBody>
      </p:sp>
      <p:sp>
        <p:nvSpPr>
          <p:cNvPr id="22" name="Shape 20"/>
          <p:cNvSpPr/>
          <p:nvPr/>
        </p:nvSpPr>
        <p:spPr>
          <a:xfrm>
            <a:off x="1371600" y="4187952"/>
            <a:ext cx="54864" cy="274320"/>
          </a:xfrm>
          <a:prstGeom prst="rect">
            <a:avLst/>
          </a:prstGeom>
          <a:solidFill>
            <a:srgbClr val="238636"/>
          </a:solidFill>
          <a:ln w="12700">
            <a:solidFill>
              <a:srgbClr val="238636"/>
            </a:solidFill>
            <a:prstDash val="solid"/>
          </a:ln>
        </p:spPr>
        <p:txBody>
          <a:bodyPr/>
          <a:lstStyle/>
          <a:p>
            <a:endParaRPr lang="en-US"/>
          </a:p>
        </p:txBody>
      </p:sp>
      <p:sp>
        <p:nvSpPr>
          <p:cNvPr id="23" name="Text 21"/>
          <p:cNvSpPr/>
          <p:nvPr/>
        </p:nvSpPr>
        <p:spPr>
          <a:xfrm>
            <a:off x="1536192" y="4142232"/>
            <a:ext cx="6126480" cy="384048"/>
          </a:xfrm>
          <a:prstGeom prst="rect">
            <a:avLst/>
          </a:prstGeom>
          <a:noFill/>
          <a:ln/>
        </p:spPr>
        <p:txBody>
          <a:bodyPr wrap="square" rtlCol="0" anchor="ctr"/>
          <a:lstStyle/>
          <a:p>
            <a:pPr marL="0" indent="0">
              <a:buNone/>
            </a:pPr>
            <a:r>
              <a:rPr lang="en-US" altLang="en-US" sz="1100" dirty="0">
                <a:solidFill>
                  <a:srgbClr val="F0F6FC"/>
                </a:solidFill>
                <a:latin typeface="Calibri" pitchFamily="34" charset="0"/>
                <a:ea typeface="Calibri" pitchFamily="34" charset="-122"/>
                <a:cs typeface="Calibri" pitchFamily="34" charset="-120"/>
              </a:rPr>
              <a:t>Track your usage — you can't improve what you can't measure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2341</Words>
  <Application>Microsoft Macintosh PowerPoint</Application>
  <PresentationFormat>On-screen Show (16:9)</PresentationFormat>
  <Paragraphs>257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 Token Saving Techniques</dc:title>
  <dc:subject>PptxGenJS Presentation</dc:subject>
  <dc:creator>PptxGenJS</dc:creator>
  <cp:lastModifiedBy>Laszlo Csabi (Omnicom)</cp:lastModifiedBy>
  <cp:revision>3</cp:revision>
  <dcterms:created xsi:type="dcterms:W3CDTF">2026-06-01T23:07:24Z</dcterms:created>
  <dcterms:modified xsi:type="dcterms:W3CDTF">2026-06-02T00:49:17Z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e19d756-792e-42a1-bcad-4cb9051ddd2d_Enabled">
    <vt:lpwstr>true</vt:lpwstr>
  </property>
  <property fmtid="{D5CDD505-2E9C-101B-9397-08002B2CF9AE}" pid="3" name="MSIP_Label_8e19d756-792e-42a1-bcad-4cb9051ddd2d_SetDate">
    <vt:lpwstr>2026-06-02T00:43:29Z</vt:lpwstr>
  </property>
  <property fmtid="{D5CDD505-2E9C-101B-9397-08002B2CF9AE}" pid="4" name="MSIP_Label_8e19d756-792e-42a1-bcad-4cb9051ddd2d_Method">
    <vt:lpwstr>Standard</vt:lpwstr>
  </property>
  <property fmtid="{D5CDD505-2E9C-101B-9397-08002B2CF9AE}" pid="5" name="MSIP_Label_8e19d756-792e-42a1-bcad-4cb9051ddd2d_Name">
    <vt:lpwstr>Confidential</vt:lpwstr>
  </property>
  <property fmtid="{D5CDD505-2E9C-101B-9397-08002B2CF9AE}" pid="6" name="MSIP_Label_8e19d756-792e-42a1-bcad-4cb9051ddd2d_SiteId">
    <vt:lpwstr>41eb501a-f671-4ce0-a5bf-b64168c3705f</vt:lpwstr>
  </property>
  <property fmtid="{D5CDD505-2E9C-101B-9397-08002B2CF9AE}" pid="7" name="MSIP_Label_8e19d756-792e-42a1-bcad-4cb9051ddd2d_ActionId">
    <vt:lpwstr>a23cbf24-460d-488e-8c2a-8b4427182908</vt:lpwstr>
  </property>
  <property fmtid="{D5CDD505-2E9C-101B-9397-08002B2CF9AE}" pid="8" name="MSIP_Label_8e19d756-792e-42a1-bcad-4cb9051ddd2d_ContentBits">
    <vt:lpwstr>2</vt:lpwstr>
  </property>
  <property fmtid="{D5CDD505-2E9C-101B-9397-08002B2CF9AE}" pid="9" name="MSIP_Label_8e19d756-792e-42a1-bcad-4cb9051ddd2d_Tag">
    <vt:lpwstr>50, 3, 0, 1</vt:lpwstr>
  </property>
  <property fmtid="{D5CDD505-2E9C-101B-9397-08002B2CF9AE}" pid="10" name="ClassificationContentMarkingFooterLocations">
    <vt:lpwstr>Office Theme:3</vt:lpwstr>
  </property>
  <property fmtid="{D5CDD505-2E9C-101B-9397-08002B2CF9AE}" pid="11" name="ClassificationContentMarkingFooterText">
    <vt:lpwstr>Confidential - Not for Public Consumption or Distribution</vt:lpwstr>
  </property>
</Properties>
</file>